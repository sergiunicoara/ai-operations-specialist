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Vehicle A (lean-NOx trap)</c:v>
                </c:pt>
              </c:strCache>
            </c:strRef>
          </c:tx>
          <c:spPr>
            <a:solidFill>
              <a:srgbClr val="2864B4"/>
            </a:solidFill>
            <a:effectLst/>
          </c:spPr>
          <c:invertIfNegative val="0"/>
          <c:dLbls>
            <c:dLbl>
              <c:idx val="0"/>
              <c:numFmt formatCode="0.000" sourceLinked="0"/>
              <c:spPr>
                <a:noFill/>
                <a:ln>
                  <a:noFill/>
                </a:ln>
              </c:spPr>
              <c:txPr>
                <a:bodyPr/>
                <a:lstStyle/>
                <a:p>
                  <a:pPr>
                    <a:defRPr sz="1200" b="1">
                      <a:solidFill>
                        <a:srgbClr val="132C3B"/>
                      </a:solidFill>
                      <a:latin typeface="Arial"/>
                    </a:defRPr>
                  </a:pPr>
                  <a:endParaRPr lang="en-US"/>
                </a:p>
              </c:txPr>
              <c:dLblPos val="outEnd"/>
              <c:showLegendKey val="0"/>
              <c:showVal val="1"/>
              <c:showCatName val="0"/>
              <c:showSerName val="0"/>
              <c:showPercent val="0"/>
              <c:showBubbleSize val="0"/>
            </c:dLbl>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errBars>
            <c:errBarType val="both"/>
            <c:errValType val="cust"/>
            <c:noEndCap val="0"/>
            <c:plus>
              <c:numLit>
                <c:formatCode>0.000</c:formatCode>
                <c:ptCount val="6"/>
                <c:pt idx="0">
                  <c:v>0.006</c:v>
                </c:pt>
                <c:pt idx="1">
                  <c:v>0.283</c:v>
                </c:pt>
                <c:pt idx="2">
                  <c:v>0.114</c:v>
                </c:pt>
                <c:pt idx="3">
                  <c:v>0.181</c:v>
                </c:pt>
                <c:pt idx="4">
                  <c:v>0.335</c:v>
                </c:pt>
              </c:numLit>
            </c:plus>
            <c:minus>
              <c:numLit>
                <c:formatCode>0.000</c:formatCode>
                <c:ptCount val="6"/>
                <c:pt idx="0">
                  <c:v>0.006</c:v>
                </c:pt>
                <c:pt idx="1">
                  <c:v>0.283</c:v>
                </c:pt>
                <c:pt idx="2">
                  <c:v>0.114</c:v>
                </c:pt>
                <c:pt idx="3">
                  <c:v>0.181</c:v>
                </c:pt>
                <c:pt idx="4">
                  <c:v>0.335</c:v>
                </c:pt>
              </c:numLit>
            </c:minus>
            <c:spPr>
              <a:ln w="12700">
                <a:solidFill>
                  <a:srgbClr val="52616A"/>
                </a:solidFill>
              </a:ln>
            </c:spPr>
          </c:errBars>
          <c:cat>
            <c:multiLvlStrRef>
              <c:f>Sheet1!$A$2:$A$7</c:f>
              <c:multiLvlStrCache>
                <c:ptCount val="6"/>
                <c:lvl>
                  <c:pt idx="0">
                    <c:v>Study lab
FTP-75</c:v>
                  </c:pt>
                  <c:pt idx="1">
                    <c:v>R1
Highway</c:v>
                  </c:pt>
                  <c:pt idx="2">
                    <c:v>R2
Los Angeles</c:v>
                  </c:pt>
                  <c:pt idx="3">
                    <c:v>R3
Rural hills</c:v>
                  </c:pt>
                  <c:pt idx="4">
                    <c:v>R4
San Diego</c:v>
                  </c:pt>
                  <c:pt idx="5">
                    <c:v>R5
San Francisco</c:v>
                  </c:pt>
                </c:lvl>
              </c:multiLvlStrCache>
            </c:multiLvlStrRef>
          </c:cat>
          <c:val>
            <c:numRef>
              <c:f>Sheet1!$B$2:$B$7</c:f>
              <c:numCache>
                <c:formatCode>General</c:formatCode>
                <c:ptCount val="6"/>
                <c:pt idx="0">
                  <c:v>0.022</c:v>
                </c:pt>
                <c:pt idx="1">
                  <c:v>0.614</c:v>
                </c:pt>
                <c:pt idx="2">
                  <c:v>0.989</c:v>
                </c:pt>
                <c:pt idx="3">
                  <c:v>1.505</c:v>
                </c:pt>
                <c:pt idx="4">
                  <c:v>1.48</c:v>
                </c:pt>
              </c:numCache>
            </c:numRef>
          </c:val>
        </c:ser>
        <c:ser>
          <c:idx val="1"/>
          <c:order val="1"/>
          <c:tx>
            <c:strRef>
              <c:f>Sheet1!$C$1</c:f>
              <c:strCache>
                <c:ptCount val="1"/>
                <c:pt idx="0">
                  <c:v>Vehicle B (urea-SCR)</c:v>
                </c:pt>
              </c:strCache>
            </c:strRef>
          </c:tx>
          <c:spPr>
            <a:solidFill>
              <a:srgbClr val="C35724"/>
            </a:solidFill>
            <a:effectLst/>
          </c:spPr>
          <c:invertIfNegative val="0"/>
          <c:dLbls>
            <c:dLbl>
              <c:idx val="0"/>
              <c:numFmt formatCode="0.000" sourceLinked="0"/>
              <c:spPr>
                <a:noFill/>
                <a:ln>
                  <a:noFill/>
                </a:ln>
              </c:spPr>
              <c:txPr>
                <a:bodyPr/>
                <a:lstStyle/>
                <a:p>
                  <a:pPr>
                    <a:defRPr sz="1200" b="1">
                      <a:solidFill>
                        <a:srgbClr val="132C3B"/>
                      </a:solidFill>
                      <a:latin typeface="Arial"/>
                    </a:defRPr>
                  </a:pPr>
                  <a:endParaRPr lang="en-US"/>
                </a:p>
              </c:txPr>
              <c:dLblPos val="outEnd"/>
              <c:showLegendKey val="0"/>
              <c:showVal val="1"/>
              <c:showCatName val="0"/>
              <c:showSerName val="0"/>
              <c:showPercent val="0"/>
              <c:showBubbleSize val="0"/>
            </c:dLbl>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errBars>
            <c:errBarType val="both"/>
            <c:errValType val="cust"/>
            <c:noEndCap val="0"/>
            <c:plus>
              <c:numLit>
                <c:formatCode>0.000</c:formatCode>
                <c:ptCount val="6"/>
                <c:pt idx="0">
                  <c:v>0.002</c:v>
                </c:pt>
                <c:pt idx="1">
                  <c:v>0.096</c:v>
                </c:pt>
                <c:pt idx="2">
                  <c:v>0.075</c:v>
                </c:pt>
                <c:pt idx="3">
                  <c:v>0.016</c:v>
                </c:pt>
                <c:pt idx="4">
                  <c:v>0.057</c:v>
                </c:pt>
              </c:numLit>
            </c:plus>
            <c:minus>
              <c:numLit>
                <c:formatCode>0.000</c:formatCode>
                <c:ptCount val="6"/>
                <c:pt idx="0">
                  <c:v>0.002</c:v>
                </c:pt>
                <c:pt idx="1">
                  <c:v>0.096</c:v>
                </c:pt>
                <c:pt idx="2">
                  <c:v>0.075</c:v>
                </c:pt>
                <c:pt idx="3">
                  <c:v>0.016</c:v>
                </c:pt>
                <c:pt idx="4">
                  <c:v>0.057</c:v>
                </c:pt>
              </c:numLit>
            </c:minus>
            <c:spPr>
              <a:ln w="12700">
                <a:solidFill>
                  <a:srgbClr val="52616A"/>
                </a:solidFill>
              </a:ln>
            </c:spPr>
          </c:errBars>
          <c:cat>
            <c:multiLvlStrRef>
              <c:f>Sheet1!$A$2:$A$7</c:f>
              <c:multiLvlStrCache>
                <c:ptCount val="6"/>
                <c:lvl>
                  <c:pt idx="0">
                    <c:v>Study lab
FTP-75</c:v>
                  </c:pt>
                  <c:pt idx="1">
                    <c:v>R1
Highway</c:v>
                  </c:pt>
                  <c:pt idx="2">
                    <c:v>R2
Los Angeles</c:v>
                  </c:pt>
                  <c:pt idx="3">
                    <c:v>R3
Rural hills</c:v>
                  </c:pt>
                  <c:pt idx="4">
                    <c:v>R4
San Diego</c:v>
                  </c:pt>
                  <c:pt idx="5">
                    <c:v>R5
San Francisco</c:v>
                  </c:pt>
                </c:lvl>
              </c:multiLvlStrCache>
            </c:multiLvlStrRef>
          </c:cat>
          <c:val>
            <c:numRef>
              <c:f>Sheet1!$C$2:$C$7</c:f>
              <c:numCache>
                <c:formatCode>General</c:formatCode>
                <c:ptCount val="6"/>
                <c:pt idx="0">
                  <c:v>0.016</c:v>
                </c:pt>
                <c:pt idx="1">
                  <c:v>0.344</c:v>
                </c:pt>
                <c:pt idx="2">
                  <c:v>0.809</c:v>
                </c:pt>
                <c:pt idx="3">
                  <c:v>0.671</c:v>
                </c:pt>
                <c:pt idx="4">
                  <c:v>0.675</c:v>
                </c:pt>
                <c:pt idx="5">
                  <c:v>0.815</c:v>
                </c:pt>
              </c:numCache>
            </c:numRef>
          </c:val>
        </c:ser>
        <c:ser>
          <c:idx val="2"/>
          <c:order val="2"/>
          <c:tx>
            <c:strRef>
              <c:f>Sheet1!$D$1</c:f>
              <c:strCache>
                <c:ptCount val="1"/>
                <c:pt idx="0">
                  <c:v>Vehicle C (urea-SCR)</c:v>
                </c:pt>
              </c:strCache>
            </c:strRef>
          </c:tx>
          <c:spPr>
            <a:solidFill>
              <a:srgbClr val="00877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errBars>
            <c:errBarType val="both"/>
            <c:errValType val="cust"/>
            <c:noEndCap val="0"/>
            <c:plus>
              <c:numLit>
                <c:formatCode>0.000</c:formatCode>
                <c:ptCount val="6"/>
                <c:pt idx="2">
                  <c:v>0.041</c:v>
                </c:pt>
                <c:pt idx="3">
                  <c:v>0.029</c:v>
                </c:pt>
                <c:pt idx="5">
                  <c:v>0.021</c:v>
                </c:pt>
              </c:numLit>
            </c:plus>
            <c:minus>
              <c:numLit>
                <c:formatCode>0.000</c:formatCode>
                <c:ptCount val="6"/>
                <c:pt idx="2">
                  <c:v>0.041</c:v>
                </c:pt>
                <c:pt idx="3">
                  <c:v>0.029</c:v>
                </c:pt>
                <c:pt idx="5">
                  <c:v>0.021</c:v>
                </c:pt>
              </c:numLit>
            </c:minus>
            <c:spPr>
              <a:ln w="12700">
                <a:solidFill>
                  <a:srgbClr val="52616A"/>
                </a:solidFill>
              </a:ln>
            </c:spPr>
          </c:errBars>
          <c:cat>
            <c:multiLvlStrRef>
              <c:f>Sheet1!$A$2:$A$7</c:f>
              <c:multiLvlStrCache>
                <c:ptCount val="6"/>
                <c:lvl>
                  <c:pt idx="0">
                    <c:v>Study lab
FTP-75</c:v>
                  </c:pt>
                  <c:pt idx="1">
                    <c:v>R1
Highway</c:v>
                  </c:pt>
                  <c:pt idx="2">
                    <c:v>R2
Los Angeles</c:v>
                  </c:pt>
                  <c:pt idx="3">
                    <c:v>R3
Rural hills</c:v>
                  </c:pt>
                  <c:pt idx="4">
                    <c:v>R4
San Diego</c:v>
                  </c:pt>
                  <c:pt idx="5">
                    <c:v>R5
San Francisco</c:v>
                  </c:pt>
                </c:lvl>
              </c:multiLvlStrCache>
            </c:multiLvlStrRef>
          </c:cat>
          <c:val>
            <c:numRef>
              <c:f>Sheet1!$D$2:$D$7</c:f>
              <c:numCache>
                <c:formatCode>General</c:formatCode>
                <c:ptCount val="6"/>
                <c:pt idx="1">
                  <c:v>0.048</c:v>
                </c:pt>
                <c:pt idx="2">
                  <c:v>0.07</c:v>
                </c:pt>
                <c:pt idx="3">
                  <c:v>0.409</c:v>
                </c:pt>
                <c:pt idx="5">
                  <c:v>0.053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0"/>
        <c:axId val="2094734554"/>
        <c:axId val="2094734552"/>
        <c:axId val="2094734556"/>
      </c:barChart>
      <c:lineChart>
        <c:varyColors val="0"/>
        <c:ser>
          <c:idx val="3"/>
          <c:order val="3"/>
          <c:tx>
            <c:strRef>
              <c:f>Sheet1!$E$1</c:f>
              <c:strCache>
                <c:ptCount val="1"/>
                <c:pt idx="0">
                  <c:v>Tier 2 Bin 5 standard, 0.043 g/km</c:v>
                </c:pt>
              </c:strCache>
            </c:strRef>
          </c:tx>
          <c:spPr>
            <a:solidFill>
              <a:srgbClr val="B6293E"/>
            </a:solidFill>
            <a:ln w="25400" cap="flat">
              <a:solidFill>
                <a:srgbClr val="B6293E"/>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6293E"/>
              </a:solidFill>
              <a:ln w="9525" cap="flat">
                <a:solidFill>
                  <a:srgbClr val="B6293E"/>
                </a:solidFill>
                <a:prstDash val="solid"/>
                <a:round/>
              </a:ln>
              <a:effectLst/>
            </c:spPr>
          </c:marker>
          <c:cat>
            <c:multiLvlStrRef>
              <c:f>Sheet1!$A$2:$A$7</c:f>
              <c:multiLvlStrCache>
                <c:ptCount val="6"/>
                <c:lvl>
                  <c:pt idx="0">
                    <c:v>Study lab
FTP-75</c:v>
                  </c:pt>
                  <c:pt idx="1">
                    <c:v>R1
Highway</c:v>
                  </c:pt>
                  <c:pt idx="2">
                    <c:v>R2
Los Angeles</c:v>
                  </c:pt>
                  <c:pt idx="3">
                    <c:v>R3
Rural hills</c:v>
                  </c:pt>
                  <c:pt idx="4">
                    <c:v>R4
San Diego</c:v>
                  </c:pt>
                  <c:pt idx="5">
                    <c:v>R5
San Francisco</c:v>
                  </c:pt>
                </c:lvl>
              </c:multiLvlStrCache>
            </c:multiLvlStrRef>
          </c:cat>
          <c:val>
            <c:numRef>
              <c:f>Sheet1!$E$2:$E$7</c:f>
              <c:numCache>
                <c:formatCode>General</c:formatCode>
                <c:ptCount val="6"/>
                <c:pt idx="0">
                  <c:v>0.043</c:v>
                </c:pt>
                <c:pt idx="1">
                  <c:v>0.043</c:v>
                </c:pt>
                <c:pt idx="2">
                  <c:v>0.043</c:v>
                </c:pt>
                <c:pt idx="3">
                  <c:v>0.043</c:v>
                </c:pt>
                <c:pt idx="4">
                  <c:v>0.043</c:v>
                </c:pt>
                <c:pt idx="5">
                  <c:v>0.043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A2AAAD"/>
            </a:solidFill>
            <a:prstDash val="solid"/>
            <a:round/>
          </a:ln>
        </c:spPr>
        <c:txPr>
          <a:bodyPr/>
          <a:lstStyle/>
          <a:p>
            <a:pPr>
              <a:defRPr sz="1300" b="0" i="0" u="none" strike="noStrike">
                <a:solidFill>
                  <a:srgbClr val="132C3B"/>
                </a:solidFill>
                <a:latin typeface="Arial"/>
              </a:defRPr>
            </a:pPr>
            <a:endParaRPr lang="en-US"/>
          </a:p>
        </c:txPr>
        <c:crossAx val="2094734552"/>
        <c:crosses val="autoZero"/>
        <c:auto val="1"/>
        <c:lblAlgn val="ctr"/>
        <c:noMultiLvlLbl val="1"/>
      </c:catAx>
      <c:valAx>
        <c:axId val="2094734552"/>
        <c:scaling>
          <c:orientation val="minMax"/>
          <c:max val="2"/>
          <c:min val="0"/>
        </c:scaling>
        <c:delete val="0"/>
        <c:axPos val="l"/>
        <c:majorGridlines>
          <c:spPr>
            <a:ln w="6350" cap="flat">
              <a:solidFill>
                <a:srgbClr val="D9DEDF"/>
              </a:solidFill>
              <a:prstDash val="solid"/>
              <a:round/>
            </a:ln>
          </c:spPr>
        </c:majorGridlines>
        <c:title>
          <c:tx>
            <c:rich>
              <a:bodyPr/>
              <a:lstStyle/>
              <a:p>
                <a:pPr>
                  <a:defRPr sz="1400" b="0" i="0" u="none" strike="noStrike">
                    <a:solidFill>
                      <a:srgbClr val="132C3B"/>
                    </a:solidFill>
                    <a:latin typeface="Arial"/>
                  </a:defRPr>
                </a:pPr>
                <a:r>
                  <a:rPr sz="1400" b="0" i="0" u="none" strike="noStrike">
                    <a:solidFill>
                      <a:srgbClr val="132C3B"/>
                    </a:solidFill>
                    <a:latin typeface="Arial"/>
                  </a:rPr>
                  <a:t>Mean NOx (g/km)</a:t>
                </a:r>
              </a:p>
            </c:rich>
          </c:tx>
          <c:layout/>
          <c:overlay val="0"/>
        </c:title>
        <c:numFmt formatCode="0.0" sourceLinked="0"/>
        <c:majorTickMark val="out"/>
        <c:minorTickMark val="none"/>
        <c:tickLblPos val="nextTo"/>
        <c:spPr>
          <a:ln w="12700" cap="flat">
            <a:noFill/>
            <a:prstDash val="solid"/>
            <a:round/>
          </a:ln>
        </c:spPr>
        <c:txPr>
          <a:bodyPr/>
          <a:lstStyle/>
          <a:p>
            <a:pPr>
              <a:defRPr sz="1300" b="0" i="0" u="none" strike="noStrike">
                <a:solidFill>
                  <a:srgbClr val="52616A"/>
                </a:solidFill>
                <a:latin typeface="Arial"/>
              </a:defRPr>
            </a:pPr>
            <a:endParaRPr lang="en-US"/>
          </a:p>
        </c:txPr>
        <c:crossAx val="2094734554"/>
        <c:crosses val="autoZero"/>
        <c:crossBetween val="between"/>
        <c:majorUnit val="0.5"/>
      </c:valAx>
      <c:spPr>
        <a:noFill/>
        <a:ln>
          <a:noFill/>
        </a:ln>
        <a:effectLst/>
      </c:spPr>
    </c:plotArea>
    <c:legend>
      <c:legendPos val="t"/>
      <c:overlay val="0"/>
      <c:txPr>
        <a:bodyPr/>
        <a:lstStyle/>
        <a:p>
          <a:pPr>
            <a:defRPr sz="1400">
              <a:solidFill>
                <a:srgbClr val="132C3B"/>
              </a:solidFill>
              <a:latin typeface="Arial"/>
              <a:cs typeface="Arial"/>
            </a:defRPr>
          </a:pPr>
          <a:endParaRPr lang="en-US"/>
        </a:p>
      </c:txPr>
    </c:legend>
    <c:plotVisOnly val="1"/>
    <c:dispBlanksAs val="gap"/>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Planned time: 75 seconds.
Building on the claim we have just heard, my section asks how independent measurements tested it.
In 2014, West Virginia University carried out an emissions study commissioned by the International Council on Clean Transportation. The researchers measured nitrogen oxides, or NOx, a group of air pollutants, in grams per kilometre travelled.
In the laboratory, a chassis dynamometer, a set of rollers, lets a stationary car follow a prescribed driving cycle. Here that cycle is FTP-75, the standard U.S. laboratory sequence. The study tested Vehicles A and B on it.
On the road, the researchers used a portable emissions measurement system, or PEMS: equipment carried by the car to measure its exhaust while it moves. Three vehicles drove selected routes, although not every vehicle ran every route.
The benchmark is the Tier 2 Bin 5 NOx standard: 0.043 grams per kilometre at full useful life. It is a certification standard used as a reference; a road route is not itself the legal test.
SOURCE (not spoken): WVU/ICCT, In-Use Emissions Testing of Light-Duty Diesel Vehicles in the U.S., 15 May 2014, pp. 1, 9–10; Table 3.15 p. 57; Table 4.1 p. 59; p. 64. Standard = 0.07 g/mi (Table 2.2 p. 5).
WVU: https://theicct.org/wp-content/uploads/2021/06/WVU_LDDV_in-use_ICCT_Report_Final_may2014.pdf
EPA: https://www.epa.gov/sites/default/files/2015-10/documents/vw-nov-caa-09-18-15.pdf
DOJ: https://www.justice.gov/archives/opa/press-release/file/924436/dl?inline=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Planned time: 95 seconds.
Now look at the chart. Blue is Vehicle A, orange is B, and green is C. These are the report’s anonymous labels; the EPA later identified the two high emitters as a 2012 Jetta and a 2013 Passat, without saying which letter is which. The vertical scale is NOx in grams per kilometre. The dashed red line marks the standard.
At the left, the study’s laboratory averages are 0.022 for A and 0.016 for B, both below that reference. Vehicle C has no laboratory result here. On the road, A reaches 1.505 grams per kilometre on the rural hill route. Dividing that by 0.043 gives 35 times the standard.
The report summarises A as about 15 to 35 times the standard and B as about 5 to 20 times, depending on the route. Those ranges compare road emissions with the standard. They are not road-to-laboratory ratios or single observations.
The green vehicle also matters. Its rural-route average is 0.409, roughly 9.5 times the standard, while its other route means are much lower. It provides useful context, but the vehicles differ, so it is not a controlled experiment. Error bars show the reported standard deviations, meaning variation around the average. Gaps mean no test result, not zero emissions.
SOURCE (not spoken): WVU/ICCT, In-Use Emissions Testing of Light-Duty Diesel Vehicles in the U.S., 15 May 2014, Table 4.3 p. 65; laboratory results p. 64; standard Table 4.1 p. 59. Vehicle identities: EPA, Notice of Violation CAA-09-18-15, 18 September 2015, p. 4.
WVU: https://theicct.org/wp-content/uploads/2021/06/WVU_LDDV_in-use_ICCT_Report_Final_may2014.pdf
EPA: https://www.epa.gov/sites/default/files/2015-10/documents/vw-nov-caa-09-18-15.pdf
DOJ: https://www.justice.gov/archives/opa/press-release/file/924436/dl?inline=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Planned time: 65 seconds.
The road data justified investigation because the gap was large and appeared across several routes. But road data alone did not prove intent, identify software, or show how common the behaviour was.
That evidence came later. The EPA’s 2015 notice described a “switch”: software that read steering-wheel position, speed, engine run time and barometric pressure to recognise the official test, ran a compliant calibration in the lab, and weakened emissions control on the road. In its 2017 plea agreement, Volkswagen admitted designing that software and concealing it from regulators.
So the research exposed an anomaly, and later evidence established deliberate manipulation. The line was not crossed in 2014, when the data looked bad. It was crossed years earlier, when the car was engineered to recognise the test. That is where the investigation picks up.
SOURCE (not spoken): WVU/ICCT, In-Use Emissions Testing of Light-Duty Diesel Vehicles in the U.S., 15 May 2014, p. iv, pp. 62–64; EPA, Notice of Violation CAA-09-18-15, 18 September 2015, pp. 3–4; United States v. Volkswagen AG, Plea Agreement, 11 January 2017, Exhibit 2 (Statement of Facts), Exh. 2 pp. 12–14, 21–24, ¶¶ 33–36, 54–55, 63.
WVU: https://theicct.org/wp-content/uploads/2021/06/WVU_LDDV_in-use_ICCT_Report_Final_may2014.pdf
EPA: https://www.epa.gov/sites/default/files/2015-10/documents/vw-nov-caa-09-18-15.pdf
DOJ: https://www.justice.gov/archives/opa/press-release/file/924436/dl?inline=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appendix; outside speaking time.
Reference appendix. These sources support different stages of the argument: measured anomaly, regulatory findings, and admitted conduct. WVU page numbers are the report’s printed page numbers (PDF viewer page = printed page + 16 from Chapter 1 on). Plea Exhibit 2 page 2-N is PDF page N + 42. Full URLs and the claim-to-source table are in sources_and_claims.md.
SOURCE (not spoken): Complete source details and links are also in the accompanying claim register.
WVU: https://theicct.org/wp-content/uploads/2021/06/WVU_LDDV_in-use_ICCT_Report_Final_may2014.pdf
EPA: https://www.epa.gov/sites/default/files/2015-10/documents/vw-nov-caa-09-18-15.pdf
DOJ: https://www.justice.gov/archives/opa/press-release/file/924436/dl?inline=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t"/>
          <a:lstStyle/>
          <a:p>
            <a:pPr algn="l" indent="0" marL="0">
              <a:buNone/>
            </a:pPr>
            <a:r>
              <a:rPr lang="en-US" sz="3200" b="1" dirty="0">
                <a:solidFill>
                  <a:srgbClr val="132C3B"/>
                </a:solidFill>
                <a:latin typeface="Arial" pitchFamily="34" charset="0"/>
                <a:ea typeface="Arial" pitchFamily="34" charset="-122"/>
                <a:cs typeface="Arial" pitchFamily="34" charset="-120"/>
              </a:rPr>
              <a:t>What was measured?</a:t>
            </a:r>
            <a:endParaRPr lang="en-US" sz="3200" dirty="0"/>
          </a:p>
        </p:txBody>
      </p:sp>
      <p:sp>
        <p:nvSpPr>
          <p:cNvPr id="3" name="Shape 1"/>
          <p:cNvSpPr/>
          <p:nvPr/>
        </p:nvSpPr>
        <p:spPr>
          <a:xfrm>
            <a:off x="548640" y="1417320"/>
            <a:ext cx="5349240" cy="3017520"/>
          </a:xfrm>
          <a:prstGeom prst="roundRect">
            <a:avLst>
              <a:gd name="adj" fmla="val 2424"/>
            </a:avLst>
          </a:prstGeom>
          <a:solidFill>
            <a:srgbClr val="F1F4F6"/>
          </a:solidFill>
          <a:ln w="12700">
            <a:solidFill>
              <a:srgbClr val="F1F4F6"/>
            </a:solidFill>
            <a:prstDash val="solid"/>
          </a:ln>
        </p:spPr>
      </p:sp>
      <p:sp>
        <p:nvSpPr>
          <p:cNvPr id="4" name="Text 2"/>
          <p:cNvSpPr txBox="1"/>
          <p:nvPr/>
        </p:nvSpPr>
        <p:spPr>
          <a:xfrm>
            <a:off x="868680" y="1645920"/>
            <a:ext cx="4754880" cy="365760"/>
          </a:xfrm>
          <a:prstGeom prst="rect">
            <a:avLst/>
          </a:prstGeom>
          <a:noFill/>
          <a:ln/>
        </p:spPr>
        <p:txBody>
          <a:bodyPr wrap="square" lIns="0" tIns="0" rIns="0" bIns="0" rtlCol="0" anchor="t"/>
          <a:lstStyle/>
          <a:p>
            <a:pPr algn="l" indent="0" marL="0">
              <a:buNone/>
            </a:pPr>
            <a:r>
              <a:rPr lang="en-US" sz="1600" b="1" dirty="0">
                <a:solidFill>
                  <a:srgbClr val="2864B4"/>
                </a:solidFill>
                <a:latin typeface="Arial" pitchFamily="34" charset="0"/>
                <a:ea typeface="Arial" pitchFamily="34" charset="-122"/>
                <a:cs typeface="Arial" pitchFamily="34" charset="-120"/>
              </a:rPr>
              <a:t>Laboratory</a:t>
            </a:r>
            <a:endParaRPr lang="en-US" sz="1600" dirty="0"/>
          </a:p>
        </p:txBody>
      </p:sp>
      <p:sp>
        <p:nvSpPr>
          <p:cNvPr id="5" name="Text 3"/>
          <p:cNvSpPr txBox="1"/>
          <p:nvPr/>
        </p:nvSpPr>
        <p:spPr>
          <a:xfrm>
            <a:off x="868680" y="2057400"/>
            <a:ext cx="4754880" cy="960120"/>
          </a:xfrm>
          <a:prstGeom prst="rect">
            <a:avLst/>
          </a:prstGeom>
          <a:noFill/>
          <a:ln/>
        </p:spPr>
        <p:txBody>
          <a:bodyPr wrap="square" lIns="0" tIns="0" rIns="0" bIns="0" rtlCol="0" anchor="t"/>
          <a:lstStyle/>
          <a:p>
            <a:pPr algn="l" indent="0" marL="0">
              <a:buNone/>
            </a:pPr>
            <a:r>
              <a:rPr lang="en-US" sz="2600" b="1" dirty="0">
                <a:solidFill>
                  <a:srgbClr val="132C3B"/>
                </a:solidFill>
                <a:latin typeface="Arial" pitchFamily="34" charset="0"/>
                <a:ea typeface="Arial" pitchFamily="34" charset="-122"/>
                <a:cs typeface="Arial" pitchFamily="34" charset="-120"/>
              </a:rPr>
              <a:t>Controlled driving cycle</a:t>
            </a:r>
            <a:endParaRPr lang="en-US" sz="2600" dirty="0"/>
          </a:p>
        </p:txBody>
      </p:sp>
      <p:sp>
        <p:nvSpPr>
          <p:cNvPr id="6" name="Text 4"/>
          <p:cNvSpPr txBox="1"/>
          <p:nvPr/>
        </p:nvSpPr>
        <p:spPr>
          <a:xfrm>
            <a:off x="868680" y="3200400"/>
            <a:ext cx="4754880" cy="1097280"/>
          </a:xfrm>
          <a:prstGeom prst="rect">
            <a:avLst/>
          </a:prstGeom>
          <a:noFill/>
          <a:ln/>
        </p:spPr>
        <p:txBody>
          <a:bodyPr wrap="square" lIns="0" tIns="0" rIns="0" bIns="0" rtlCol="0" anchor="t"/>
          <a:lstStyle/>
          <a:p>
            <a:pPr algn="l" indent="0" marL="0">
              <a:buNone/>
            </a:pPr>
            <a:r>
              <a:rPr lang="en-US" sz="1800" dirty="0">
                <a:solidFill>
                  <a:srgbClr val="52616A"/>
                </a:solidFill>
                <a:latin typeface="Arial" pitchFamily="34" charset="0"/>
                <a:ea typeface="Arial" pitchFamily="34" charset="-122"/>
                <a:cs typeface="Arial" pitchFamily="34" charset="-120"/>
              </a:rPr>
              <a:t>A and B: FTP-75 tests at CARB</a:t>
            </a:r>
            <a:endParaRPr lang="en-US" sz="1800" dirty="0"/>
          </a:p>
          <a:p>
            <a:pPr algn="l" indent="0" marL="0">
              <a:buNone/>
            </a:pPr>
            <a:r>
              <a:rPr lang="en-US" sz="1800" dirty="0">
                <a:solidFill>
                  <a:srgbClr val="52616A"/>
                </a:solidFill>
                <a:latin typeface="Arial" pitchFamily="34" charset="0"/>
                <a:ea typeface="Arial" pitchFamily="34" charset="-122"/>
                <a:cs typeface="Arial" pitchFamily="34" charset="-120"/>
              </a:rPr>
              <a:t>Same prescribed speed sequence</a:t>
            </a:r>
            <a:endParaRPr lang="en-US" sz="1800" dirty="0"/>
          </a:p>
        </p:txBody>
      </p:sp>
      <p:sp>
        <p:nvSpPr>
          <p:cNvPr id="7" name="Shape 5"/>
          <p:cNvSpPr/>
          <p:nvPr/>
        </p:nvSpPr>
        <p:spPr>
          <a:xfrm>
            <a:off x="6263640" y="1417320"/>
            <a:ext cx="5349240" cy="3017520"/>
          </a:xfrm>
          <a:prstGeom prst="roundRect">
            <a:avLst>
              <a:gd name="adj" fmla="val 2424"/>
            </a:avLst>
          </a:prstGeom>
          <a:solidFill>
            <a:srgbClr val="F1F4F6"/>
          </a:solidFill>
          <a:ln w="12700">
            <a:solidFill>
              <a:srgbClr val="F1F4F6"/>
            </a:solidFill>
            <a:prstDash val="solid"/>
          </a:ln>
        </p:spPr>
      </p:sp>
      <p:sp>
        <p:nvSpPr>
          <p:cNvPr id="8" name="Text 6"/>
          <p:cNvSpPr txBox="1"/>
          <p:nvPr/>
        </p:nvSpPr>
        <p:spPr>
          <a:xfrm>
            <a:off x="6583680" y="1645920"/>
            <a:ext cx="4754880" cy="365760"/>
          </a:xfrm>
          <a:prstGeom prst="rect">
            <a:avLst/>
          </a:prstGeom>
          <a:noFill/>
          <a:ln/>
        </p:spPr>
        <p:txBody>
          <a:bodyPr wrap="square" lIns="0" tIns="0" rIns="0" bIns="0" rtlCol="0" anchor="t"/>
          <a:lstStyle/>
          <a:p>
            <a:pPr algn="l" indent="0" marL="0">
              <a:buNone/>
            </a:pPr>
            <a:r>
              <a:rPr lang="en-US" sz="1600" b="1" dirty="0">
                <a:solidFill>
                  <a:srgbClr val="C35724"/>
                </a:solidFill>
                <a:latin typeface="Arial" pitchFamily="34" charset="0"/>
                <a:ea typeface="Arial" pitchFamily="34" charset="-122"/>
                <a:cs typeface="Arial" pitchFamily="34" charset="-120"/>
              </a:rPr>
              <a:t>Real roads</a:t>
            </a:r>
            <a:endParaRPr lang="en-US" sz="1600" dirty="0"/>
          </a:p>
        </p:txBody>
      </p:sp>
      <p:sp>
        <p:nvSpPr>
          <p:cNvPr id="9" name="Text 7"/>
          <p:cNvSpPr txBox="1"/>
          <p:nvPr/>
        </p:nvSpPr>
        <p:spPr>
          <a:xfrm>
            <a:off x="6583680" y="2057400"/>
            <a:ext cx="4754880" cy="960120"/>
          </a:xfrm>
          <a:prstGeom prst="rect">
            <a:avLst/>
          </a:prstGeom>
          <a:noFill/>
          <a:ln/>
        </p:spPr>
        <p:txBody>
          <a:bodyPr wrap="square" lIns="0" tIns="0" rIns="0" bIns="0" rtlCol="0" anchor="t"/>
          <a:lstStyle/>
          <a:p>
            <a:pPr algn="l" indent="0" marL="0">
              <a:buNone/>
            </a:pPr>
            <a:r>
              <a:rPr lang="en-US" sz="2600" b="1" dirty="0">
                <a:solidFill>
                  <a:srgbClr val="132C3B"/>
                </a:solidFill>
                <a:latin typeface="Arial" pitchFamily="34" charset="0"/>
                <a:ea typeface="Arial" pitchFamily="34" charset="-122"/>
                <a:cs typeface="Arial" pitchFamily="34" charset="-120"/>
              </a:rPr>
              <a:t>Portable exhaust measurement</a:t>
            </a:r>
            <a:endParaRPr lang="en-US" sz="2600" dirty="0"/>
          </a:p>
        </p:txBody>
      </p:sp>
      <p:sp>
        <p:nvSpPr>
          <p:cNvPr id="10" name="Text 8"/>
          <p:cNvSpPr txBox="1"/>
          <p:nvPr/>
        </p:nvSpPr>
        <p:spPr>
          <a:xfrm>
            <a:off x="6583680" y="3200400"/>
            <a:ext cx="4754880" cy="1097280"/>
          </a:xfrm>
          <a:prstGeom prst="rect">
            <a:avLst/>
          </a:prstGeom>
          <a:noFill/>
          <a:ln/>
        </p:spPr>
        <p:txBody>
          <a:bodyPr wrap="square" lIns="0" tIns="0" rIns="0" bIns="0" rtlCol="0" anchor="t"/>
          <a:lstStyle/>
          <a:p>
            <a:pPr algn="l" indent="0" marL="0">
              <a:buNone/>
            </a:pPr>
            <a:r>
              <a:rPr lang="en-US" sz="1800" dirty="0">
                <a:solidFill>
                  <a:srgbClr val="52616A"/>
                </a:solidFill>
                <a:latin typeface="Arial" pitchFamily="34" charset="0"/>
                <a:ea typeface="Arial" pitchFamily="34" charset="-122"/>
                <a:cs typeface="Arial" pitchFamily="34" charset="-120"/>
              </a:rPr>
              <a:t>Three vehicles, selected California routes</a:t>
            </a:r>
            <a:endParaRPr lang="en-US" sz="1800" dirty="0"/>
          </a:p>
          <a:p>
            <a:pPr algn="l" indent="0" marL="0">
              <a:buNone/>
            </a:pPr>
            <a:r>
              <a:rPr lang="en-US" sz="1800" dirty="0">
                <a:solidFill>
                  <a:srgbClr val="52616A"/>
                </a:solidFill>
                <a:latin typeface="Arial" pitchFamily="34" charset="0"/>
                <a:ea typeface="Arial" pitchFamily="34" charset="-122"/>
                <a:cs typeface="Arial" pitchFamily="34" charset="-120"/>
              </a:rPr>
              <a:t>Traffic, hills and engine load vary</a:t>
            </a:r>
            <a:endParaRPr lang="en-US" sz="1800" dirty="0"/>
          </a:p>
        </p:txBody>
      </p:sp>
      <p:sp>
        <p:nvSpPr>
          <p:cNvPr id="11" name="Text 9"/>
          <p:cNvSpPr txBox="1"/>
          <p:nvPr/>
        </p:nvSpPr>
        <p:spPr>
          <a:xfrm>
            <a:off x="548640" y="4754880"/>
            <a:ext cx="11064240" cy="1097280"/>
          </a:xfrm>
          <a:prstGeom prst="rect">
            <a:avLst/>
          </a:prstGeom>
          <a:noFill/>
          <a:ln/>
        </p:spPr>
        <p:txBody>
          <a:bodyPr wrap="square" lIns="0" tIns="0" rIns="0" bIns="0" rtlCol="0" anchor="t"/>
          <a:lstStyle/>
          <a:p>
            <a:pPr algn="l" indent="0" marL="0">
              <a:buNone/>
            </a:pPr>
            <a:r>
              <a:rPr lang="en-US" sz="1800" b="1" dirty="0">
                <a:solidFill>
                  <a:srgbClr val="132C3B"/>
                </a:solidFill>
                <a:latin typeface="Arial" pitchFamily="34" charset="0"/>
                <a:ea typeface="Arial" pitchFamily="34" charset="-122"/>
                <a:cs typeface="Arial" pitchFamily="34" charset="-120"/>
              </a:rPr>
              <a:t>NOx = nitrogen oxides     g/km = grams per kilometre</a:t>
            </a:r>
            <a:endParaRPr lang="en-US" sz="1800" dirty="0"/>
          </a:p>
          <a:p>
            <a:pPr algn="l" indent="0" marL="0">
              <a:buNone/>
            </a:pPr>
            <a:r>
              <a:rPr lang="en-US" sz="1800" b="1" dirty="0">
                <a:solidFill>
                  <a:srgbClr val="132C3B"/>
                </a:solidFill>
                <a:latin typeface="Arial" pitchFamily="34" charset="0"/>
                <a:ea typeface="Arial" pitchFamily="34" charset="-122"/>
                <a:cs typeface="Arial" pitchFamily="34" charset="-120"/>
              </a:rPr>
              <a:t>U.S. Tier 2 Bin 5 NOx standard: 0.043 g/km at full useful life</a:t>
            </a:r>
            <a:endParaRPr lang="en-US" sz="1800" dirty="0"/>
          </a:p>
        </p:txBody>
      </p:sp>
      <p:sp>
        <p:nvSpPr>
          <p:cNvPr id="12" name="Text 10"/>
          <p:cNvSpPr txBox="1"/>
          <p:nvPr/>
        </p:nvSpPr>
        <p:spPr>
          <a:xfrm>
            <a:off x="548640" y="6236208"/>
            <a:ext cx="10515600" cy="457200"/>
          </a:xfrm>
          <a:prstGeom prst="rect">
            <a:avLst/>
          </a:prstGeom>
          <a:noFill/>
          <a:ln/>
        </p:spPr>
        <p:txBody>
          <a:bodyPr wrap="square" lIns="0" tIns="0" rIns="0" bIns="0" rtlCol="0" anchor="t"/>
          <a:lstStyle/>
          <a:p>
            <a:pPr algn="l" indent="0" marL="0">
              <a:buNone/>
            </a:pPr>
            <a:r>
              <a:rPr lang="en-US" sz="1100" dirty="0">
                <a:solidFill>
                  <a:srgbClr val="52616A"/>
                </a:solidFill>
                <a:latin typeface="Arial" pitchFamily="34" charset="0"/>
                <a:ea typeface="Arial" pitchFamily="34" charset="-122"/>
                <a:cs typeface="Arial" pitchFamily="34" charset="-120"/>
              </a:rPr>
              <a:t>WVU/ICCT (2014), pp. 1, 9–10; Table 3.15 p. 57; Table 4.1 p. 59; p. 64. Standard = 0.07 g/mi (Table 2.2 p. 5).</a:t>
            </a:r>
            <a:endParaRPr lang="en-US" sz="1100" dirty="0"/>
          </a:p>
        </p:txBody>
      </p:sp>
      <p:sp>
        <p:nvSpPr>
          <p:cNvPr id="13" name="Text 11"/>
          <p:cNvSpPr txBox="1"/>
          <p:nvPr/>
        </p:nvSpPr>
        <p:spPr>
          <a:xfrm>
            <a:off x="11155680" y="6236208"/>
            <a:ext cx="502920" cy="274320"/>
          </a:xfrm>
          <a:prstGeom prst="rect">
            <a:avLst/>
          </a:prstGeom>
          <a:noFill/>
          <a:ln/>
        </p:spPr>
        <p:txBody>
          <a:bodyPr wrap="square" lIns="0" tIns="0" rIns="0" bIns="0" rtlCol="0" anchor="t"/>
          <a:lstStyle/>
          <a:p>
            <a:pPr algn="r" indent="0" marL="0">
              <a:buNone/>
            </a:pPr>
            <a:r>
              <a:rPr lang="en-US" sz="1100" dirty="0">
                <a:solidFill>
                  <a:srgbClr val="52616A"/>
                </a:solidFill>
                <a:latin typeface="Arial" pitchFamily="34" charset="0"/>
                <a:ea typeface="Arial" pitchFamily="34" charset="-122"/>
                <a:cs typeface="Arial"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t"/>
          <a:lstStyle/>
          <a:p>
            <a:pPr algn="l" indent="0" marL="0">
              <a:buNone/>
            </a:pPr>
            <a:r>
              <a:rPr lang="en-US" sz="3200" b="1" dirty="0">
                <a:solidFill>
                  <a:srgbClr val="132C3B"/>
                </a:solidFill>
                <a:latin typeface="Arial" pitchFamily="34" charset="0"/>
                <a:ea typeface="Arial" pitchFamily="34" charset="-122"/>
                <a:cs typeface="Arial" pitchFamily="34" charset="-120"/>
              </a:rPr>
              <a:t>What did the data show?</a:t>
            </a:r>
            <a:endParaRPr lang="en-US" sz="3200" dirty="0"/>
          </a:p>
        </p:txBody>
      </p:sp>
      <p:graphicFrame>
        <p:nvGraphicFramePr>
          <p:cNvPr id="3" name="Chart 0" descr=""/>
          <p:cNvGraphicFramePr/>
          <p:nvPr/>
        </p:nvGraphicFramePr>
        <p:xfrm>
          <a:off x="411480" y="1188720"/>
          <a:ext cx="11338560" cy="43891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596128"/>
            <a:ext cx="11064240" cy="274320"/>
          </a:xfrm>
          <a:prstGeom prst="rect">
            <a:avLst/>
          </a:prstGeom>
          <a:noFill/>
          <a:ln/>
        </p:spPr>
        <p:txBody>
          <a:bodyPr wrap="square" lIns="0" tIns="0" rIns="0" bIns="0" rtlCol="0" anchor="t"/>
          <a:lstStyle/>
          <a:p>
            <a:pPr algn="l" indent="0" marL="0">
              <a:buNone/>
            </a:pPr>
            <a:r>
              <a:rPr lang="en-US" sz="1200" dirty="0">
                <a:solidFill>
                  <a:srgbClr val="52616A"/>
                </a:solidFill>
                <a:latin typeface="Arial" pitchFamily="34" charset="0"/>
                <a:ea typeface="Arial" pitchFamily="34" charset="-122"/>
                <a:cs typeface="Arial" pitchFamily="34" charset="-120"/>
              </a:rPr>
              <a:t>Bars: route or test means; thin bars: ±1 SD as published (none for single runs). No bar = no test (C lab, C R4, A R5), not zero.</a:t>
            </a:r>
            <a:endParaRPr lang="en-US" sz="1200" dirty="0"/>
          </a:p>
        </p:txBody>
      </p:sp>
      <p:sp>
        <p:nvSpPr>
          <p:cNvPr id="5" name="Text 2"/>
          <p:cNvSpPr txBox="1"/>
          <p:nvPr/>
        </p:nvSpPr>
        <p:spPr>
          <a:xfrm>
            <a:off x="548640" y="5852160"/>
            <a:ext cx="11064240" cy="274320"/>
          </a:xfrm>
          <a:prstGeom prst="rect">
            <a:avLst/>
          </a:prstGeom>
          <a:noFill/>
          <a:ln/>
        </p:spPr>
        <p:txBody>
          <a:bodyPr wrap="square" lIns="0" tIns="0" rIns="0" bIns="0" rtlCol="0" anchor="t"/>
          <a:lstStyle/>
          <a:p>
            <a:pPr algn="l" indent="0" marL="0">
              <a:buNone/>
            </a:pPr>
            <a:r>
              <a:rPr lang="en-US" sz="1200" dirty="0">
                <a:solidFill>
                  <a:srgbClr val="52616A"/>
                </a:solidFill>
                <a:latin typeface="Arial" pitchFamily="34" charset="0"/>
                <a:ea typeface="Arial" pitchFamily="34" charset="-122"/>
                <a:cs typeface="Arial" pitchFamily="34" charset="-120"/>
              </a:rPr>
              <a:t>The standard is a certification benchmark, used here as a reference; road routes are not certification tests. Three vehicles: no fleet-wide estimate.</a:t>
            </a:r>
            <a:endParaRPr lang="en-US" sz="1200" dirty="0"/>
          </a:p>
        </p:txBody>
      </p:sp>
      <p:sp>
        <p:nvSpPr>
          <p:cNvPr id="6" name="Text 3"/>
          <p:cNvSpPr txBox="1"/>
          <p:nvPr/>
        </p:nvSpPr>
        <p:spPr>
          <a:xfrm>
            <a:off x="548640" y="6236208"/>
            <a:ext cx="10515600" cy="457200"/>
          </a:xfrm>
          <a:prstGeom prst="rect">
            <a:avLst/>
          </a:prstGeom>
          <a:noFill/>
          <a:ln/>
        </p:spPr>
        <p:txBody>
          <a:bodyPr wrap="square" lIns="0" tIns="0" rIns="0" bIns="0" rtlCol="0" anchor="t"/>
          <a:lstStyle/>
          <a:p>
            <a:pPr algn="l" indent="0" marL="0">
              <a:buNone/>
            </a:pPr>
            <a:r>
              <a:rPr lang="en-US" sz="1100" dirty="0">
                <a:solidFill>
                  <a:srgbClr val="52616A"/>
                </a:solidFill>
                <a:latin typeface="Arial" pitchFamily="34" charset="0"/>
                <a:ea typeface="Arial" pitchFamily="34" charset="-122"/>
                <a:cs typeface="Arial" pitchFamily="34" charset="-120"/>
              </a:rPr>
              <a:t>WVU/ICCT (2014), Table 4.3 p. 65; laboratory results p. 64; standard Table 4.1 p. 59. Vehicle identities: EPA NOV (2015), p. 4.</a:t>
            </a:r>
            <a:endParaRPr lang="en-US" sz="1100" dirty="0"/>
          </a:p>
        </p:txBody>
      </p:sp>
      <p:sp>
        <p:nvSpPr>
          <p:cNvPr id="7" name="Text 4"/>
          <p:cNvSpPr txBox="1"/>
          <p:nvPr/>
        </p:nvSpPr>
        <p:spPr>
          <a:xfrm>
            <a:off x="11155680" y="6236208"/>
            <a:ext cx="502920" cy="274320"/>
          </a:xfrm>
          <a:prstGeom prst="rect">
            <a:avLst/>
          </a:prstGeom>
          <a:noFill/>
          <a:ln/>
        </p:spPr>
        <p:txBody>
          <a:bodyPr wrap="square" lIns="0" tIns="0" rIns="0" bIns="0" rtlCol="0" anchor="t"/>
          <a:lstStyle/>
          <a:p>
            <a:pPr algn="r" indent="0" marL="0">
              <a:buNone/>
            </a:pPr>
            <a:r>
              <a:rPr lang="en-US" sz="1100" dirty="0">
                <a:solidFill>
                  <a:srgbClr val="52616A"/>
                </a:solidFill>
                <a:latin typeface="Arial" pitchFamily="34" charset="0"/>
                <a:ea typeface="Arial" pitchFamily="34" charset="-122"/>
                <a:cs typeface="Arial"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t"/>
          <a:lstStyle/>
          <a:p>
            <a:pPr algn="l" indent="0" marL="0">
              <a:buNone/>
            </a:pPr>
            <a:r>
              <a:rPr lang="en-US" sz="3200" b="1" dirty="0">
                <a:solidFill>
                  <a:srgbClr val="132C3B"/>
                </a:solidFill>
                <a:latin typeface="Arial" pitchFamily="34" charset="0"/>
                <a:ea typeface="Arial" pitchFamily="34" charset="-122"/>
                <a:cs typeface="Arial" pitchFamily="34" charset="-120"/>
              </a:rPr>
              <a:t>What did the discrepancy mean?</a:t>
            </a:r>
            <a:endParaRPr lang="en-US" sz="3200" dirty="0"/>
          </a:p>
        </p:txBody>
      </p:sp>
      <p:sp>
        <p:nvSpPr>
          <p:cNvPr id="3" name="Shape 1"/>
          <p:cNvSpPr/>
          <p:nvPr/>
        </p:nvSpPr>
        <p:spPr>
          <a:xfrm>
            <a:off x="548640" y="1417320"/>
            <a:ext cx="3520440" cy="3017520"/>
          </a:xfrm>
          <a:prstGeom prst="roundRect">
            <a:avLst>
              <a:gd name="adj" fmla="val 2424"/>
            </a:avLst>
          </a:prstGeom>
          <a:solidFill>
            <a:srgbClr val="F1F4F6"/>
          </a:solidFill>
          <a:ln w="12700">
            <a:solidFill>
              <a:srgbClr val="F1F4F6"/>
            </a:solidFill>
            <a:prstDash val="solid"/>
          </a:ln>
        </p:spPr>
      </p:sp>
      <p:sp>
        <p:nvSpPr>
          <p:cNvPr id="4" name="Text 2"/>
          <p:cNvSpPr txBox="1"/>
          <p:nvPr/>
        </p:nvSpPr>
        <p:spPr>
          <a:xfrm>
            <a:off x="822960" y="1645920"/>
            <a:ext cx="3017520" cy="502920"/>
          </a:xfrm>
          <a:prstGeom prst="rect">
            <a:avLst/>
          </a:prstGeom>
          <a:noFill/>
          <a:ln/>
        </p:spPr>
        <p:txBody>
          <a:bodyPr wrap="square" lIns="0" tIns="0" rIns="0" bIns="0" rtlCol="0" anchor="t"/>
          <a:lstStyle/>
          <a:p>
            <a:pPr algn="l" indent="0" marL="0">
              <a:buNone/>
            </a:pPr>
            <a:r>
              <a:rPr lang="en-US" sz="2800" b="1" dirty="0">
                <a:solidFill>
                  <a:srgbClr val="2864B4"/>
                </a:solidFill>
                <a:latin typeface="Arial" pitchFamily="34" charset="0"/>
                <a:ea typeface="Arial" pitchFamily="34" charset="-122"/>
                <a:cs typeface="Arial" pitchFamily="34" charset="-120"/>
              </a:rPr>
              <a:t>2014</a:t>
            </a:r>
            <a:endParaRPr lang="en-US" sz="2800" dirty="0"/>
          </a:p>
        </p:txBody>
      </p:sp>
      <p:sp>
        <p:nvSpPr>
          <p:cNvPr id="5" name="Text 3"/>
          <p:cNvSpPr txBox="1"/>
          <p:nvPr/>
        </p:nvSpPr>
        <p:spPr>
          <a:xfrm>
            <a:off x="822960" y="2240280"/>
            <a:ext cx="3017520" cy="457200"/>
          </a:xfrm>
          <a:prstGeom prst="rect">
            <a:avLst/>
          </a:prstGeom>
          <a:noFill/>
          <a:ln/>
        </p:spPr>
        <p:txBody>
          <a:bodyPr wrap="square" lIns="0" tIns="0" rIns="0" bIns="0" rtlCol="0" anchor="t"/>
          <a:lstStyle/>
          <a:p>
            <a:pPr algn="l" indent="0" marL="0">
              <a:buNone/>
            </a:pPr>
            <a:r>
              <a:rPr lang="en-US" sz="2200" b="1" dirty="0">
                <a:solidFill>
                  <a:srgbClr val="132C3B"/>
                </a:solidFill>
                <a:latin typeface="Arial" pitchFamily="34" charset="0"/>
                <a:ea typeface="Arial" pitchFamily="34" charset="-122"/>
                <a:cs typeface="Arial" pitchFamily="34" charset="-120"/>
              </a:rPr>
              <a:t>Anomaly</a:t>
            </a:r>
            <a:endParaRPr lang="en-US" sz="2200" dirty="0"/>
          </a:p>
        </p:txBody>
      </p:sp>
      <p:sp>
        <p:nvSpPr>
          <p:cNvPr id="6" name="Text 4"/>
          <p:cNvSpPr txBox="1"/>
          <p:nvPr/>
        </p:nvSpPr>
        <p:spPr>
          <a:xfrm>
            <a:off x="822960" y="2788920"/>
            <a:ext cx="3017520" cy="1463040"/>
          </a:xfrm>
          <a:prstGeom prst="rect">
            <a:avLst/>
          </a:prstGeom>
          <a:noFill/>
          <a:ln/>
        </p:spPr>
        <p:txBody>
          <a:bodyPr wrap="square" lIns="0" tIns="0" rIns="0" bIns="0" rtlCol="0" anchor="t"/>
          <a:lstStyle/>
          <a:p>
            <a:pPr algn="l" indent="0" marL="0">
              <a:buNone/>
            </a:pPr>
            <a:r>
              <a:rPr lang="en-US" sz="1700" dirty="0">
                <a:solidFill>
                  <a:srgbClr val="52616A"/>
                </a:solidFill>
                <a:latin typeface="Arial" pitchFamily="34" charset="0"/>
                <a:ea typeface="Arial" pitchFamily="34" charset="-122"/>
                <a:cs typeface="Arial" pitchFamily="34" charset="-120"/>
              </a:rPr>
              <a:t>Independent road measurements justified further investigation</a:t>
            </a:r>
            <a:endParaRPr lang="en-US" sz="1700" dirty="0"/>
          </a:p>
        </p:txBody>
      </p:sp>
      <p:sp>
        <p:nvSpPr>
          <p:cNvPr id="7" name="Shape 5"/>
          <p:cNvSpPr/>
          <p:nvPr/>
        </p:nvSpPr>
        <p:spPr>
          <a:xfrm>
            <a:off x="4343400" y="1417320"/>
            <a:ext cx="3520440" cy="3017520"/>
          </a:xfrm>
          <a:prstGeom prst="roundRect">
            <a:avLst>
              <a:gd name="adj" fmla="val 2424"/>
            </a:avLst>
          </a:prstGeom>
          <a:solidFill>
            <a:srgbClr val="F1F4F6"/>
          </a:solidFill>
          <a:ln w="12700">
            <a:solidFill>
              <a:srgbClr val="F1F4F6"/>
            </a:solidFill>
            <a:prstDash val="solid"/>
          </a:ln>
        </p:spPr>
      </p:sp>
      <p:sp>
        <p:nvSpPr>
          <p:cNvPr id="8" name="Text 6"/>
          <p:cNvSpPr txBox="1"/>
          <p:nvPr/>
        </p:nvSpPr>
        <p:spPr>
          <a:xfrm>
            <a:off x="4617720" y="1645920"/>
            <a:ext cx="3017520" cy="502920"/>
          </a:xfrm>
          <a:prstGeom prst="rect">
            <a:avLst/>
          </a:prstGeom>
          <a:noFill/>
          <a:ln/>
        </p:spPr>
        <p:txBody>
          <a:bodyPr wrap="square" lIns="0" tIns="0" rIns="0" bIns="0" rtlCol="0" anchor="t"/>
          <a:lstStyle/>
          <a:p>
            <a:pPr algn="l" indent="0" marL="0">
              <a:buNone/>
            </a:pPr>
            <a:r>
              <a:rPr lang="en-US" sz="2800" b="1" dirty="0">
                <a:solidFill>
                  <a:srgbClr val="C35724"/>
                </a:solidFill>
                <a:latin typeface="Arial" pitchFamily="34" charset="0"/>
                <a:ea typeface="Arial" pitchFamily="34" charset="-122"/>
                <a:cs typeface="Arial" pitchFamily="34" charset="-120"/>
              </a:rPr>
              <a:t>2015</a:t>
            </a:r>
            <a:endParaRPr lang="en-US" sz="2800" dirty="0"/>
          </a:p>
        </p:txBody>
      </p:sp>
      <p:sp>
        <p:nvSpPr>
          <p:cNvPr id="9" name="Text 7"/>
          <p:cNvSpPr txBox="1"/>
          <p:nvPr/>
        </p:nvSpPr>
        <p:spPr>
          <a:xfrm>
            <a:off x="4617720" y="2240280"/>
            <a:ext cx="3017520" cy="457200"/>
          </a:xfrm>
          <a:prstGeom prst="rect">
            <a:avLst/>
          </a:prstGeom>
          <a:noFill/>
          <a:ln/>
        </p:spPr>
        <p:txBody>
          <a:bodyPr wrap="square" lIns="0" tIns="0" rIns="0" bIns="0" rtlCol="0" anchor="t"/>
          <a:lstStyle/>
          <a:p>
            <a:pPr algn="l" indent="0" marL="0">
              <a:buNone/>
            </a:pPr>
            <a:r>
              <a:rPr lang="en-US" sz="2200" b="1" dirty="0">
                <a:solidFill>
                  <a:srgbClr val="132C3B"/>
                </a:solidFill>
                <a:latin typeface="Arial" pitchFamily="34" charset="0"/>
                <a:ea typeface="Arial" pitchFamily="34" charset="-122"/>
                <a:cs typeface="Arial" pitchFamily="34" charset="-120"/>
              </a:rPr>
              <a:t>Mechanism</a:t>
            </a:r>
            <a:endParaRPr lang="en-US" sz="2200" dirty="0"/>
          </a:p>
        </p:txBody>
      </p:sp>
      <p:sp>
        <p:nvSpPr>
          <p:cNvPr id="10" name="Text 8"/>
          <p:cNvSpPr txBox="1"/>
          <p:nvPr/>
        </p:nvSpPr>
        <p:spPr>
          <a:xfrm>
            <a:off x="4617720" y="2788920"/>
            <a:ext cx="3017520" cy="1463040"/>
          </a:xfrm>
          <a:prstGeom prst="rect">
            <a:avLst/>
          </a:prstGeom>
          <a:noFill/>
          <a:ln/>
        </p:spPr>
        <p:txBody>
          <a:bodyPr wrap="square" lIns="0" tIns="0" rIns="0" bIns="0" rtlCol="0" anchor="t"/>
          <a:lstStyle/>
          <a:p>
            <a:pPr algn="l" indent="0" marL="0">
              <a:buNone/>
            </a:pPr>
            <a:r>
              <a:rPr lang="en-US" sz="1700" dirty="0">
                <a:solidFill>
                  <a:srgbClr val="52616A"/>
                </a:solidFill>
                <a:latin typeface="Arial" pitchFamily="34" charset="0"/>
                <a:ea typeface="Arial" pitchFamily="34" charset="-122"/>
                <a:cs typeface="Arial" pitchFamily="34" charset="-120"/>
              </a:rPr>
              <a:t>EPA described test detection and reduced control on the road</a:t>
            </a:r>
            <a:endParaRPr lang="en-US" sz="1700" dirty="0"/>
          </a:p>
        </p:txBody>
      </p:sp>
      <p:sp>
        <p:nvSpPr>
          <p:cNvPr id="11" name="Shape 9"/>
          <p:cNvSpPr/>
          <p:nvPr/>
        </p:nvSpPr>
        <p:spPr>
          <a:xfrm>
            <a:off x="8138160" y="1417320"/>
            <a:ext cx="3520440" cy="3017520"/>
          </a:xfrm>
          <a:prstGeom prst="roundRect">
            <a:avLst>
              <a:gd name="adj" fmla="val 2424"/>
            </a:avLst>
          </a:prstGeom>
          <a:solidFill>
            <a:srgbClr val="F1F4F6"/>
          </a:solidFill>
          <a:ln w="12700">
            <a:solidFill>
              <a:srgbClr val="F1F4F6"/>
            </a:solidFill>
            <a:prstDash val="solid"/>
          </a:ln>
        </p:spPr>
      </p:sp>
      <p:sp>
        <p:nvSpPr>
          <p:cNvPr id="12" name="Text 10"/>
          <p:cNvSpPr txBox="1"/>
          <p:nvPr/>
        </p:nvSpPr>
        <p:spPr>
          <a:xfrm>
            <a:off x="8412480" y="1645920"/>
            <a:ext cx="3017520" cy="502920"/>
          </a:xfrm>
          <a:prstGeom prst="rect">
            <a:avLst/>
          </a:prstGeom>
          <a:noFill/>
          <a:ln/>
        </p:spPr>
        <p:txBody>
          <a:bodyPr wrap="square" lIns="0" tIns="0" rIns="0" bIns="0" rtlCol="0" anchor="t"/>
          <a:lstStyle/>
          <a:p>
            <a:pPr algn="l" indent="0" marL="0">
              <a:buNone/>
            </a:pPr>
            <a:r>
              <a:rPr lang="en-US" sz="2800" b="1" dirty="0">
                <a:solidFill>
                  <a:srgbClr val="008778"/>
                </a:solidFill>
                <a:latin typeface="Arial" pitchFamily="34" charset="0"/>
                <a:ea typeface="Arial" pitchFamily="34" charset="-122"/>
                <a:cs typeface="Arial" pitchFamily="34" charset="-120"/>
              </a:rPr>
              <a:t>2017</a:t>
            </a:r>
            <a:endParaRPr lang="en-US" sz="2800" dirty="0"/>
          </a:p>
        </p:txBody>
      </p:sp>
      <p:sp>
        <p:nvSpPr>
          <p:cNvPr id="13" name="Text 11"/>
          <p:cNvSpPr txBox="1"/>
          <p:nvPr/>
        </p:nvSpPr>
        <p:spPr>
          <a:xfrm>
            <a:off x="8412480" y="2240280"/>
            <a:ext cx="3017520" cy="457200"/>
          </a:xfrm>
          <a:prstGeom prst="rect">
            <a:avLst/>
          </a:prstGeom>
          <a:noFill/>
          <a:ln/>
        </p:spPr>
        <p:txBody>
          <a:bodyPr wrap="square" lIns="0" tIns="0" rIns="0" bIns="0" rtlCol="0" anchor="t"/>
          <a:lstStyle/>
          <a:p>
            <a:pPr algn="l" indent="0" marL="0">
              <a:buNone/>
            </a:pPr>
            <a:r>
              <a:rPr lang="en-US" sz="2200" b="1" dirty="0">
                <a:solidFill>
                  <a:srgbClr val="132C3B"/>
                </a:solidFill>
                <a:latin typeface="Arial" pitchFamily="34" charset="0"/>
                <a:ea typeface="Arial" pitchFamily="34" charset="-122"/>
                <a:cs typeface="Arial" pitchFamily="34" charset="-120"/>
              </a:rPr>
              <a:t>Admitted conduct</a:t>
            </a:r>
            <a:endParaRPr lang="en-US" sz="2200" dirty="0"/>
          </a:p>
        </p:txBody>
      </p:sp>
      <p:sp>
        <p:nvSpPr>
          <p:cNvPr id="14" name="Text 12"/>
          <p:cNvSpPr txBox="1"/>
          <p:nvPr/>
        </p:nvSpPr>
        <p:spPr>
          <a:xfrm>
            <a:off x="8412480" y="2788920"/>
            <a:ext cx="3017520" cy="1463040"/>
          </a:xfrm>
          <a:prstGeom prst="rect">
            <a:avLst/>
          </a:prstGeom>
          <a:noFill/>
          <a:ln/>
        </p:spPr>
        <p:txBody>
          <a:bodyPr wrap="square" lIns="0" tIns="0" rIns="0" bIns="0" rtlCol="0" anchor="t"/>
          <a:lstStyle/>
          <a:p>
            <a:pPr algn="l" indent="0" marL="0">
              <a:buNone/>
            </a:pPr>
            <a:r>
              <a:rPr lang="en-US" sz="1700" dirty="0">
                <a:solidFill>
                  <a:srgbClr val="52616A"/>
                </a:solidFill>
                <a:latin typeface="Arial" pitchFamily="34" charset="0"/>
                <a:ea typeface="Arial" pitchFamily="34" charset="-122"/>
                <a:cs typeface="Arial" pitchFamily="34" charset="-120"/>
              </a:rPr>
              <a:t>Volkswagen admitted facts about design and concealment</a:t>
            </a:r>
            <a:endParaRPr lang="en-US" sz="1700" dirty="0"/>
          </a:p>
        </p:txBody>
      </p:sp>
      <p:sp>
        <p:nvSpPr>
          <p:cNvPr id="15" name="Text 13"/>
          <p:cNvSpPr txBox="1"/>
          <p:nvPr/>
        </p:nvSpPr>
        <p:spPr>
          <a:xfrm>
            <a:off x="548640" y="4800600"/>
            <a:ext cx="11064240" cy="822960"/>
          </a:xfrm>
          <a:prstGeom prst="rect">
            <a:avLst/>
          </a:prstGeom>
          <a:noFill/>
          <a:ln/>
        </p:spPr>
        <p:txBody>
          <a:bodyPr wrap="square" lIns="0" tIns="0" rIns="0" bIns="0" rtlCol="0" anchor="t"/>
          <a:lstStyle/>
          <a:p>
            <a:pPr algn="l" indent="0" marL="0">
              <a:buNone/>
            </a:pPr>
            <a:r>
              <a:rPr lang="en-US" sz="2000" b="1" dirty="0">
                <a:solidFill>
                  <a:srgbClr val="132C3B"/>
                </a:solidFill>
                <a:latin typeface="Arial" pitchFamily="34" charset="0"/>
                <a:ea typeface="Arial" pitchFamily="34" charset="-122"/>
                <a:cs typeface="Arial" pitchFamily="34" charset="-120"/>
              </a:rPr>
              <a:t>The road data showed the gap. It did not, by itself, prove intent.</a:t>
            </a:r>
            <a:endParaRPr lang="en-US" sz="2000" dirty="0"/>
          </a:p>
        </p:txBody>
      </p:sp>
      <p:sp>
        <p:nvSpPr>
          <p:cNvPr id="16" name="Text 14"/>
          <p:cNvSpPr txBox="1"/>
          <p:nvPr/>
        </p:nvSpPr>
        <p:spPr>
          <a:xfrm>
            <a:off x="548640" y="6236208"/>
            <a:ext cx="10515600" cy="457200"/>
          </a:xfrm>
          <a:prstGeom prst="rect">
            <a:avLst/>
          </a:prstGeom>
          <a:noFill/>
          <a:ln/>
        </p:spPr>
        <p:txBody>
          <a:bodyPr wrap="square" lIns="0" tIns="0" rIns="0" bIns="0" rtlCol="0" anchor="t"/>
          <a:lstStyle/>
          <a:p>
            <a:pPr algn="l" indent="0" marL="0">
              <a:buNone/>
            </a:pPr>
            <a:r>
              <a:rPr lang="en-US" sz="1100" dirty="0">
                <a:solidFill>
                  <a:srgbClr val="52616A"/>
                </a:solidFill>
                <a:latin typeface="Arial" pitchFamily="34" charset="0"/>
                <a:ea typeface="Arial" pitchFamily="34" charset="-122"/>
                <a:cs typeface="Arial" pitchFamily="34" charset="-120"/>
              </a:rPr>
              <a:t>WVU/ICCT (2014), p. iv, pp. 62–64; EPA NOV (2015), pp. 3–4; VW plea (2017), Exh. 2 pp. 12–14, 21–24, ¶¶ 33–36, 54–55, 63.</a:t>
            </a:r>
            <a:endParaRPr lang="en-US" sz="1100" dirty="0"/>
          </a:p>
        </p:txBody>
      </p:sp>
      <p:sp>
        <p:nvSpPr>
          <p:cNvPr id="17" name="Text 15"/>
          <p:cNvSpPr txBox="1"/>
          <p:nvPr/>
        </p:nvSpPr>
        <p:spPr>
          <a:xfrm>
            <a:off x="11155680" y="6236208"/>
            <a:ext cx="502920" cy="274320"/>
          </a:xfrm>
          <a:prstGeom prst="rect">
            <a:avLst/>
          </a:prstGeom>
          <a:noFill/>
          <a:ln/>
        </p:spPr>
        <p:txBody>
          <a:bodyPr wrap="square" lIns="0" tIns="0" rIns="0" bIns="0" rtlCol="0" anchor="t"/>
          <a:lstStyle/>
          <a:p>
            <a:pPr algn="r" indent="0" marL="0">
              <a:buNone/>
            </a:pPr>
            <a:r>
              <a:rPr lang="en-US" sz="1100" dirty="0">
                <a:solidFill>
                  <a:srgbClr val="52616A"/>
                </a:solidFill>
                <a:latin typeface="Arial" pitchFamily="34" charset="0"/>
                <a:ea typeface="Arial" pitchFamily="34" charset="-122"/>
                <a:cs typeface="Arial"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t"/>
          <a:lstStyle/>
          <a:p>
            <a:pPr algn="l" indent="0" marL="0">
              <a:buNone/>
            </a:pPr>
            <a:r>
              <a:rPr lang="en-US" sz="3200" b="1" dirty="0">
                <a:solidFill>
                  <a:srgbClr val="132C3B"/>
                </a:solidFill>
                <a:latin typeface="Arial" pitchFamily="34" charset="0"/>
                <a:ea typeface="Arial" pitchFamily="34" charset="-122"/>
                <a:cs typeface="Arial" pitchFamily="34" charset="-120"/>
              </a:rPr>
              <a:t>Primary sources</a:t>
            </a:r>
            <a:endParaRPr lang="en-US" sz="3200" dirty="0"/>
          </a:p>
        </p:txBody>
      </p:sp>
      <p:sp>
        <p:nvSpPr>
          <p:cNvPr id="3" name="Shape 1"/>
          <p:cNvSpPr/>
          <p:nvPr/>
        </p:nvSpPr>
        <p:spPr>
          <a:xfrm>
            <a:off x="548640" y="1417320"/>
            <a:ext cx="3520440" cy="3200400"/>
          </a:xfrm>
          <a:prstGeom prst="roundRect">
            <a:avLst>
              <a:gd name="adj" fmla="val 2286"/>
            </a:avLst>
          </a:prstGeom>
          <a:solidFill>
            <a:srgbClr val="F1F4F6"/>
          </a:solidFill>
          <a:ln w="12700">
            <a:solidFill>
              <a:srgbClr val="F1F4F6"/>
            </a:solidFill>
            <a:prstDash val="solid"/>
          </a:ln>
        </p:spPr>
      </p:sp>
      <p:sp>
        <p:nvSpPr>
          <p:cNvPr id="4" name="Text 2"/>
          <p:cNvSpPr txBox="1"/>
          <p:nvPr/>
        </p:nvSpPr>
        <p:spPr>
          <a:xfrm>
            <a:off x="822960" y="1645920"/>
            <a:ext cx="3017520" cy="320040"/>
          </a:xfrm>
          <a:prstGeom prst="rect">
            <a:avLst/>
          </a:prstGeom>
          <a:noFill/>
          <a:ln/>
        </p:spPr>
        <p:txBody>
          <a:bodyPr wrap="square" lIns="0" tIns="0" rIns="0" bIns="0" rtlCol="0" anchor="t"/>
          <a:lstStyle/>
          <a:p>
            <a:pPr algn="l" indent="0" marL="0">
              <a:buNone/>
            </a:pPr>
            <a:r>
              <a:rPr lang="en-US" sz="1400" b="1" dirty="0">
                <a:solidFill>
                  <a:srgbClr val="2864B4"/>
                </a:solidFill>
                <a:latin typeface="Arial" pitchFamily="34" charset="0"/>
                <a:ea typeface="Arial" pitchFamily="34" charset="-122"/>
                <a:cs typeface="Arial" pitchFamily="34" charset="-120"/>
              </a:rPr>
              <a:t>2014 research</a:t>
            </a:r>
            <a:endParaRPr lang="en-US" sz="1400" dirty="0"/>
          </a:p>
        </p:txBody>
      </p:sp>
      <p:sp>
        <p:nvSpPr>
          <p:cNvPr id="5" name="Text 3"/>
          <p:cNvSpPr txBox="1"/>
          <p:nvPr/>
        </p:nvSpPr>
        <p:spPr>
          <a:xfrm>
            <a:off x="822960" y="2057400"/>
            <a:ext cx="3017520" cy="777240"/>
          </a:xfrm>
          <a:prstGeom prst="rect">
            <a:avLst/>
          </a:prstGeom>
          <a:noFill/>
          <a:ln/>
        </p:spPr>
        <p:txBody>
          <a:bodyPr wrap="square" lIns="0" tIns="0" rIns="0" bIns="0" rtlCol="0" anchor="t"/>
          <a:lstStyle/>
          <a:p>
            <a:pPr algn="l" indent="0" marL="0">
              <a:buNone/>
            </a:pPr>
            <a:r>
              <a:rPr lang="en-US" sz="2200" b="1" dirty="0">
                <a:solidFill>
                  <a:srgbClr val="132C3B"/>
                </a:solidFill>
                <a:latin typeface="Arial" pitchFamily="34" charset="0"/>
                <a:ea typeface="Arial" pitchFamily="34" charset="-122"/>
                <a:cs typeface="Arial" pitchFamily="34" charset="-120"/>
              </a:rPr>
              <a:t>WVU / ICCT report</a:t>
            </a:r>
            <a:endParaRPr lang="en-US" sz="2200" dirty="0"/>
          </a:p>
        </p:txBody>
      </p:sp>
      <p:sp>
        <p:nvSpPr>
          <p:cNvPr id="6" name="Text 4"/>
          <p:cNvSpPr txBox="1"/>
          <p:nvPr/>
        </p:nvSpPr>
        <p:spPr>
          <a:xfrm>
            <a:off x="822960" y="2926080"/>
            <a:ext cx="3017520" cy="2468880"/>
          </a:xfrm>
          <a:prstGeom prst="rect">
            <a:avLst/>
          </a:prstGeom>
          <a:noFill/>
          <a:ln/>
        </p:spPr>
        <p:txBody>
          <a:bodyPr wrap="square" lIns="0" tIns="0" rIns="0" bIns="0" rtlCol="0" anchor="t"/>
          <a:lstStyle/>
          <a:p>
            <a:pPr algn="l" indent="0" marL="0">
              <a:buNone/>
            </a:pPr>
            <a:r>
              <a:rPr lang="en-US" sz="1500" dirty="0">
                <a:solidFill>
                  <a:srgbClr val="52616A"/>
                </a:solidFill>
                <a:latin typeface="Arial" pitchFamily="34" charset="0"/>
                <a:ea typeface="Arial" pitchFamily="34" charset="-122"/>
                <a:cs typeface="Arial" pitchFamily="34" charset="-120"/>
              </a:rPr>
              <a:t>15 May 2014</a:t>
            </a:r>
            <a:endParaRPr lang="en-US" sz="1500" dirty="0"/>
          </a:p>
          <a:p>
            <a:pPr algn="l" indent="0" marL="0">
              <a:buNone/>
            </a:pPr>
            <a:r>
              <a:rPr lang="en-US" sz="1500" dirty="0">
                <a:solidFill>
                  <a:srgbClr val="52616A"/>
                </a:solidFill>
                <a:latin typeface="Arial" pitchFamily="34" charset="0"/>
                <a:ea typeface="Arial" pitchFamily="34" charset="-122"/>
                <a:cs typeface="Arial" pitchFamily="34" charset="-120"/>
              </a:rPr>
              <a:t>Study design: pp. 1, 9–10, 57</a:t>
            </a:r>
            <a:endParaRPr lang="en-US" sz="1500" dirty="0"/>
          </a:p>
          <a:p>
            <a:pPr algn="l" indent="0" marL="0">
              <a:buNone/>
            </a:pPr>
            <a:r>
              <a:rPr lang="en-US" sz="1500" dirty="0">
                <a:solidFill>
                  <a:srgbClr val="52616A"/>
                </a:solidFill>
                <a:latin typeface="Arial" pitchFamily="34" charset="0"/>
                <a:ea typeface="Arial" pitchFamily="34" charset="-122"/>
                <a:cs typeface="Arial" pitchFamily="34" charset="-120"/>
              </a:rPr>
              <a:t>Standard: Table 4.1 p. 59</a:t>
            </a:r>
            <a:endParaRPr lang="en-US" sz="1500" dirty="0"/>
          </a:p>
          <a:p>
            <a:pPr algn="l" indent="0" marL="0">
              <a:buNone/>
            </a:pPr>
            <a:r>
              <a:rPr lang="en-US" sz="1500" dirty="0">
                <a:solidFill>
                  <a:srgbClr val="52616A"/>
                </a:solidFill>
                <a:latin typeface="Arial" pitchFamily="34" charset="0"/>
                <a:ea typeface="Arial" pitchFamily="34" charset="-122"/>
                <a:cs typeface="Arial" pitchFamily="34" charset="-120"/>
              </a:rPr>
              <a:t>Results: p. 64; Table 4.3 p. 65</a:t>
            </a:r>
            <a:endParaRPr lang="en-US" sz="1500" dirty="0"/>
          </a:p>
        </p:txBody>
      </p:sp>
      <p:sp>
        <p:nvSpPr>
          <p:cNvPr id="7" name="Shape 5"/>
          <p:cNvSpPr/>
          <p:nvPr/>
        </p:nvSpPr>
        <p:spPr>
          <a:xfrm>
            <a:off x="4343400" y="1417320"/>
            <a:ext cx="3520440" cy="3200400"/>
          </a:xfrm>
          <a:prstGeom prst="roundRect">
            <a:avLst>
              <a:gd name="adj" fmla="val 2286"/>
            </a:avLst>
          </a:prstGeom>
          <a:solidFill>
            <a:srgbClr val="F1F4F6"/>
          </a:solidFill>
          <a:ln w="12700">
            <a:solidFill>
              <a:srgbClr val="F1F4F6"/>
            </a:solidFill>
            <a:prstDash val="solid"/>
          </a:ln>
        </p:spPr>
      </p:sp>
      <p:sp>
        <p:nvSpPr>
          <p:cNvPr id="8" name="Text 6"/>
          <p:cNvSpPr txBox="1"/>
          <p:nvPr/>
        </p:nvSpPr>
        <p:spPr>
          <a:xfrm>
            <a:off x="4617720" y="1645920"/>
            <a:ext cx="3017520" cy="320040"/>
          </a:xfrm>
          <a:prstGeom prst="rect">
            <a:avLst/>
          </a:prstGeom>
          <a:noFill/>
          <a:ln/>
        </p:spPr>
        <p:txBody>
          <a:bodyPr wrap="square" lIns="0" tIns="0" rIns="0" bIns="0" rtlCol="0" anchor="t"/>
          <a:lstStyle/>
          <a:p>
            <a:pPr algn="l" indent="0" marL="0">
              <a:buNone/>
            </a:pPr>
            <a:r>
              <a:rPr lang="en-US" sz="1400" b="1" dirty="0">
                <a:solidFill>
                  <a:srgbClr val="C35724"/>
                </a:solidFill>
                <a:latin typeface="Arial" pitchFamily="34" charset="0"/>
                <a:ea typeface="Arial" pitchFamily="34" charset="-122"/>
                <a:cs typeface="Arial" pitchFamily="34" charset="-120"/>
              </a:rPr>
              <a:t>2015 regulator findings</a:t>
            </a:r>
            <a:endParaRPr lang="en-US" sz="1400" dirty="0"/>
          </a:p>
        </p:txBody>
      </p:sp>
      <p:sp>
        <p:nvSpPr>
          <p:cNvPr id="9" name="Text 7"/>
          <p:cNvSpPr txBox="1"/>
          <p:nvPr/>
        </p:nvSpPr>
        <p:spPr>
          <a:xfrm>
            <a:off x="4617720" y="2057400"/>
            <a:ext cx="3017520" cy="777240"/>
          </a:xfrm>
          <a:prstGeom prst="rect">
            <a:avLst/>
          </a:prstGeom>
          <a:noFill/>
          <a:ln/>
        </p:spPr>
        <p:txBody>
          <a:bodyPr wrap="square" lIns="0" tIns="0" rIns="0" bIns="0" rtlCol="0" anchor="t"/>
          <a:lstStyle/>
          <a:p>
            <a:pPr algn="l" indent="0" marL="0">
              <a:buNone/>
            </a:pPr>
            <a:r>
              <a:rPr lang="en-US" sz="2200" b="1" dirty="0">
                <a:solidFill>
                  <a:srgbClr val="132C3B"/>
                </a:solidFill>
                <a:latin typeface="Arial" pitchFamily="34" charset="0"/>
                <a:ea typeface="Arial" pitchFamily="34" charset="-122"/>
                <a:cs typeface="Arial" pitchFamily="34" charset="-120"/>
              </a:rPr>
              <a:t>EPA Notice of Violation</a:t>
            </a:r>
            <a:endParaRPr lang="en-US" sz="2200" dirty="0"/>
          </a:p>
        </p:txBody>
      </p:sp>
      <p:sp>
        <p:nvSpPr>
          <p:cNvPr id="10" name="Text 8"/>
          <p:cNvSpPr txBox="1"/>
          <p:nvPr/>
        </p:nvSpPr>
        <p:spPr>
          <a:xfrm>
            <a:off x="4617720" y="2926080"/>
            <a:ext cx="3017520" cy="2468880"/>
          </a:xfrm>
          <a:prstGeom prst="rect">
            <a:avLst/>
          </a:prstGeom>
          <a:noFill/>
          <a:ln/>
        </p:spPr>
        <p:txBody>
          <a:bodyPr wrap="square" lIns="0" tIns="0" rIns="0" bIns="0" rtlCol="0" anchor="t"/>
          <a:lstStyle/>
          <a:p>
            <a:pPr algn="l" indent="0" marL="0">
              <a:buNone/>
            </a:pPr>
            <a:r>
              <a:rPr lang="en-US" sz="1500" dirty="0">
                <a:solidFill>
                  <a:srgbClr val="52616A"/>
                </a:solidFill>
                <a:latin typeface="Arial" pitchFamily="34" charset="0"/>
                <a:ea typeface="Arial" pitchFamily="34" charset="-122"/>
                <a:cs typeface="Arial" pitchFamily="34" charset="-120"/>
              </a:rPr>
              <a:t>18 September 2015</a:t>
            </a:r>
            <a:endParaRPr lang="en-US" sz="1500" dirty="0"/>
          </a:p>
          <a:p>
            <a:pPr algn="l" indent="0" marL="0">
              <a:buNone/>
            </a:pPr>
            <a:r>
              <a:rPr lang="en-US" sz="1500" dirty="0">
                <a:solidFill>
                  <a:srgbClr val="52616A"/>
                </a:solidFill>
                <a:latin typeface="Arial" pitchFamily="34" charset="0"/>
                <a:ea typeface="Arial" pitchFamily="34" charset="-122"/>
                <a:cs typeface="Arial" pitchFamily="34" charset="-120"/>
              </a:rPr>
              <a:t>Switch and calibrations: pp. 3–4</a:t>
            </a:r>
            <a:endParaRPr lang="en-US" sz="1500" dirty="0"/>
          </a:p>
          <a:p>
            <a:pPr algn="l" indent="0" marL="0">
              <a:buNone/>
            </a:pPr>
            <a:r>
              <a:rPr lang="en-US" sz="1500" dirty="0">
                <a:solidFill>
                  <a:srgbClr val="52616A"/>
                </a:solidFill>
                <a:latin typeface="Arial" pitchFamily="34" charset="0"/>
                <a:ea typeface="Arial" pitchFamily="34" charset="-122"/>
                <a:cs typeface="Arial" pitchFamily="34" charset="-120"/>
              </a:rPr>
              <a:t>WVU vehicles identified: p. 4</a:t>
            </a:r>
            <a:endParaRPr lang="en-US" sz="1500" dirty="0"/>
          </a:p>
        </p:txBody>
      </p:sp>
      <p:sp>
        <p:nvSpPr>
          <p:cNvPr id="11" name="Shape 9"/>
          <p:cNvSpPr/>
          <p:nvPr/>
        </p:nvSpPr>
        <p:spPr>
          <a:xfrm>
            <a:off x="8138160" y="1417320"/>
            <a:ext cx="3520440" cy="3200400"/>
          </a:xfrm>
          <a:prstGeom prst="roundRect">
            <a:avLst>
              <a:gd name="adj" fmla="val 2286"/>
            </a:avLst>
          </a:prstGeom>
          <a:solidFill>
            <a:srgbClr val="F1F4F6"/>
          </a:solidFill>
          <a:ln w="12700">
            <a:solidFill>
              <a:srgbClr val="F1F4F6"/>
            </a:solidFill>
            <a:prstDash val="solid"/>
          </a:ln>
        </p:spPr>
      </p:sp>
      <p:sp>
        <p:nvSpPr>
          <p:cNvPr id="12" name="Text 10"/>
          <p:cNvSpPr txBox="1"/>
          <p:nvPr/>
        </p:nvSpPr>
        <p:spPr>
          <a:xfrm>
            <a:off x="8412480" y="1645920"/>
            <a:ext cx="3017520" cy="320040"/>
          </a:xfrm>
          <a:prstGeom prst="rect">
            <a:avLst/>
          </a:prstGeom>
          <a:noFill/>
          <a:ln/>
        </p:spPr>
        <p:txBody>
          <a:bodyPr wrap="square" lIns="0" tIns="0" rIns="0" bIns="0" rtlCol="0" anchor="t"/>
          <a:lstStyle/>
          <a:p>
            <a:pPr algn="l" indent="0" marL="0">
              <a:buNone/>
            </a:pPr>
            <a:r>
              <a:rPr lang="en-US" sz="1400" b="1" dirty="0">
                <a:solidFill>
                  <a:srgbClr val="008778"/>
                </a:solidFill>
                <a:latin typeface="Arial" pitchFamily="34" charset="0"/>
                <a:ea typeface="Arial" pitchFamily="34" charset="-122"/>
                <a:cs typeface="Arial" pitchFamily="34" charset="-120"/>
              </a:rPr>
              <a:t>2017 admissions</a:t>
            </a:r>
            <a:endParaRPr lang="en-US" sz="1400" dirty="0"/>
          </a:p>
        </p:txBody>
      </p:sp>
      <p:sp>
        <p:nvSpPr>
          <p:cNvPr id="13" name="Text 11"/>
          <p:cNvSpPr txBox="1"/>
          <p:nvPr/>
        </p:nvSpPr>
        <p:spPr>
          <a:xfrm>
            <a:off x="8412480" y="2057400"/>
            <a:ext cx="3017520" cy="777240"/>
          </a:xfrm>
          <a:prstGeom prst="rect">
            <a:avLst/>
          </a:prstGeom>
          <a:noFill/>
          <a:ln/>
        </p:spPr>
        <p:txBody>
          <a:bodyPr wrap="square" lIns="0" tIns="0" rIns="0" bIns="0" rtlCol="0" anchor="t"/>
          <a:lstStyle/>
          <a:p>
            <a:pPr algn="l" indent="0" marL="0">
              <a:buNone/>
            </a:pPr>
            <a:r>
              <a:rPr lang="en-US" sz="2200" b="1" dirty="0">
                <a:solidFill>
                  <a:srgbClr val="132C3B"/>
                </a:solidFill>
                <a:latin typeface="Arial" pitchFamily="34" charset="0"/>
                <a:ea typeface="Arial" pitchFamily="34" charset="-122"/>
                <a:cs typeface="Arial" pitchFamily="34" charset="-120"/>
              </a:rPr>
              <a:t>Volkswagen plea agreement</a:t>
            </a:r>
            <a:endParaRPr lang="en-US" sz="2200" dirty="0"/>
          </a:p>
        </p:txBody>
      </p:sp>
      <p:sp>
        <p:nvSpPr>
          <p:cNvPr id="14" name="Text 12"/>
          <p:cNvSpPr txBox="1"/>
          <p:nvPr/>
        </p:nvSpPr>
        <p:spPr>
          <a:xfrm>
            <a:off x="8412480" y="2926080"/>
            <a:ext cx="3017520" cy="2468880"/>
          </a:xfrm>
          <a:prstGeom prst="rect">
            <a:avLst/>
          </a:prstGeom>
          <a:noFill/>
          <a:ln/>
        </p:spPr>
        <p:txBody>
          <a:bodyPr wrap="square" lIns="0" tIns="0" rIns="0" bIns="0" rtlCol="0" anchor="t"/>
          <a:lstStyle/>
          <a:p>
            <a:pPr algn="l" indent="0" marL="0">
              <a:buNone/>
            </a:pPr>
            <a:r>
              <a:rPr lang="en-US" sz="1500" dirty="0">
                <a:solidFill>
                  <a:srgbClr val="52616A"/>
                </a:solidFill>
                <a:latin typeface="Arial" pitchFamily="34" charset="0"/>
                <a:ea typeface="Arial" pitchFamily="34" charset="-122"/>
                <a:cs typeface="Arial" pitchFamily="34" charset="-120"/>
              </a:rPr>
              <a:t>11 January 2017, Exhibit 2</a:t>
            </a:r>
            <a:endParaRPr lang="en-US" sz="1500" dirty="0"/>
          </a:p>
          <a:p>
            <a:pPr algn="l" indent="0" marL="0">
              <a:buNone/>
            </a:pPr>
            <a:r>
              <a:rPr lang="en-US" sz="1500" dirty="0">
                <a:solidFill>
                  <a:srgbClr val="52616A"/>
                </a:solidFill>
                <a:latin typeface="Arial" pitchFamily="34" charset="0"/>
                <a:ea typeface="Arial" pitchFamily="34" charset="-122"/>
                <a:cs typeface="Arial" pitchFamily="34" charset="-120"/>
              </a:rPr>
              <a:t>¶¶ 30, 33–36, 50–55, 58, 62–64, 72</a:t>
            </a:r>
            <a:endParaRPr lang="en-US" sz="1500" dirty="0"/>
          </a:p>
          <a:p>
            <a:pPr algn="l" indent="0" marL="0">
              <a:buNone/>
            </a:pPr>
            <a:r>
              <a:rPr lang="en-US" sz="1500" dirty="0">
                <a:solidFill>
                  <a:srgbClr val="52616A"/>
                </a:solidFill>
                <a:latin typeface="Arial" pitchFamily="34" charset="0"/>
                <a:ea typeface="Arial" pitchFamily="34" charset="-122"/>
                <a:cs typeface="Arial" pitchFamily="34" charset="-120"/>
              </a:rPr>
              <a:t>Penalties: p. 13</a:t>
            </a:r>
            <a:endParaRPr lang="en-US" sz="1500" dirty="0"/>
          </a:p>
        </p:txBody>
      </p:sp>
      <p:sp>
        <p:nvSpPr>
          <p:cNvPr id="15" name="Text 13"/>
          <p:cNvSpPr txBox="1"/>
          <p:nvPr/>
        </p:nvSpPr>
        <p:spPr>
          <a:xfrm>
            <a:off x="548640" y="6236208"/>
            <a:ext cx="10515600" cy="457200"/>
          </a:xfrm>
          <a:prstGeom prst="rect">
            <a:avLst/>
          </a:prstGeom>
          <a:noFill/>
          <a:ln/>
        </p:spPr>
        <p:txBody>
          <a:bodyPr wrap="square" lIns="0" tIns="0" rIns="0" bIns="0" rtlCol="0" anchor="t"/>
          <a:lstStyle/>
          <a:p>
            <a:pPr algn="l" indent="0" marL="0">
              <a:buNone/>
            </a:pPr>
            <a:r>
              <a:rPr lang="en-US" sz="1100" dirty="0">
                <a:solidFill>
                  <a:srgbClr val="52616A"/>
                </a:solidFill>
                <a:latin typeface="Arial" pitchFamily="34" charset="0"/>
                <a:ea typeface="Arial" pitchFamily="34" charset="-122"/>
                <a:cs typeface="Arial" pitchFamily="34" charset="-120"/>
              </a:rPr>
              <a:t>Complete source details and links are also in the accompanying claim register.</a:t>
            </a:r>
            <a:endParaRPr lang="en-US" sz="1100" dirty="0"/>
          </a:p>
        </p:txBody>
      </p:sp>
      <p:sp>
        <p:nvSpPr>
          <p:cNvPr id="16" name="Text 14"/>
          <p:cNvSpPr txBox="1"/>
          <p:nvPr/>
        </p:nvSpPr>
        <p:spPr>
          <a:xfrm>
            <a:off x="11155680" y="6236208"/>
            <a:ext cx="502920" cy="274320"/>
          </a:xfrm>
          <a:prstGeom prst="rect">
            <a:avLst/>
          </a:prstGeom>
          <a:noFill/>
          <a:ln/>
        </p:spPr>
        <p:txBody>
          <a:bodyPr wrap="square" lIns="0" tIns="0" rIns="0" bIns="0" rtlCol="0" anchor="t"/>
          <a:lstStyle/>
          <a:p>
            <a:pPr algn="r" indent="0" marL="0">
              <a:buNone/>
            </a:pPr>
            <a:r>
              <a:rPr lang="en-US" sz="1100" dirty="0">
                <a:solidFill>
                  <a:srgbClr val="52616A"/>
                </a:solidFill>
                <a:latin typeface="Arial" pitchFamily="34" charset="0"/>
                <a:ea typeface="Arial" pitchFamily="34" charset="-122"/>
                <a:cs typeface="Arial" pitchFamily="34" charset="-120"/>
              </a:rPr>
              <a:t>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independent data exposed the manipulation</dc:title>
  <dc:subject>PptxGenJS Presentation</dc:subject>
  <dc:creator>Team 5</dc:creator>
  <cp:lastModifiedBy>Team 5</cp:lastModifiedBy>
  <cp:revision>1</cp:revision>
  <dcterms:created xsi:type="dcterms:W3CDTF">2026-09-28T13:49:53Z</dcterms:created>
  <dcterms:modified xsi:type="dcterms:W3CDTF">2026-09-28T13:49:53Z</dcterms:modified>
</cp:coreProperties>
</file>