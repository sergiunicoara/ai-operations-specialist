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Vehicle A (lean-NOx trap)</c:v>
                </c:pt>
              </c:strCache>
            </c:strRef>
          </c:tx>
          <c:spPr>
            <a:solidFill>
              <a:srgbClr val="2864B4"/>
            </a:solidFill>
            <a:effectLst/>
          </c:spPr>
          <c:invertIfNegative val="0"/>
          <c:dLbls>
            <c:dLbl>
              <c:idx val="0"/>
              <c:numFmt formatCode="0.000" sourceLinked="0"/>
              <c:spPr>
                <a:noFill/>
                <a:ln>
                  <a:noFill/>
                </a:ln>
              </c:spPr>
              <c:txPr>
                <a:bodyPr/>
                <a:lstStyle/>
                <a:p>
                  <a:pPr>
                    <a:defRPr sz="1200" b="1">
                      <a:solidFill>
                        <a:srgbClr val="132C3B"/>
                      </a:solidFill>
                      <a:latin typeface="Arial"/>
                    </a:defRPr>
                  </a:pPr>
                  <a:endParaRPr lang="en-US"/>
                </a:p>
              </c:txPr>
              <c:dLblPos val="outEnd"/>
              <c:showLegendKey val="0"/>
              <c:showVal val="1"/>
              <c:showCatName val="0"/>
              <c:showSerName val="0"/>
              <c:showPercent val="0"/>
              <c:showBubbleSize val="0"/>
            </c:dLbl>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errBars>
            <c:errBarType val="both"/>
            <c:errValType val="cust"/>
            <c:noEndCap val="0"/>
            <c:plus>
              <c:numLit>
                <c:formatCode>0.000</c:formatCode>
                <c:ptCount val="6"/>
                <c:pt idx="0">
                  <c:v>0.006</c:v>
                </c:pt>
                <c:pt idx="1">
                  <c:v>0.283</c:v>
                </c:pt>
                <c:pt idx="2">
                  <c:v>0.114</c:v>
                </c:pt>
                <c:pt idx="3">
                  <c:v>0.181</c:v>
                </c:pt>
                <c:pt idx="4">
                  <c:v>0.335</c:v>
                </c:pt>
              </c:numLit>
            </c:plus>
            <c:minus>
              <c:numLit>
                <c:formatCode>0.000</c:formatCode>
                <c:ptCount val="6"/>
                <c:pt idx="0">
                  <c:v>0.006</c:v>
                </c:pt>
                <c:pt idx="1">
                  <c:v>0.283</c:v>
                </c:pt>
                <c:pt idx="2">
                  <c:v>0.114</c:v>
                </c:pt>
                <c:pt idx="3">
                  <c:v>0.181</c:v>
                </c:pt>
                <c:pt idx="4">
                  <c:v>0.335</c:v>
                </c:pt>
              </c:numLit>
            </c:minus>
            <c:spPr>
              <a:ln w="12700">
                <a:solidFill>
                  <a:srgbClr val="52616A"/>
                </a:solidFill>
              </a:ln>
            </c:spPr>
          </c:errBars>
          <c:cat>
            <c:multiLvlStrRef>
              <c:f>Sheet1!$A$2:$A$7</c:f>
              <c:multiLvlStrCache>
                <c:ptCount val="6"/>
                <c:lvl>
                  <c:pt idx="0">
                    <c:v>Study lab
FTP-75</c:v>
                  </c:pt>
                  <c:pt idx="1">
                    <c:v>R1
Highway</c:v>
                  </c:pt>
                  <c:pt idx="2">
                    <c:v>R2
Los Angeles</c:v>
                  </c:pt>
                  <c:pt idx="3">
                    <c:v>R3
Rural hills</c:v>
                  </c:pt>
                  <c:pt idx="4">
                    <c:v>R4
San Diego</c:v>
                  </c:pt>
                  <c:pt idx="5">
                    <c:v>R5
San Francisco</c:v>
                  </c:pt>
                </c:lvl>
              </c:multiLvlStrCache>
            </c:multiLvlStrRef>
          </c:cat>
          <c:val>
            <c:numRef>
              <c:f>Sheet1!$B$2:$B$7</c:f>
              <c:numCache>
                <c:formatCode>General</c:formatCode>
                <c:ptCount val="6"/>
                <c:pt idx="0">
                  <c:v>0.022</c:v>
                </c:pt>
                <c:pt idx="1">
                  <c:v>0.614</c:v>
                </c:pt>
                <c:pt idx="2">
                  <c:v>0.989</c:v>
                </c:pt>
                <c:pt idx="3">
                  <c:v>1.505</c:v>
                </c:pt>
                <c:pt idx="4">
                  <c:v>1.48</c:v>
                </c:pt>
              </c:numCache>
            </c:numRef>
          </c:val>
        </c:ser>
        <c:ser>
          <c:idx val="1"/>
          <c:order val="1"/>
          <c:tx>
            <c:strRef>
              <c:f>Sheet1!$C$1</c:f>
              <c:strCache>
                <c:ptCount val="1"/>
                <c:pt idx="0">
                  <c:v>Vehicle B (urea-SCR)</c:v>
                </c:pt>
              </c:strCache>
            </c:strRef>
          </c:tx>
          <c:spPr>
            <a:solidFill>
              <a:srgbClr val="C35724"/>
            </a:solidFill>
            <a:effectLst/>
          </c:spPr>
          <c:invertIfNegative val="0"/>
          <c:dLbls>
            <c:dLbl>
              <c:idx val="0"/>
              <c:numFmt formatCode="0.000" sourceLinked="0"/>
              <c:spPr>
                <a:noFill/>
                <a:ln>
                  <a:noFill/>
                </a:ln>
              </c:spPr>
              <c:txPr>
                <a:bodyPr/>
                <a:lstStyle/>
                <a:p>
                  <a:pPr>
                    <a:defRPr sz="1200" b="1">
                      <a:solidFill>
                        <a:srgbClr val="132C3B"/>
                      </a:solidFill>
                      <a:latin typeface="Arial"/>
                    </a:defRPr>
                  </a:pPr>
                  <a:endParaRPr lang="en-US"/>
                </a:p>
              </c:txPr>
              <c:dLblPos val="outEnd"/>
              <c:showLegendKey val="0"/>
              <c:showVal val="1"/>
              <c:showCatName val="0"/>
              <c:showSerName val="0"/>
              <c:showPercent val="0"/>
              <c:showBubbleSize val="0"/>
            </c:dLbl>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errBars>
            <c:errBarType val="both"/>
            <c:errValType val="cust"/>
            <c:noEndCap val="0"/>
            <c:plus>
              <c:numLit>
                <c:formatCode>0.000</c:formatCode>
                <c:ptCount val="6"/>
                <c:pt idx="0">
                  <c:v>0.002</c:v>
                </c:pt>
                <c:pt idx="1">
                  <c:v>0.096</c:v>
                </c:pt>
                <c:pt idx="2">
                  <c:v>0.075</c:v>
                </c:pt>
                <c:pt idx="3">
                  <c:v>0.016</c:v>
                </c:pt>
                <c:pt idx="4">
                  <c:v>0.057</c:v>
                </c:pt>
              </c:numLit>
            </c:plus>
            <c:minus>
              <c:numLit>
                <c:formatCode>0.000</c:formatCode>
                <c:ptCount val="6"/>
                <c:pt idx="0">
                  <c:v>0.002</c:v>
                </c:pt>
                <c:pt idx="1">
                  <c:v>0.096</c:v>
                </c:pt>
                <c:pt idx="2">
                  <c:v>0.075</c:v>
                </c:pt>
                <c:pt idx="3">
                  <c:v>0.016</c:v>
                </c:pt>
                <c:pt idx="4">
                  <c:v>0.057</c:v>
                </c:pt>
              </c:numLit>
            </c:minus>
            <c:spPr>
              <a:ln w="12700">
                <a:solidFill>
                  <a:srgbClr val="52616A"/>
                </a:solidFill>
              </a:ln>
            </c:spPr>
          </c:errBars>
          <c:cat>
            <c:multiLvlStrRef>
              <c:f>Sheet1!$A$2:$A$7</c:f>
              <c:multiLvlStrCache>
                <c:ptCount val="6"/>
                <c:lvl>
                  <c:pt idx="0">
                    <c:v>Study lab
FTP-75</c:v>
                  </c:pt>
                  <c:pt idx="1">
                    <c:v>R1
Highway</c:v>
                  </c:pt>
                  <c:pt idx="2">
                    <c:v>R2
Los Angeles</c:v>
                  </c:pt>
                  <c:pt idx="3">
                    <c:v>R3
Rural hills</c:v>
                  </c:pt>
                  <c:pt idx="4">
                    <c:v>R4
San Diego</c:v>
                  </c:pt>
                  <c:pt idx="5">
                    <c:v>R5
San Francisco</c:v>
                  </c:pt>
                </c:lvl>
              </c:multiLvlStrCache>
            </c:multiLvlStrRef>
          </c:cat>
          <c:val>
            <c:numRef>
              <c:f>Sheet1!$C$2:$C$7</c:f>
              <c:numCache>
                <c:formatCode>General</c:formatCode>
                <c:ptCount val="6"/>
                <c:pt idx="0">
                  <c:v>0.016</c:v>
                </c:pt>
                <c:pt idx="1">
                  <c:v>0.344</c:v>
                </c:pt>
                <c:pt idx="2">
                  <c:v>0.809</c:v>
                </c:pt>
                <c:pt idx="3">
                  <c:v>0.671</c:v>
                </c:pt>
                <c:pt idx="4">
                  <c:v>0.675</c:v>
                </c:pt>
                <c:pt idx="5">
                  <c:v>0.815</c:v>
                </c:pt>
              </c:numCache>
            </c:numRef>
          </c:val>
        </c:ser>
        <c:ser>
          <c:idx val="2"/>
          <c:order val="2"/>
          <c:tx>
            <c:strRef>
              <c:f>Sheet1!$D$1</c:f>
              <c:strCache>
                <c:ptCount val="1"/>
                <c:pt idx="0">
                  <c:v>Vehicle C (urea-SCR)</c:v>
                </c:pt>
              </c:strCache>
            </c:strRef>
          </c:tx>
          <c:spPr>
            <a:solidFill>
              <a:srgbClr val="00877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errBars>
            <c:errBarType val="both"/>
            <c:errValType val="cust"/>
            <c:noEndCap val="0"/>
            <c:plus>
              <c:numLit>
                <c:formatCode>0.000</c:formatCode>
                <c:ptCount val="6"/>
                <c:pt idx="2">
                  <c:v>0.041</c:v>
                </c:pt>
                <c:pt idx="3">
                  <c:v>0.029</c:v>
                </c:pt>
                <c:pt idx="5">
                  <c:v>0.021</c:v>
                </c:pt>
              </c:numLit>
            </c:plus>
            <c:minus>
              <c:numLit>
                <c:formatCode>0.000</c:formatCode>
                <c:ptCount val="6"/>
                <c:pt idx="2">
                  <c:v>0.041</c:v>
                </c:pt>
                <c:pt idx="3">
                  <c:v>0.029</c:v>
                </c:pt>
                <c:pt idx="5">
                  <c:v>0.021</c:v>
                </c:pt>
              </c:numLit>
            </c:minus>
            <c:spPr>
              <a:ln w="12700">
                <a:solidFill>
                  <a:srgbClr val="52616A"/>
                </a:solidFill>
              </a:ln>
            </c:spPr>
          </c:errBars>
          <c:cat>
            <c:multiLvlStrRef>
              <c:f>Sheet1!$A$2:$A$7</c:f>
              <c:multiLvlStrCache>
                <c:ptCount val="6"/>
                <c:lvl>
                  <c:pt idx="0">
                    <c:v>Study lab
FTP-75</c:v>
                  </c:pt>
                  <c:pt idx="1">
                    <c:v>R1
Highway</c:v>
                  </c:pt>
                  <c:pt idx="2">
                    <c:v>R2
Los Angeles</c:v>
                  </c:pt>
                  <c:pt idx="3">
                    <c:v>R3
Rural hills</c:v>
                  </c:pt>
                  <c:pt idx="4">
                    <c:v>R4
San Diego</c:v>
                  </c:pt>
                  <c:pt idx="5">
                    <c:v>R5
San Francisco</c:v>
                  </c:pt>
                </c:lvl>
              </c:multiLvlStrCache>
            </c:multiLvlStrRef>
          </c:cat>
          <c:val>
            <c:numRef>
              <c:f>Sheet1!$D$2:$D$7</c:f>
              <c:numCache>
                <c:formatCode>General</c:formatCode>
                <c:ptCount val="6"/>
                <c:pt idx="1">
                  <c:v>0.048</c:v>
                </c:pt>
                <c:pt idx="2">
                  <c:v>0.07</c:v>
                </c:pt>
                <c:pt idx="3">
                  <c:v>0.409</c:v>
                </c:pt>
                <c:pt idx="5">
                  <c:v>0.053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0"/>
        <c:axId val="2094734554"/>
        <c:axId val="2094734552"/>
        <c:axId val="2094734556"/>
      </c:barChart>
      <c:lineChart>
        <c:varyColors val="0"/>
        <c:ser>
          <c:idx val="3"/>
          <c:order val="3"/>
          <c:tx>
            <c:strRef>
              <c:f>Sheet1!$E$1</c:f>
              <c:strCache>
                <c:ptCount val="1"/>
                <c:pt idx="0">
                  <c:v>Tier 2 Bin 5 standard, 0.043 g/km</c:v>
                </c:pt>
              </c:strCache>
            </c:strRef>
          </c:tx>
          <c:spPr>
            <a:solidFill>
              <a:srgbClr val="B6293E"/>
            </a:solidFill>
            <a:ln w="25400" cap="flat">
              <a:solidFill>
                <a:srgbClr val="B6293E"/>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6293E"/>
              </a:solidFill>
              <a:ln w="9525" cap="flat">
                <a:solidFill>
                  <a:srgbClr val="B6293E"/>
                </a:solidFill>
                <a:prstDash val="solid"/>
                <a:round/>
              </a:ln>
              <a:effectLst/>
            </c:spPr>
          </c:marker>
          <c:cat>
            <c:multiLvlStrRef>
              <c:f>Sheet1!$A$2:$A$7</c:f>
              <c:multiLvlStrCache>
                <c:ptCount val="6"/>
                <c:lvl>
                  <c:pt idx="0">
                    <c:v>Study lab
FTP-75</c:v>
                  </c:pt>
                  <c:pt idx="1">
                    <c:v>R1
Highway</c:v>
                  </c:pt>
                  <c:pt idx="2">
                    <c:v>R2
Los Angeles</c:v>
                  </c:pt>
                  <c:pt idx="3">
                    <c:v>R3
Rural hills</c:v>
                  </c:pt>
                  <c:pt idx="4">
                    <c:v>R4
San Diego</c:v>
                  </c:pt>
                  <c:pt idx="5">
                    <c:v>R5
San Francisco</c:v>
                  </c:pt>
                </c:lvl>
              </c:multiLvlStrCache>
            </c:multiLvlStrRef>
          </c:cat>
          <c:val>
            <c:numRef>
              <c:f>Sheet1!$E$2:$E$7</c:f>
              <c:numCache>
                <c:formatCode>General</c:formatCode>
                <c:ptCount val="6"/>
                <c:pt idx="0">
                  <c:v>0.043</c:v>
                </c:pt>
                <c:pt idx="1">
                  <c:v>0.043</c:v>
                </c:pt>
                <c:pt idx="2">
                  <c:v>0.043</c:v>
                </c:pt>
                <c:pt idx="3">
                  <c:v>0.043</c:v>
                </c:pt>
                <c:pt idx="4">
                  <c:v>0.043</c:v>
                </c:pt>
                <c:pt idx="5">
                  <c:v>0.043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A2AAAD"/>
            </a:solidFill>
            <a:prstDash val="solid"/>
            <a:round/>
          </a:ln>
        </c:spPr>
        <c:txPr>
          <a:bodyPr/>
          <a:lstStyle/>
          <a:p>
            <a:pPr>
              <a:defRPr sz="1300" b="0" i="0" u="none" strike="noStrike">
                <a:solidFill>
                  <a:srgbClr val="132C3B"/>
                </a:solidFill>
                <a:latin typeface="Arial"/>
              </a:defRPr>
            </a:pPr>
            <a:endParaRPr lang="en-US"/>
          </a:p>
        </c:txPr>
        <c:crossAx val="2094734552"/>
        <c:crosses val="autoZero"/>
        <c:auto val="1"/>
        <c:lblAlgn val="ctr"/>
        <c:noMultiLvlLbl val="1"/>
      </c:catAx>
      <c:valAx>
        <c:axId val="2094734552"/>
        <c:scaling>
          <c:orientation val="minMax"/>
          <c:max val="2"/>
          <c:min val="0"/>
        </c:scaling>
        <c:delete val="0"/>
        <c:axPos val="l"/>
        <c:majorGridlines>
          <c:spPr>
            <a:ln w="6350" cap="flat">
              <a:solidFill>
                <a:srgbClr val="D9DEDF"/>
              </a:solidFill>
              <a:prstDash val="solid"/>
              <a:round/>
            </a:ln>
          </c:spPr>
        </c:majorGridlines>
        <c:title>
          <c:tx>
            <c:rich>
              <a:bodyPr/>
              <a:lstStyle/>
              <a:p>
                <a:pPr>
                  <a:defRPr sz="1400" b="0" i="0" u="none" strike="noStrike">
                    <a:solidFill>
                      <a:srgbClr val="132C3B"/>
                    </a:solidFill>
                    <a:latin typeface="Arial"/>
                  </a:defRPr>
                </a:pPr>
                <a:r>
                  <a:rPr sz="1400" b="0" i="0" u="none" strike="noStrike">
                    <a:solidFill>
                      <a:srgbClr val="132C3B"/>
                    </a:solidFill>
                    <a:latin typeface="Arial"/>
                  </a:rPr>
                  <a:t>Mean NOx (g/km)</a:t>
                </a:r>
              </a:p>
            </c:rich>
          </c:tx>
          <c:layout/>
          <c:overlay val="0"/>
        </c:title>
        <c:numFmt formatCode="0.0" sourceLinked="0"/>
        <c:majorTickMark val="out"/>
        <c:minorTickMark val="none"/>
        <c:tickLblPos val="nextTo"/>
        <c:spPr>
          <a:ln w="12700" cap="flat">
            <a:noFill/>
            <a:prstDash val="solid"/>
            <a:round/>
          </a:ln>
        </c:spPr>
        <c:txPr>
          <a:bodyPr/>
          <a:lstStyle/>
          <a:p>
            <a:pPr>
              <a:defRPr sz="1300" b="0" i="0" u="none" strike="noStrike">
                <a:solidFill>
                  <a:srgbClr val="52616A"/>
                </a:solidFill>
                <a:latin typeface="Arial"/>
              </a:defRPr>
            </a:pPr>
            <a:endParaRPr lang="en-US"/>
          </a:p>
        </c:txPr>
        <c:crossAx val="2094734554"/>
        <c:crosses val="autoZero"/>
        <c:crossBetween val="between"/>
        <c:majorUnit val="0.5"/>
      </c:valAx>
      <c:spPr>
        <a:noFill/>
        <a:ln>
          <a:noFill/>
        </a:ln>
        <a:effectLst/>
      </c:spPr>
    </c:plotArea>
    <c:legend>
      <c:legendPos val="t"/>
      <c:overlay val="0"/>
      <c:txPr>
        <a:bodyPr/>
        <a:lstStyle/>
        <a:p>
          <a:pPr>
            <a:defRPr sz="1400">
              <a:solidFill>
                <a:srgbClr val="132C3B"/>
              </a:solidFill>
              <a:latin typeface="Arial"/>
              <a:cs typeface="Arial"/>
            </a:defRPr>
          </a:pPr>
          <a:endParaRPr lang="en-US"/>
        </a:p>
      </c:txPr>
    </c:legend>
    <c:plotVisOnly val="1"/>
    <c:dispBlanksAs val="gap"/>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Planned time: 60 seconds.
Volkswagen sold diesel cars in the United States as clean and compliant. Our question is when that stopped being flattering presentation and became manipulation of the data itself.
We will answer three questions: what Volkswagen did to the test, what it was trying to achieve, and who paid the price. Along the way we will show exactly what was measured, how a correct laboratory number became misleading, and how independent road testing exposed it.
Our central source is a 2014 university report. The EPA’s 2015 notice and Volkswagen’s 2017 admitted statement of facts answer questions that this small study could not. I will keep those sources separate, so that no number carries more meaning than its evidence supports.
SOURCE (not spoken): WVU/ICCT, In-Use Emissions Testing of Light-Duty Diesel Vehicles in the U.S., 15 May 2014; EPA, Notice of Violation CAA-09-18-15, 18 September 2015; United States v. Volkswagen AG, Plea Agreement, 11 January 2017, Exhibit 2 (Statement of Facts), ¶ 30.
WVU: https://theicct.org/wp-content/uploads/2021/06/WVU_LDDV_in-use_ICCT_Report_Final_may2014.pdf
EPA: https://www.epa.gov/sites/default/files/2015-10/documents/vw-nov-caa-09-18-15.pdf
DOJ: https://www.justice.gov/archives/opa/press-release/file/924436/dl?inline=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Planned time: 70 seconds.
NOx means nitrogen oxides, a group of air pollutants produced during combustion. Grams per kilometre is a mass-per-distance unit: it tells us how much NOx leaves the exhaust for each kilometre travelled. The benchmark in the original report is the U.S. Tier 2 Bin 5 NOx standard, 0.043 grams per kilometre at full useful life. Full useful life is the regulatory durability period. It does not mean the researchers followed each car for its entire lifetime.
The later admitted facts describe clean-diesel marketing and a strategy to sell vehicles in the U.S. The measurement mattered because buyers and regulators needed to know whether the claimed emissions performance held beyond the conditions used to obtain approval. The study therefore asked a practical question: what did these vehicles emit when researchers took the instruments onto the road?
SOURCE (not spoken): WVU/ICCT, In-Use Emissions Testing of Light-Duty Diesel Vehicles in the U.S., 15 May 2014, Table 2.2 p. 5 (0.07 g/mi), Table 4.1 p. 59 (0.043 g/km); United States v. Volkswagen AG, Plea Agreement, 11 January 2017, Exhibit 2 (Statement of Facts), ¶¶ 28–30, 32 (Exh. 2 pp. 10–12).
WVU: https://theicct.org/wp-content/uploads/2021/06/WVU_LDDV_in-use_ICCT_Report_Final_may2014.pdf
EPA: https://www.epa.gov/sites/default/files/2015-10/documents/vw-nov-caa-09-18-15.pdf
DOJ: https://www.justice.gov/archives/opa/press-release/file/924436/dl?inline=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Planned time: 75 seconds.
A chassis dynamometer is a set of rollers that lets a car run through a driving sequence while staying inside a laboratory. FTP-75 is the standardised U.S. driving sequence used for the laboratory averages shown later. The road measurement used PEMS, a portable emissions measurement system. The equipment travelled with the car and measured exhaust gases and flow, alongside information about the journey. Combining pollutant mass with distance gives grams per kilometre.
Road conditions vary. An uphill stretch can increase engine load. Traffic changes acceleration and stopping. Those differences are legitimate reasons to expect some variation between laboratory and road measurements. A gap therefore needs explanation, rather than an immediate accusation.
There are two comparisons to keep separate. Comparing a road average with 0.043 asks how it relates to the standard. Comparing it with that same vehicle’s laboratory average asks how much the measured behaviour changed between conditions. The denominators differ, so the ratios differ too.
SOURCE (not spoken): WVU/ICCT, In-Use Emissions Testing of Light-Duty Diesel Vehicles in the U.S., 15 May 2014, pp. 9, 39–55, 59, 64.
WVU: https://theicct.org/wp-content/uploads/2021/06/WVU_LDDV_in-use_ICCT_Report_Final_may2014.pdf
EPA: https://www.epa.gov/sites/default/files/2015-10/documents/vw-nov-caa-09-18-15.pdf
DOJ: https://www.justice.gov/archives/opa/press-release/file/924436/dl?inline=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Planned time: 75 seconds.
West Virginia University performed the study for the International Council on Clean Transportation; the final report is dated May 15, 2014. The report anonymised the cars as A, B and C. The EPA later identified the two high emitters as a 2012 Volkswagen Jetta and a 2013 Volkswagen Passat, but not which letter is which, so I keep the report’s labels.
Vehicle A used a lean-NOx trap, which stores nitrogen oxides and periodically treats them. B and C used urea-based selective catalytic reduction, or SCR, which uses a reagent and a catalyst. All three were road-tested; only A and B were also tested in the laboratory. The five California routes covered highway, city and rural hill driving, with some vehicle-route combinations missing.
These are three individual vehicles, not a random sample. The report explicitly restricts its conclusions to them. Repeated runs help assess consistency within these cases; they do not turn three cars into a fleet estimate.
SOURCE (not spoken): WVU/ICCT, In-Use Emissions Testing of Light-Duty Diesel Vehicles in the U.S., 15 May 2014, p. iv; pp. 1, 9–10; Table 3.15 p. 57. EPA, Notice of Violation CAA-09-18-15, 18 September 2015, p. 4 (2012 Jetta, 2013 Passat).
WVU: https://theicct.org/wp-content/uploads/2021/06/WVU_LDDV_in-use_ICCT_Report_Final_may2014.pdf
EPA: https://www.epa.gov/sites/default/files/2015-10/documents/vw-nov-caa-09-18-15.pdf
DOJ: https://www.justice.gov/archives/opa/press-release/file/924436/dl?inline=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Planned time: 95 seconds.
Here is the evidence chart, using the original report’s numbers. The vertical axis is linear and starts at zero. The colours identify Vehicles A, B and C. The red dashed line is 0.043 grams per kilometre, the reference standard.
The left group contains laboratory FTP-75 averages: 0.022 for A and 0.016 for B. There is no laboratory result for C. The remaining groups are the five road routes. An absent bar means no result for that vehicle and route.
Vehicle A’s highway mean is 0.614. Its rural hill mean rises to 1.505, and its San Diego mean is 1.480. B ranges from 0.344 to 0.815 across these five routes. C’s means are much lower on most routes, but its rural hill mean reaches 0.409.
Each bar is an average, not a peak. For example, Vehicle A’s two San Diego runs were 1.24 and 1.72 grams per kilometre; the bar shows their mean, 1.480. The thin error bars are the standard deviations the researchers published. Single runs have no reported deviation. The pattern is large, vehicle-specific and sensitive to route conditions.
SOURCE (not spoken): WVU/ICCT, In-Use Emissions Testing of Light-Duty Diesel Vehicles in the U.S., 15 May 2014, Table 4.3 p. 65; p. 64; Table 4.1 p. 59.
WVU: https://theicct.org/wp-content/uploads/2021/06/WVU_LDDV_in-use_ICCT_Report_Final_may2014.pdf
EPA: https://www.epa.gov/sites/default/files/2015-10/documents/vw-nov-caa-09-18-15.pdf
DOJ: https://www.justice.gov/archives/opa/press-release/file/924436/dl?inline=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Planned time: 90 seconds.
Let us work through one number. For Vehicle A on the rural hill route, 1.505 divided by 0.043 is 35.0: the road mean relative to the standard. Divide the same 1.505 by A’s own laboratory average of 0.022 and you get about 68: a road-to-laboratory ratio. Same measurement, different denominator, different headline.
That laboratory average comes from only two tests, 0.022 plus or minus 0.006, so treat 68 as an order of magnitude. The laboratory figure also includes a cold start, while the road runs were warm; the report notes that cold starts usually raise NOx, so this does not inflate the road side.
The report summarises A at about 15 to 35 times the standard and B at about 5 to 20 times. In this five-route table the means give A 14 to 35 and B 8 to 19. Later documents use other figures: the plea agreement says up to about 40 times for the study vehicles, which matches A’s single highest run, 1.72 divided by 0.043. Always ask which number, divided by what.
SOURCE (not spoken): WVU/ICCT, In-Use Emissions Testing of Light-Duty Diesel Vehicles in the U.S., 15 May 2014, pp. ii–iii (cold start), 62–65; p. 64 (single runs). Plea Agreement, Exhibit 2, ¶ 52 (Exh. 2-21). Ratios are our calculations from published means.
WVU: https://theicct.org/wp-content/uploads/2021/06/WVU_LDDV_in-use_ICCT_Report_Final_may2014.pdf
EPA: https://www.epa.gov/sites/default/files/2015-10/documents/vw-nov-caa-09-18-15.pdf
DOJ: https://www.justice.gov/archives/opa/press-release/file/924436/dl?inline=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Planned time: 65 seconds.
Before blaming software, a skeptical analyst asks whether the measurement itself could explain the gap. The researchers checked the portable equipment against laboratory equipment on Vehicle B. The agreement was not perfect: Table 3.13 shows an 18.8 percent NOx difference on the weighted FTP-75. But an 18.8 percent method difference cannot produce a 15- or 35-fold gap. It is a scale comparison, not a correction factor.
The researchers also considered operating explanations: diesel-filter regeneration, the periodic burning-off of trapped soot, as well as control strategy, catalyst sizing and urea dosing. Road load and traffic matter too.
Finally, the dataset is small: missing vehicle-route combinations, few repeats, and a repeat-count inconsistency for C’s rural route between the report’s test matrix and its results table. The right conclusion is a serious anomaly that demands follow-up, not a fleet-wide estimate and not yet proof of intent.
SOURCE (not spoken): WVU/ICCT, In-Use Emissions Testing of Light-Duty Diesel Vehicles in the U.S., 15 May 2014, §3.3.3.3 p. 50 and Table 3.13 p. 55; Table 3.15 p. 57; pp. 62–64; Table 4.3 p. 65; p. iv.
WVU: https://theicct.org/wp-content/uploads/2021/06/WVU_LDDV_in-use_ICCT_Report_Final_may2014.pdf
EPA: https://www.epa.gov/sites/default/files/2015-10/documents/vw-nov-caa-09-18-15.pdf
DOJ: https://www.justice.gov/archives/opa/press-release/file/924436/dl?inline=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Planned time: 75 seconds.
So what exactly did Volkswagen do to the test? The later investigation supplied the mechanism that the road study could not.
According to the EPA notice, software in the engine computer, which the EPA called the “switch”, read inputs such as steering-wheel position, vehicle speed, how long the engine had been running and barometric pressure. Those inputs track the official U.S. test procedure. When the switch recognised the test, the car ran a “dyno calibration” with full emissions control. The rest of the time it ran a “road calibration” that reduced the effectiveness of its exhaust treatment.
Volkswagen’s admitted facts say the software recognised the published drive cycles, and that in 2013 a supervisor approved adding steering-angle recognition, because a car on test rollers does not steer.
So Volkswagen did not falsify a spreadsheet. It made the measured object change its behaviour when measured. The laboratory reading could be accurate and still misrepresent ordinary driving.
SOURCE (not spoken): EPA, Notice of Violation CAA-09-18-15, 18 September 2015, pp. 3–4; United States v. Volkswagen AG, Plea Agreement, 11 January 2017, Exhibit 2 (Statement of Facts), ¶ 34 (Exh. 2 pp. 12–13), ¶¶ 49–51 (Exh. 2 pp. 19–20).
WVU: https://theicct.org/wp-content/uploads/2021/06/WVU_LDDV_in-use_ICCT_Report_Final_may2014.pdf
EPA: https://www.epa.gov/sites/default/files/2015-10/documents/vw-nov-caa-09-18-15.pdf
DOJ: https://www.justice.gov/archives/opa/press-release/file/924436/dl?inline=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Planned time: 85 seconds.
Where exactly was the line crossed? Not in 2014, when the numbers looked bad, and not in how anyone drew a chart.
According to Volkswagen’s admitted facts, around 2006 engineers concluded they could not build a diesel engine that met the stricter U.S. NOx standards and still attracted enough customers. Instead of changing the engine, they built software to detect and defeat the test. When staff objected, a senior supervisor decided to continue and told them, in substance, not to get caught. That is the line: deliberately engineering the product so that the official measurement would not represent normal use.
From 2009, about 585,000 U.S. vehicles were sold with defeat software. In 2013 it was refined with steering-angle recognition. After the 2014 study, Volkswagen gave regulators false explanations, such as driving patterns and technical issues, and a recall that the EPA says brought only limited benefit. On 3 September 2015, with its 2016 models awaiting certification, Volkswagen admitted the defeat device. The EPA notice followed on 18 September.
Every step after 2006 was concealment of a decision already made.
SOURCE (not spoken): United States v. Volkswagen AG, Plea Agreement, 11 January 2017, Exhibit 2 (Statement of Facts), ¶¶ 33–36 (Exh. 2 pp. 12–14), 49–58 (pp. 19–23), 59, 63–64 (pp. 23–25), 72 (p. 27). EPA, Notice of Violation CAA-09-18-15, 18 September 2015, pp. 1, 4.
WVU: https://theicct.org/wp-content/uploads/2021/06/WVU_LDDV_in-use_ICCT_Report_Final_may2014.pdf
EPA: https://www.epa.gov/sites/default/files/2015-10/documents/vw-nov-caa-09-18-15.pdf
DOJ: https://www.justice.gov/archives/opa/press-release/file/924436/dl?inline=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Planned time: 75 seconds.
What was Volkswagen trying to achieve? Its admitted facts give the motive. Selling diesel cars in the United States was an important strategic goal, and engineers could not meet the stricter NOx standards while still attracting enough customers. The software let the cars pass certification without that trade-off. Later, concealment aimed to keep approval for the 2016 models.
Who paid the price? Volkswagen AG pleaded guilty to three felonies: a criminal fine of 2.8 billion dollars and 1.5 billion dollars in civil penalties, plus three years of probation under an independent monitor. The plea also credits 11 billion dollars already committed to owner settlements and a NOx remediation trust.
Owners bought about 585,000 cars marketed as clean diesel that did not meet the standard they were sold on. People near those cars were exposed to extra NOx; none of our sources quantify that health cost, so I will not put a number on it. And regulators spent more than a year receiving false explanations.
SOURCE (not spoken): United States v. Volkswagen AG, Plea Agreement, 11 January 2017: offences p. 1; monitor p. 12; civil penalties, $11B credit and $2.8B fine p. 13; probation p. 14. Exhibit 2 (Statement of Facts) ¶¶ 30–33 (Exh. 2 pp. 10–12), 54–55, 59, 61, 72 (p. 27).
WVU: https://theicct.org/wp-content/uploads/2021/06/WVU_LDDV_in-use_ICCT_Report_Final_may2014.pdf
EPA: https://www.epa.gov/sites/default/files/2015-10/documents/vw-nov-caa-09-18-15.pdf
DOJ: https://www.justice.gov/archives/opa/press-release/file/924436/dl?inline=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Planned time: 65 seconds.
Selective presentation means choosing favourable observations and omitting less favourable ones. It can mislead even when the individual numbers are correct. The documented Volkswagen conduct went further: the vehicle’s behaviour changed when the software recognised the test, and that mechanism was concealed.
The certification result could be an accurate reading of exhaust under the tested settings. The deception lay in making that conditional result stand for a vehicle whose emissions controls operated differently during ordinary use, while withholding the reason.
The broader analytics lesson is to distinguish data accuracy from the validity of the conclusion drawn from it. A number can be accurate, yet the process that generates it can make the intended comparison misleading. Independent testing helped expose that weakness, and the later investigation established why it existed.
SOURCE (not spoken): Analytical interpretation grounded in United States v. Volkswagen AG, Plea Agreement, 11 January 2017, Exhibit 2 (Statement of Facts), Exh. 2 ¶¶ 33–35, 54–55, 63; EPA, Notice of Violation CAA-09-18-15, 18 September 2015, p. 4.
WVU: https://theicct.org/wp-content/uploads/2021/06/WVU_LDDV_in-use_ICCT_Report_Final_may2014.pdf
EPA: https://www.epa.gov/sites/default/files/2015-10/documents/vw-nov-caa-09-18-15.pdf
DOJ: https://www.justice.gov/archives/opa/press-release/file/924436/dl?inline=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Planned time: 75 seconds.
A skeptical analyst would start with the meaning of the number. Is it grams per kilometre, a peak, an average, or a ratio? What is the denominator? Our example changed from 35 to 68 simply by changing the comparison.
Next comes coverage. Which vehicles ran which routes? Are missing tests visible? Do repeated measurements establish consistency, and what do they leave uncertain? The chart should expose these limitations instead of quietly replacing missing values with zero.
Then check independence. Validate the instrument, vary realistic operating conditions and investigate whether a system can recognise the standard test. If the gap persists, request an explanation that makes predictions which independent tests can challenge.
Finally, separate causation from the anomaly. Exhaust measurements can show a serious discrepancy. Software evidence, documented decisions and admissions answer the question of deliberate manipulation.
The conclusion is simple: independent road measurement made the hidden discrepancy visible. It justified further investigation. The later evidence established intent. Keeping those steps distinct gives us a stronger argument, and a more trustworthy way to evaluate the next impressive test result.
SOURCE (not spoken): Analytical recommendations based on WVU/ICCT, In-Use Emissions Testing of Light-Duty Diesel Vehicles in the U.S., 15 May 2014, pp. iv, 55, 57, 59, 64–65, and United States v. Volkswagen AG, Plea Agreement, 11 January 2017, Exhibit 2 (Statement of Facts), Exh. 2 ¶¶ 33–35, 54–55, 63.
WVU: https://theicct.org/wp-content/uploads/2021/06/WVU_LDDV_in-use_ICCT_Report_Final_may2014.pdf
EPA: https://www.epa.gov/sites/default/files/2015-10/documents/vw-nov-caa-09-18-15.pdf
DOJ: https://www.justice.gov/archives/opa/press-release/file/924436/dl?inline=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appendix; outside speaking time.
Optional Q&amp;A, outside the planned 15-minute talk.
Did the road tests prove cheating? No. They revealed an anomaly. The later regulatory investigation and admitted facts established the software mechanism and deliberate concealment.
Can three vehicles tell us about all diesels? No. The report explicitly limits its conclusions to the tested vehicles. Repeated routes improve understanding of those cases, not population coverage.
Why compare road emissions with a laboratory standard? It is a useful reference for scale, provided we state what it is. Each road route is not itself a certification test. A multiple of the standard is different from a direct road-to-laboratory ratio.
Why do the multiples differ between sources? Our chart shows route means, with a maximum of 35 times the standard. The plea agreement says the study vehicles reached up to about 40 times; A’s single San Diego run of 1.72 grams per kilometre is 40 times 0.043. The plea also says “sometimes 35 times” for the software generally, and the EPA notice says 10 to 40 times depending on the drive cycle. None of these is wrong; each has a different scope.
SOURCE (not spoken): WVU/ICCT, In-Use Emissions Testing of Light-Duty Diesel Vehicles in the U.S., 15 May 2014, p. iv, pp. 59, 64–65; EPA, Notice of Violation CAA-09-18-15, 18 September 2015, pp. 3–4; United States v. Volkswagen AG, Plea Agreement, 11 January 2017, Exhibit 2 (Statement of Facts), ¶ 34 (Exh. 2 p. 13), ¶ 52 (p. 21), ¶ 63.
WVU: https://theicct.org/wp-content/uploads/2021/06/WVU_LDDV_in-use_ICCT_Report_Final_may2014.pdf
EPA: https://www.epa.gov/sites/default/files/2015-10/documents/vw-nov-caa-09-18-15.pdf
DOJ: https://www.justice.gov/archives/opa/press-release/file/924436/dl?inline=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appendix; outside speaking time.
Reference appendix. These sources support different stages of the argument: measured anomaly, regulatory findings, and admitted conduct. WVU page numbers are the report’s printed page numbers (PDF viewer page = printed page + 16 from Chapter 1 on). Plea Exhibit 2 page 2-N is PDF page N + 42. Full URLs and the claim-to-source table are in sources_and_claims.md.
SOURCE (not spoken): Complete source details and links are also in the accompanying claim register.
WVU: https://theicct.org/wp-content/uploads/2021/06/WVU_LDDV_in-use_ICCT_Report_Final_may2014.pdf
EPA: https://www.epa.gov/sites/default/files/2015-10/documents/vw-nov-caa-09-18-15.pdf
DOJ: https://www.justice.gov/archives/opa/press-release/file/924436/dl?inline=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C3B"/>
        </a:solidFill>
      </p:bgPr>
    </p:bg>
    <p:spTree>
      <p:nvGrpSpPr>
        <p:cNvPr id="1" name=""/>
        <p:cNvGrpSpPr/>
        <p:nvPr/>
      </p:nvGrpSpPr>
      <p:grpSpPr>
        <a:xfrm>
          <a:off x="0" y="0"/>
          <a:ext cx="0" cy="0"/>
          <a:chOff x="0" y="0"/>
          <a:chExt cx="0" cy="0"/>
        </a:xfrm>
      </p:grpSpPr>
      <p:sp>
        <p:nvSpPr>
          <p:cNvPr id="2" name="Text 0"/>
          <p:cNvSpPr txBox="1"/>
          <p:nvPr/>
        </p:nvSpPr>
        <p:spPr>
          <a:xfrm>
            <a:off x="548640" y="1371600"/>
            <a:ext cx="11064240" cy="1737360"/>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Beyond clever presentation:</a:t>
            </a:r>
            <a:endParaRPr lang="en-US" sz="4000" dirty="0"/>
          </a:p>
          <a:p>
            <a:pPr algn="l" indent="0" marL="0">
              <a:buNone/>
            </a:pPr>
            <a:r>
              <a:rPr lang="en-US" sz="4000" b="1" dirty="0">
                <a:solidFill>
                  <a:srgbClr val="FFFFFF"/>
                </a:solidFill>
                <a:latin typeface="Arial" pitchFamily="34" charset="0"/>
                <a:ea typeface="Arial" pitchFamily="34" charset="-122"/>
                <a:cs typeface="Arial" pitchFamily="34" charset="-120"/>
              </a:rPr>
              <a:t>Volkswagen’s emissions test</a:t>
            </a:r>
            <a:endParaRPr lang="en-US" sz="4000" dirty="0"/>
          </a:p>
        </p:txBody>
      </p:sp>
      <p:sp>
        <p:nvSpPr>
          <p:cNvPr id="3" name="Text 1"/>
          <p:cNvSpPr txBox="1"/>
          <p:nvPr/>
        </p:nvSpPr>
        <p:spPr>
          <a:xfrm>
            <a:off x="548640" y="3429000"/>
            <a:ext cx="11064240" cy="502920"/>
          </a:xfrm>
          <a:prstGeom prst="rect">
            <a:avLst/>
          </a:prstGeom>
          <a:noFill/>
          <a:ln/>
        </p:spPr>
        <p:txBody>
          <a:bodyPr wrap="square" lIns="0" tIns="0" rIns="0" bIns="0" rtlCol="0" anchor="t"/>
          <a:lstStyle/>
          <a:p>
            <a:pPr algn="l" indent="0" marL="0">
              <a:buNone/>
            </a:pPr>
            <a:r>
              <a:rPr lang="en-US" sz="2000" b="1" dirty="0">
                <a:solidFill>
                  <a:srgbClr val="9CC3F5"/>
                </a:solidFill>
                <a:latin typeface="Arial" pitchFamily="34" charset="0"/>
                <a:ea typeface="Arial" pitchFamily="34" charset="-122"/>
                <a:cs typeface="Arial" pitchFamily="34" charset="-120"/>
              </a:rPr>
              <a:t>Team 5 · When did a company seriously manipulate its data?</a:t>
            </a:r>
            <a:endParaRPr lang="en-US" sz="2000" dirty="0"/>
          </a:p>
        </p:txBody>
      </p:sp>
      <p:sp>
        <p:nvSpPr>
          <p:cNvPr id="4" name="Text 2"/>
          <p:cNvSpPr txBox="1"/>
          <p:nvPr/>
        </p:nvSpPr>
        <p:spPr>
          <a:xfrm>
            <a:off x="548640" y="4069080"/>
            <a:ext cx="11064240" cy="822960"/>
          </a:xfrm>
          <a:prstGeom prst="rect">
            <a:avLst/>
          </a:prstGeom>
          <a:noFill/>
          <a:ln/>
        </p:spPr>
        <p:txBody>
          <a:bodyPr wrap="square" lIns="0" tIns="0" rIns="0" bIns="0" rtlCol="0" anchor="t"/>
          <a:lstStyle/>
          <a:p>
            <a:pPr algn="l" indent="0" marL="0">
              <a:buNone/>
            </a:pPr>
            <a:r>
              <a:rPr lang="en-US" sz="2200" dirty="0">
                <a:solidFill>
                  <a:srgbClr val="FFFFFF"/>
                </a:solidFill>
                <a:latin typeface="Arial" pitchFamily="34" charset="0"/>
                <a:ea typeface="Arial" pitchFamily="34" charset="-122"/>
                <a:cs typeface="Arial" pitchFamily="34" charset="-120"/>
              </a:rPr>
              <a:t>What did VW do to the test?  What was it trying to achieve?  Who paid the price?</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t"/>
          <a:lstStyle/>
          <a:p>
            <a:pPr algn="l" indent="0" marL="0">
              <a:buNone/>
            </a:pPr>
            <a:r>
              <a:rPr lang="en-US" sz="3200" b="1" dirty="0">
                <a:solidFill>
                  <a:srgbClr val="132C3B"/>
                </a:solidFill>
                <a:latin typeface="Arial" pitchFamily="34" charset="0"/>
                <a:ea typeface="Arial" pitchFamily="34" charset="-122"/>
                <a:cs typeface="Arial" pitchFamily="34" charset="-120"/>
              </a:rPr>
              <a:t>The claim and the measurement</a:t>
            </a:r>
            <a:endParaRPr lang="en-US" sz="3200" dirty="0"/>
          </a:p>
        </p:txBody>
      </p:sp>
      <p:sp>
        <p:nvSpPr>
          <p:cNvPr id="3" name="Shape 1"/>
          <p:cNvSpPr/>
          <p:nvPr/>
        </p:nvSpPr>
        <p:spPr>
          <a:xfrm>
            <a:off x="548640" y="1417320"/>
            <a:ext cx="5349240" cy="3017520"/>
          </a:xfrm>
          <a:prstGeom prst="roundRect">
            <a:avLst>
              <a:gd name="adj" fmla="val 2424"/>
            </a:avLst>
          </a:prstGeom>
          <a:solidFill>
            <a:srgbClr val="F1F4F6"/>
          </a:solidFill>
          <a:ln w="12700">
            <a:solidFill>
              <a:srgbClr val="F1F4F6"/>
            </a:solidFill>
            <a:prstDash val="solid"/>
          </a:ln>
        </p:spPr>
      </p:sp>
      <p:sp>
        <p:nvSpPr>
          <p:cNvPr id="4" name="Text 2"/>
          <p:cNvSpPr txBox="1"/>
          <p:nvPr/>
        </p:nvSpPr>
        <p:spPr>
          <a:xfrm>
            <a:off x="868680" y="1645920"/>
            <a:ext cx="4754880" cy="365760"/>
          </a:xfrm>
          <a:prstGeom prst="rect">
            <a:avLst/>
          </a:prstGeom>
          <a:noFill/>
          <a:ln/>
        </p:spPr>
        <p:txBody>
          <a:bodyPr wrap="square" lIns="0" tIns="0" rIns="0" bIns="0" rtlCol="0" anchor="t"/>
          <a:lstStyle/>
          <a:p>
            <a:pPr algn="l" indent="0" marL="0">
              <a:buNone/>
            </a:pPr>
            <a:r>
              <a:rPr lang="en-US" sz="1600" b="1" dirty="0">
                <a:solidFill>
                  <a:srgbClr val="2864B4"/>
                </a:solidFill>
                <a:latin typeface="Arial" pitchFamily="34" charset="0"/>
                <a:ea typeface="Arial" pitchFamily="34" charset="-122"/>
                <a:cs typeface="Arial" pitchFamily="34" charset="-120"/>
              </a:rPr>
              <a:t>The claim</a:t>
            </a:r>
            <a:endParaRPr lang="en-US" sz="1600" dirty="0"/>
          </a:p>
        </p:txBody>
      </p:sp>
      <p:sp>
        <p:nvSpPr>
          <p:cNvPr id="5" name="Text 3"/>
          <p:cNvSpPr txBox="1"/>
          <p:nvPr/>
        </p:nvSpPr>
        <p:spPr>
          <a:xfrm>
            <a:off x="868680" y="2057400"/>
            <a:ext cx="4754880" cy="960120"/>
          </a:xfrm>
          <a:prstGeom prst="rect">
            <a:avLst/>
          </a:prstGeom>
          <a:noFill/>
          <a:ln/>
        </p:spPr>
        <p:txBody>
          <a:bodyPr wrap="square" lIns="0" tIns="0" rIns="0" bIns="0" rtlCol="0" anchor="t"/>
          <a:lstStyle/>
          <a:p>
            <a:pPr algn="l" indent="0" marL="0">
              <a:buNone/>
            </a:pPr>
            <a:r>
              <a:rPr lang="en-US" sz="2600" b="1" dirty="0">
                <a:solidFill>
                  <a:srgbClr val="132C3B"/>
                </a:solidFill>
                <a:latin typeface="Arial" pitchFamily="34" charset="0"/>
                <a:ea typeface="Arial" pitchFamily="34" charset="-122"/>
                <a:cs typeface="Arial" pitchFamily="34" charset="-120"/>
              </a:rPr>
              <a:t>Compliance with U.S. standards</a:t>
            </a:r>
            <a:endParaRPr lang="en-US" sz="2600" dirty="0"/>
          </a:p>
        </p:txBody>
      </p:sp>
      <p:sp>
        <p:nvSpPr>
          <p:cNvPr id="6" name="Text 4"/>
          <p:cNvSpPr txBox="1"/>
          <p:nvPr/>
        </p:nvSpPr>
        <p:spPr>
          <a:xfrm>
            <a:off x="868680" y="3200400"/>
            <a:ext cx="4754880" cy="1097280"/>
          </a:xfrm>
          <a:prstGeom prst="rect">
            <a:avLst/>
          </a:prstGeom>
          <a:noFill/>
          <a:ln/>
        </p:spPr>
        <p:txBody>
          <a:bodyPr wrap="square" lIns="0" tIns="0" rIns="0" bIns="0" rtlCol="0" anchor="t"/>
          <a:lstStyle/>
          <a:p>
            <a:pPr algn="l" indent="0" marL="0">
              <a:buNone/>
            </a:pPr>
            <a:r>
              <a:rPr lang="en-US" sz="1800" dirty="0">
                <a:solidFill>
                  <a:srgbClr val="52616A"/>
                </a:solidFill>
                <a:latin typeface="Arial" pitchFamily="34" charset="0"/>
                <a:ea typeface="Arial" pitchFamily="34" charset="-122"/>
                <a:cs typeface="Arial" pitchFamily="34" charset="-120"/>
              </a:rPr>
              <a:t>Vehicles marketed as clean diesel</a:t>
            </a:r>
            <a:endParaRPr lang="en-US" sz="1800" dirty="0"/>
          </a:p>
          <a:p>
            <a:pPr algn="l" indent="0" marL="0">
              <a:buNone/>
            </a:pPr>
            <a:r>
              <a:rPr lang="en-US" sz="1800" dirty="0">
                <a:solidFill>
                  <a:srgbClr val="52616A"/>
                </a:solidFill>
                <a:latin typeface="Arial" pitchFamily="34" charset="0"/>
                <a:ea typeface="Arial" pitchFamily="34" charset="-122"/>
                <a:cs typeface="Arial" pitchFamily="34" charset="-120"/>
              </a:rPr>
              <a:t>Certification supported market access</a:t>
            </a:r>
            <a:endParaRPr lang="en-US" sz="1800" dirty="0"/>
          </a:p>
        </p:txBody>
      </p:sp>
      <p:sp>
        <p:nvSpPr>
          <p:cNvPr id="7" name="Shape 5"/>
          <p:cNvSpPr/>
          <p:nvPr/>
        </p:nvSpPr>
        <p:spPr>
          <a:xfrm>
            <a:off x="6263640" y="1417320"/>
            <a:ext cx="5349240" cy="3017520"/>
          </a:xfrm>
          <a:prstGeom prst="roundRect">
            <a:avLst>
              <a:gd name="adj" fmla="val 2424"/>
            </a:avLst>
          </a:prstGeom>
          <a:solidFill>
            <a:srgbClr val="F1F4F6"/>
          </a:solidFill>
          <a:ln w="12700">
            <a:solidFill>
              <a:srgbClr val="F1F4F6"/>
            </a:solidFill>
            <a:prstDash val="solid"/>
          </a:ln>
        </p:spPr>
      </p:sp>
      <p:sp>
        <p:nvSpPr>
          <p:cNvPr id="8" name="Text 6"/>
          <p:cNvSpPr txBox="1"/>
          <p:nvPr/>
        </p:nvSpPr>
        <p:spPr>
          <a:xfrm>
            <a:off x="6583680" y="1645920"/>
            <a:ext cx="4754880" cy="365760"/>
          </a:xfrm>
          <a:prstGeom prst="rect">
            <a:avLst/>
          </a:prstGeom>
          <a:noFill/>
          <a:ln/>
        </p:spPr>
        <p:txBody>
          <a:bodyPr wrap="square" lIns="0" tIns="0" rIns="0" bIns="0" rtlCol="0" anchor="t"/>
          <a:lstStyle/>
          <a:p>
            <a:pPr algn="l" indent="0" marL="0">
              <a:buNone/>
            </a:pPr>
            <a:r>
              <a:rPr lang="en-US" sz="1600" b="1" dirty="0">
                <a:solidFill>
                  <a:srgbClr val="C35724"/>
                </a:solidFill>
                <a:latin typeface="Arial" pitchFamily="34" charset="0"/>
                <a:ea typeface="Arial" pitchFamily="34" charset="-122"/>
                <a:cs typeface="Arial" pitchFamily="34" charset="-120"/>
              </a:rPr>
              <a:t>The quantity</a:t>
            </a:r>
            <a:endParaRPr lang="en-US" sz="1600" dirty="0"/>
          </a:p>
        </p:txBody>
      </p:sp>
      <p:sp>
        <p:nvSpPr>
          <p:cNvPr id="9" name="Text 7"/>
          <p:cNvSpPr txBox="1"/>
          <p:nvPr/>
        </p:nvSpPr>
        <p:spPr>
          <a:xfrm>
            <a:off x="6583680" y="2057400"/>
            <a:ext cx="4754880" cy="960120"/>
          </a:xfrm>
          <a:prstGeom prst="rect">
            <a:avLst/>
          </a:prstGeom>
          <a:noFill/>
          <a:ln/>
        </p:spPr>
        <p:txBody>
          <a:bodyPr wrap="square" lIns="0" tIns="0" rIns="0" bIns="0" rtlCol="0" anchor="t"/>
          <a:lstStyle/>
          <a:p>
            <a:pPr algn="l" indent="0" marL="0">
              <a:buNone/>
            </a:pPr>
            <a:r>
              <a:rPr lang="en-US" sz="2600" b="1" dirty="0">
                <a:solidFill>
                  <a:srgbClr val="132C3B"/>
                </a:solidFill>
                <a:latin typeface="Arial" pitchFamily="34" charset="0"/>
                <a:ea typeface="Arial" pitchFamily="34" charset="-122"/>
                <a:cs typeface="Arial" pitchFamily="34" charset="-120"/>
              </a:rPr>
              <a:t>NOx mass per distance</a:t>
            </a:r>
            <a:endParaRPr lang="en-US" sz="2600" dirty="0"/>
          </a:p>
        </p:txBody>
      </p:sp>
      <p:sp>
        <p:nvSpPr>
          <p:cNvPr id="10" name="Text 8"/>
          <p:cNvSpPr txBox="1"/>
          <p:nvPr/>
        </p:nvSpPr>
        <p:spPr>
          <a:xfrm>
            <a:off x="6583680" y="3200400"/>
            <a:ext cx="4754880" cy="1097280"/>
          </a:xfrm>
          <a:prstGeom prst="rect">
            <a:avLst/>
          </a:prstGeom>
          <a:noFill/>
          <a:ln/>
        </p:spPr>
        <p:txBody>
          <a:bodyPr wrap="square" lIns="0" tIns="0" rIns="0" bIns="0" rtlCol="0" anchor="t"/>
          <a:lstStyle/>
          <a:p>
            <a:pPr algn="l" indent="0" marL="0">
              <a:buNone/>
            </a:pPr>
            <a:r>
              <a:rPr lang="en-US" sz="1800" dirty="0">
                <a:solidFill>
                  <a:srgbClr val="52616A"/>
                </a:solidFill>
                <a:latin typeface="Arial" pitchFamily="34" charset="0"/>
                <a:ea typeface="Arial" pitchFamily="34" charset="-122"/>
                <a:cs typeface="Arial" pitchFamily="34" charset="-120"/>
              </a:rPr>
              <a:t>Nitrogen oxides in the exhaust</a:t>
            </a:r>
            <a:endParaRPr lang="en-US" sz="1800" dirty="0"/>
          </a:p>
          <a:p>
            <a:pPr algn="l" indent="0" marL="0">
              <a:buNone/>
            </a:pPr>
            <a:r>
              <a:rPr lang="en-US" sz="1800" dirty="0">
                <a:solidFill>
                  <a:srgbClr val="52616A"/>
                </a:solidFill>
                <a:latin typeface="Arial" pitchFamily="34" charset="0"/>
                <a:ea typeface="Arial" pitchFamily="34" charset="-122"/>
                <a:cs typeface="Arial" pitchFamily="34" charset="-120"/>
              </a:rPr>
              <a:t>Measured in grams per kilometre</a:t>
            </a:r>
            <a:endParaRPr lang="en-US" sz="1800" dirty="0"/>
          </a:p>
        </p:txBody>
      </p:sp>
      <p:sp>
        <p:nvSpPr>
          <p:cNvPr id="11" name="Text 9"/>
          <p:cNvSpPr txBox="1"/>
          <p:nvPr/>
        </p:nvSpPr>
        <p:spPr>
          <a:xfrm>
            <a:off x="548640" y="4754880"/>
            <a:ext cx="11064240" cy="1097280"/>
          </a:xfrm>
          <a:prstGeom prst="rect">
            <a:avLst/>
          </a:prstGeom>
          <a:noFill/>
          <a:ln/>
        </p:spPr>
        <p:txBody>
          <a:bodyPr wrap="square" lIns="0" tIns="0" rIns="0" bIns="0" rtlCol="0" anchor="t"/>
          <a:lstStyle/>
          <a:p>
            <a:pPr algn="l" indent="0" marL="0">
              <a:buNone/>
            </a:pPr>
            <a:r>
              <a:rPr lang="en-US" sz="1800" b="1" dirty="0">
                <a:solidFill>
                  <a:srgbClr val="132C3B"/>
                </a:solidFill>
                <a:latin typeface="Arial" pitchFamily="34" charset="0"/>
                <a:ea typeface="Arial" pitchFamily="34" charset="-122"/>
                <a:cs typeface="Arial" pitchFamily="34" charset="-120"/>
              </a:rPr>
              <a:t>Reference standard: 0.043 g/km NOx at full useful life</a:t>
            </a:r>
            <a:endParaRPr lang="en-US" sz="1800" dirty="0"/>
          </a:p>
        </p:txBody>
      </p:sp>
      <p:sp>
        <p:nvSpPr>
          <p:cNvPr id="12" name="Text 10"/>
          <p:cNvSpPr txBox="1"/>
          <p:nvPr/>
        </p:nvSpPr>
        <p:spPr>
          <a:xfrm>
            <a:off x="548640" y="6236208"/>
            <a:ext cx="10515600" cy="457200"/>
          </a:xfrm>
          <a:prstGeom prst="rect">
            <a:avLst/>
          </a:prstGeom>
          <a:noFill/>
          <a:ln/>
        </p:spPr>
        <p:txBody>
          <a:bodyPr wrap="square" lIns="0" tIns="0" rIns="0" bIns="0" rtlCol="0" anchor="t"/>
          <a:lstStyle/>
          <a:p>
            <a:pPr algn="l" indent="0" marL="0">
              <a:buNone/>
            </a:pPr>
            <a:r>
              <a:rPr lang="en-US" sz="1100" dirty="0">
                <a:solidFill>
                  <a:srgbClr val="52616A"/>
                </a:solidFill>
                <a:latin typeface="Arial" pitchFamily="34" charset="0"/>
                <a:ea typeface="Arial" pitchFamily="34" charset="-122"/>
                <a:cs typeface="Arial" pitchFamily="34" charset="-120"/>
              </a:rPr>
              <a:t>WVU/ICCT (2014), Table 2.2 p. 5 (0.07 g/mi), Table 4.1 p. 59 (0.043 g/km); VW plea (2017), Exh. 2, ¶¶ 28–30, 32 (Exh. 2 pp. 10–12).</a:t>
            </a:r>
            <a:endParaRPr lang="en-US" sz="1100" dirty="0"/>
          </a:p>
        </p:txBody>
      </p:sp>
      <p:sp>
        <p:nvSpPr>
          <p:cNvPr id="13" name="Text 11"/>
          <p:cNvSpPr txBox="1"/>
          <p:nvPr/>
        </p:nvSpPr>
        <p:spPr>
          <a:xfrm>
            <a:off x="11155680" y="6236208"/>
            <a:ext cx="502920" cy="274320"/>
          </a:xfrm>
          <a:prstGeom prst="rect">
            <a:avLst/>
          </a:prstGeom>
          <a:noFill/>
          <a:ln/>
        </p:spPr>
        <p:txBody>
          <a:bodyPr wrap="square" lIns="0" tIns="0" rIns="0" bIns="0" rtlCol="0" anchor="t"/>
          <a:lstStyle/>
          <a:p>
            <a:pPr algn="r" indent="0" marL="0">
              <a:buNone/>
            </a:pPr>
            <a:r>
              <a:rPr lang="en-US" sz="1100" dirty="0">
                <a:solidFill>
                  <a:srgbClr val="52616A"/>
                </a:solidFill>
                <a:latin typeface="Arial" pitchFamily="34" charset="0"/>
                <a:ea typeface="Arial" pitchFamily="34" charset="-122"/>
                <a:cs typeface="Arial"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t"/>
          <a:lstStyle/>
          <a:p>
            <a:pPr algn="l" indent="0" marL="0">
              <a:buNone/>
            </a:pPr>
            <a:r>
              <a:rPr lang="en-US" sz="3200" b="1" dirty="0">
                <a:solidFill>
                  <a:srgbClr val="132C3B"/>
                </a:solidFill>
                <a:latin typeface="Arial" pitchFamily="34" charset="0"/>
                <a:ea typeface="Arial" pitchFamily="34" charset="-122"/>
                <a:cs typeface="Arial" pitchFamily="34" charset="-120"/>
              </a:rPr>
              <a:t>Laboratory and road measurements</a:t>
            </a:r>
            <a:endParaRPr lang="en-US" sz="3200" dirty="0"/>
          </a:p>
        </p:txBody>
      </p:sp>
      <p:sp>
        <p:nvSpPr>
          <p:cNvPr id="3" name="Shape 1"/>
          <p:cNvSpPr/>
          <p:nvPr/>
        </p:nvSpPr>
        <p:spPr>
          <a:xfrm>
            <a:off x="548640" y="1417320"/>
            <a:ext cx="5349240" cy="3017520"/>
          </a:xfrm>
          <a:prstGeom prst="roundRect">
            <a:avLst>
              <a:gd name="adj" fmla="val 2424"/>
            </a:avLst>
          </a:prstGeom>
          <a:solidFill>
            <a:srgbClr val="F1F4F6"/>
          </a:solidFill>
          <a:ln w="12700">
            <a:solidFill>
              <a:srgbClr val="F1F4F6"/>
            </a:solidFill>
            <a:prstDash val="solid"/>
          </a:ln>
        </p:spPr>
      </p:sp>
      <p:sp>
        <p:nvSpPr>
          <p:cNvPr id="4" name="Text 2"/>
          <p:cNvSpPr txBox="1"/>
          <p:nvPr/>
        </p:nvSpPr>
        <p:spPr>
          <a:xfrm>
            <a:off x="868680" y="1645920"/>
            <a:ext cx="4754880" cy="365760"/>
          </a:xfrm>
          <a:prstGeom prst="rect">
            <a:avLst/>
          </a:prstGeom>
          <a:noFill/>
          <a:ln/>
        </p:spPr>
        <p:txBody>
          <a:bodyPr wrap="square" lIns="0" tIns="0" rIns="0" bIns="0" rtlCol="0" anchor="t"/>
          <a:lstStyle/>
          <a:p>
            <a:pPr algn="l" indent="0" marL="0">
              <a:buNone/>
            </a:pPr>
            <a:r>
              <a:rPr lang="en-US" sz="1600" b="1" dirty="0">
                <a:solidFill>
                  <a:srgbClr val="2864B4"/>
                </a:solidFill>
                <a:latin typeface="Arial" pitchFamily="34" charset="0"/>
                <a:ea typeface="Arial" pitchFamily="34" charset="-122"/>
                <a:cs typeface="Arial" pitchFamily="34" charset="-120"/>
              </a:rPr>
              <a:t>Laboratory</a:t>
            </a:r>
            <a:endParaRPr lang="en-US" sz="1600" dirty="0"/>
          </a:p>
        </p:txBody>
      </p:sp>
      <p:sp>
        <p:nvSpPr>
          <p:cNvPr id="5" name="Text 3"/>
          <p:cNvSpPr txBox="1"/>
          <p:nvPr/>
        </p:nvSpPr>
        <p:spPr>
          <a:xfrm>
            <a:off x="868680" y="2057400"/>
            <a:ext cx="4754880" cy="960120"/>
          </a:xfrm>
          <a:prstGeom prst="rect">
            <a:avLst/>
          </a:prstGeom>
          <a:noFill/>
          <a:ln/>
        </p:spPr>
        <p:txBody>
          <a:bodyPr wrap="square" lIns="0" tIns="0" rIns="0" bIns="0" rtlCol="0" anchor="t"/>
          <a:lstStyle/>
          <a:p>
            <a:pPr algn="l" indent="0" marL="0">
              <a:buNone/>
            </a:pPr>
            <a:r>
              <a:rPr lang="en-US" sz="2600" b="1" dirty="0">
                <a:solidFill>
                  <a:srgbClr val="132C3B"/>
                </a:solidFill>
                <a:latin typeface="Arial" pitchFamily="34" charset="0"/>
                <a:ea typeface="Arial" pitchFamily="34" charset="-122"/>
                <a:cs typeface="Arial" pitchFamily="34" charset="-120"/>
              </a:rPr>
              <a:t>Prescribed conditions</a:t>
            </a:r>
            <a:endParaRPr lang="en-US" sz="2600" dirty="0"/>
          </a:p>
        </p:txBody>
      </p:sp>
      <p:sp>
        <p:nvSpPr>
          <p:cNvPr id="6" name="Text 4"/>
          <p:cNvSpPr txBox="1"/>
          <p:nvPr/>
        </p:nvSpPr>
        <p:spPr>
          <a:xfrm>
            <a:off x="868680" y="3200400"/>
            <a:ext cx="4754880" cy="1097280"/>
          </a:xfrm>
          <a:prstGeom prst="rect">
            <a:avLst/>
          </a:prstGeom>
          <a:noFill/>
          <a:ln/>
        </p:spPr>
        <p:txBody>
          <a:bodyPr wrap="square" lIns="0" tIns="0" rIns="0" bIns="0" rtlCol="0" anchor="t"/>
          <a:lstStyle/>
          <a:p>
            <a:pPr algn="l" indent="0" marL="0">
              <a:buNone/>
            </a:pPr>
            <a:r>
              <a:rPr lang="en-US" sz="1800" dirty="0">
                <a:solidFill>
                  <a:srgbClr val="52616A"/>
                </a:solidFill>
                <a:latin typeface="Arial" pitchFamily="34" charset="0"/>
                <a:ea typeface="Arial" pitchFamily="34" charset="-122"/>
                <a:cs typeface="Arial" pitchFamily="34" charset="-120"/>
              </a:rPr>
              <a:t>A chassis dynamometer simulates driving</a:t>
            </a:r>
            <a:endParaRPr lang="en-US" sz="1800" dirty="0"/>
          </a:p>
          <a:p>
            <a:pPr algn="l" indent="0" marL="0">
              <a:buNone/>
            </a:pPr>
            <a:r>
              <a:rPr lang="en-US" sz="1800" dirty="0">
                <a:solidFill>
                  <a:srgbClr val="52616A"/>
                </a:solidFill>
                <a:latin typeface="Arial" pitchFamily="34" charset="0"/>
                <a:ea typeface="Arial" pitchFamily="34" charset="-122"/>
                <a:cs typeface="Arial" pitchFamily="34" charset="-120"/>
              </a:rPr>
              <a:t>FTP-75 uses a standard speed sequence</a:t>
            </a:r>
            <a:endParaRPr lang="en-US" sz="1800" dirty="0"/>
          </a:p>
        </p:txBody>
      </p:sp>
      <p:sp>
        <p:nvSpPr>
          <p:cNvPr id="7" name="Shape 5"/>
          <p:cNvSpPr/>
          <p:nvPr/>
        </p:nvSpPr>
        <p:spPr>
          <a:xfrm>
            <a:off x="6263640" y="1417320"/>
            <a:ext cx="5349240" cy="3017520"/>
          </a:xfrm>
          <a:prstGeom prst="roundRect">
            <a:avLst>
              <a:gd name="adj" fmla="val 2424"/>
            </a:avLst>
          </a:prstGeom>
          <a:solidFill>
            <a:srgbClr val="F1F4F6"/>
          </a:solidFill>
          <a:ln w="12700">
            <a:solidFill>
              <a:srgbClr val="F1F4F6"/>
            </a:solidFill>
            <a:prstDash val="solid"/>
          </a:ln>
        </p:spPr>
      </p:sp>
      <p:sp>
        <p:nvSpPr>
          <p:cNvPr id="8" name="Text 6"/>
          <p:cNvSpPr txBox="1"/>
          <p:nvPr/>
        </p:nvSpPr>
        <p:spPr>
          <a:xfrm>
            <a:off x="6583680" y="1645920"/>
            <a:ext cx="4754880" cy="365760"/>
          </a:xfrm>
          <a:prstGeom prst="rect">
            <a:avLst/>
          </a:prstGeom>
          <a:noFill/>
          <a:ln/>
        </p:spPr>
        <p:txBody>
          <a:bodyPr wrap="square" lIns="0" tIns="0" rIns="0" bIns="0" rtlCol="0" anchor="t"/>
          <a:lstStyle/>
          <a:p>
            <a:pPr algn="l" indent="0" marL="0">
              <a:buNone/>
            </a:pPr>
            <a:r>
              <a:rPr lang="en-US" sz="1600" b="1" dirty="0">
                <a:solidFill>
                  <a:srgbClr val="C35724"/>
                </a:solidFill>
                <a:latin typeface="Arial" pitchFamily="34" charset="0"/>
                <a:ea typeface="Arial" pitchFamily="34" charset="-122"/>
                <a:cs typeface="Arial" pitchFamily="34" charset="-120"/>
              </a:rPr>
              <a:t>Road</a:t>
            </a:r>
            <a:endParaRPr lang="en-US" sz="1600" dirty="0"/>
          </a:p>
        </p:txBody>
      </p:sp>
      <p:sp>
        <p:nvSpPr>
          <p:cNvPr id="9" name="Text 7"/>
          <p:cNvSpPr txBox="1"/>
          <p:nvPr/>
        </p:nvSpPr>
        <p:spPr>
          <a:xfrm>
            <a:off x="6583680" y="2057400"/>
            <a:ext cx="4754880" cy="960120"/>
          </a:xfrm>
          <a:prstGeom prst="rect">
            <a:avLst/>
          </a:prstGeom>
          <a:noFill/>
          <a:ln/>
        </p:spPr>
        <p:txBody>
          <a:bodyPr wrap="square" lIns="0" tIns="0" rIns="0" bIns="0" rtlCol="0" anchor="t"/>
          <a:lstStyle/>
          <a:p>
            <a:pPr algn="l" indent="0" marL="0">
              <a:buNone/>
            </a:pPr>
            <a:r>
              <a:rPr lang="en-US" sz="2600" b="1" dirty="0">
                <a:solidFill>
                  <a:srgbClr val="132C3B"/>
                </a:solidFill>
                <a:latin typeface="Arial" pitchFamily="34" charset="0"/>
                <a:ea typeface="Arial" pitchFamily="34" charset="-122"/>
                <a:cs typeface="Arial" pitchFamily="34" charset="-120"/>
              </a:rPr>
              <a:t>Changing conditions</a:t>
            </a:r>
            <a:endParaRPr lang="en-US" sz="2600" dirty="0"/>
          </a:p>
        </p:txBody>
      </p:sp>
      <p:sp>
        <p:nvSpPr>
          <p:cNvPr id="10" name="Text 8"/>
          <p:cNvSpPr txBox="1"/>
          <p:nvPr/>
        </p:nvSpPr>
        <p:spPr>
          <a:xfrm>
            <a:off x="6583680" y="3200400"/>
            <a:ext cx="4754880" cy="1097280"/>
          </a:xfrm>
          <a:prstGeom prst="rect">
            <a:avLst/>
          </a:prstGeom>
          <a:noFill/>
          <a:ln/>
        </p:spPr>
        <p:txBody>
          <a:bodyPr wrap="square" lIns="0" tIns="0" rIns="0" bIns="0" rtlCol="0" anchor="t"/>
          <a:lstStyle/>
          <a:p>
            <a:pPr algn="l" indent="0" marL="0">
              <a:buNone/>
            </a:pPr>
            <a:r>
              <a:rPr lang="en-US" sz="1800" dirty="0">
                <a:solidFill>
                  <a:srgbClr val="52616A"/>
                </a:solidFill>
                <a:latin typeface="Arial" pitchFamily="34" charset="0"/>
                <a:ea typeface="Arial" pitchFamily="34" charset="-122"/>
                <a:cs typeface="Arial" pitchFamily="34" charset="-120"/>
              </a:rPr>
              <a:t>PEMS measures exhaust on a moving car</a:t>
            </a:r>
            <a:endParaRPr lang="en-US" sz="1800" dirty="0"/>
          </a:p>
          <a:p>
            <a:pPr algn="l" indent="0" marL="0">
              <a:buNone/>
            </a:pPr>
            <a:r>
              <a:rPr lang="en-US" sz="1800" dirty="0">
                <a:solidFill>
                  <a:srgbClr val="52616A"/>
                </a:solidFill>
                <a:latin typeface="Arial" pitchFamily="34" charset="0"/>
                <a:ea typeface="Arial" pitchFamily="34" charset="-122"/>
                <a:cs typeface="Arial" pitchFamily="34" charset="-120"/>
              </a:rPr>
              <a:t>Traffic, gradient and load vary</a:t>
            </a:r>
            <a:endParaRPr lang="en-US" sz="1800" dirty="0"/>
          </a:p>
        </p:txBody>
      </p:sp>
      <p:sp>
        <p:nvSpPr>
          <p:cNvPr id="11" name="Text 9"/>
          <p:cNvSpPr txBox="1"/>
          <p:nvPr/>
        </p:nvSpPr>
        <p:spPr>
          <a:xfrm>
            <a:off x="548640" y="4754880"/>
            <a:ext cx="11064240" cy="1097280"/>
          </a:xfrm>
          <a:prstGeom prst="rect">
            <a:avLst/>
          </a:prstGeom>
          <a:noFill/>
          <a:ln/>
        </p:spPr>
        <p:txBody>
          <a:bodyPr wrap="square" lIns="0" tIns="0" rIns="0" bIns="0" rtlCol="0" anchor="t"/>
          <a:lstStyle/>
          <a:p>
            <a:pPr algn="l" indent="0" marL="0">
              <a:buNone/>
            </a:pPr>
            <a:r>
              <a:rPr lang="en-US" sz="1800" b="1" dirty="0">
                <a:solidFill>
                  <a:srgbClr val="132C3B"/>
                </a:solidFill>
                <a:latin typeface="Arial" pitchFamily="34" charset="0"/>
                <a:ea typeface="Arial" pitchFamily="34" charset="-122"/>
                <a:cs typeface="Arial" pitchFamily="34" charset="-120"/>
              </a:rPr>
              <a:t>The standard is a reference for road results; road routes are not certification cycles.</a:t>
            </a:r>
            <a:endParaRPr lang="en-US" sz="1800" dirty="0"/>
          </a:p>
        </p:txBody>
      </p:sp>
      <p:sp>
        <p:nvSpPr>
          <p:cNvPr id="12" name="Text 10"/>
          <p:cNvSpPr txBox="1"/>
          <p:nvPr/>
        </p:nvSpPr>
        <p:spPr>
          <a:xfrm>
            <a:off x="548640" y="6236208"/>
            <a:ext cx="10515600" cy="457200"/>
          </a:xfrm>
          <a:prstGeom prst="rect">
            <a:avLst/>
          </a:prstGeom>
          <a:noFill/>
          <a:ln/>
        </p:spPr>
        <p:txBody>
          <a:bodyPr wrap="square" lIns="0" tIns="0" rIns="0" bIns="0" rtlCol="0" anchor="t"/>
          <a:lstStyle/>
          <a:p>
            <a:pPr algn="l" indent="0" marL="0">
              <a:buNone/>
            </a:pPr>
            <a:r>
              <a:rPr lang="en-US" sz="1100" dirty="0">
                <a:solidFill>
                  <a:srgbClr val="52616A"/>
                </a:solidFill>
                <a:latin typeface="Arial" pitchFamily="34" charset="0"/>
                <a:ea typeface="Arial" pitchFamily="34" charset="-122"/>
                <a:cs typeface="Arial" pitchFamily="34" charset="-120"/>
              </a:rPr>
              <a:t>WVU/ICCT (2014), pp. 9, 39–55, 59, 64.</a:t>
            </a:r>
            <a:endParaRPr lang="en-US" sz="1100" dirty="0"/>
          </a:p>
        </p:txBody>
      </p:sp>
      <p:sp>
        <p:nvSpPr>
          <p:cNvPr id="13" name="Text 11"/>
          <p:cNvSpPr txBox="1"/>
          <p:nvPr/>
        </p:nvSpPr>
        <p:spPr>
          <a:xfrm>
            <a:off x="11155680" y="6236208"/>
            <a:ext cx="502920" cy="274320"/>
          </a:xfrm>
          <a:prstGeom prst="rect">
            <a:avLst/>
          </a:prstGeom>
          <a:noFill/>
          <a:ln/>
        </p:spPr>
        <p:txBody>
          <a:bodyPr wrap="square" lIns="0" tIns="0" rIns="0" bIns="0" rtlCol="0" anchor="t"/>
          <a:lstStyle/>
          <a:p>
            <a:pPr algn="r" indent="0" marL="0">
              <a:buNone/>
            </a:pPr>
            <a:r>
              <a:rPr lang="en-US" sz="1100" dirty="0">
                <a:solidFill>
                  <a:srgbClr val="52616A"/>
                </a:solidFill>
                <a:latin typeface="Arial" pitchFamily="34" charset="0"/>
                <a:ea typeface="Arial" pitchFamily="34" charset="-122"/>
                <a:cs typeface="Arial"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t"/>
          <a:lstStyle/>
          <a:p>
            <a:pPr algn="l" indent="0" marL="0">
              <a:buNone/>
            </a:pPr>
            <a:r>
              <a:rPr lang="en-US" sz="3200" b="1" dirty="0">
                <a:solidFill>
                  <a:srgbClr val="132C3B"/>
                </a:solidFill>
                <a:latin typeface="Arial" pitchFamily="34" charset="0"/>
                <a:ea typeface="Arial" pitchFamily="34" charset="-122"/>
                <a:cs typeface="Arial" pitchFamily="34" charset="-120"/>
              </a:rPr>
              <a:t>Three vehicles, with limited coverage</a:t>
            </a:r>
            <a:endParaRPr lang="en-US" sz="3200" dirty="0"/>
          </a:p>
        </p:txBody>
      </p:sp>
      <p:sp>
        <p:nvSpPr>
          <p:cNvPr id="3" name="Shape 1"/>
          <p:cNvSpPr/>
          <p:nvPr/>
        </p:nvSpPr>
        <p:spPr>
          <a:xfrm>
            <a:off x="548640" y="1417320"/>
            <a:ext cx="3520440" cy="2743200"/>
          </a:xfrm>
          <a:prstGeom prst="roundRect">
            <a:avLst>
              <a:gd name="adj" fmla="val 2667"/>
            </a:avLst>
          </a:prstGeom>
          <a:solidFill>
            <a:srgbClr val="F1F4F6"/>
          </a:solidFill>
          <a:ln w="12700">
            <a:solidFill>
              <a:srgbClr val="F1F4F6"/>
            </a:solidFill>
            <a:prstDash val="solid"/>
          </a:ln>
        </p:spPr>
      </p:sp>
      <p:sp>
        <p:nvSpPr>
          <p:cNvPr id="4" name="Text 2"/>
          <p:cNvSpPr txBox="1"/>
          <p:nvPr/>
        </p:nvSpPr>
        <p:spPr>
          <a:xfrm>
            <a:off x="822960" y="1645920"/>
            <a:ext cx="3017520" cy="411480"/>
          </a:xfrm>
          <a:prstGeom prst="rect">
            <a:avLst/>
          </a:prstGeom>
          <a:noFill/>
          <a:ln/>
        </p:spPr>
        <p:txBody>
          <a:bodyPr wrap="square" lIns="0" tIns="0" rIns="0" bIns="0" rtlCol="0" anchor="t"/>
          <a:lstStyle/>
          <a:p>
            <a:pPr algn="l" indent="0" marL="0">
              <a:buNone/>
            </a:pPr>
            <a:r>
              <a:rPr lang="en-US" sz="2000" b="1" dirty="0">
                <a:solidFill>
                  <a:srgbClr val="2864B4"/>
                </a:solidFill>
                <a:latin typeface="Arial" pitchFamily="34" charset="0"/>
                <a:ea typeface="Arial" pitchFamily="34" charset="-122"/>
                <a:cs typeface="Arial" pitchFamily="34" charset="-120"/>
              </a:rPr>
              <a:t>Vehicle A</a:t>
            </a:r>
            <a:endParaRPr lang="en-US" sz="2000" dirty="0"/>
          </a:p>
        </p:txBody>
      </p:sp>
      <p:sp>
        <p:nvSpPr>
          <p:cNvPr id="5" name="Text 3"/>
          <p:cNvSpPr txBox="1"/>
          <p:nvPr/>
        </p:nvSpPr>
        <p:spPr>
          <a:xfrm>
            <a:off x="822960" y="2148840"/>
            <a:ext cx="3017520" cy="822960"/>
          </a:xfrm>
          <a:prstGeom prst="rect">
            <a:avLst/>
          </a:prstGeom>
          <a:noFill/>
          <a:ln/>
        </p:spPr>
        <p:txBody>
          <a:bodyPr wrap="square" lIns="0" tIns="0" rIns="0" bIns="0" rtlCol="0" anchor="t"/>
          <a:lstStyle/>
          <a:p>
            <a:pPr algn="l" indent="0" marL="0">
              <a:buNone/>
            </a:pPr>
            <a:r>
              <a:rPr lang="en-US" sz="4400" b="1" dirty="0">
                <a:solidFill>
                  <a:srgbClr val="132C3B"/>
                </a:solidFill>
                <a:latin typeface="Arial" pitchFamily="34" charset="0"/>
                <a:ea typeface="Arial" pitchFamily="34" charset="-122"/>
                <a:cs typeface="Arial" pitchFamily="34" charset="-120"/>
              </a:rPr>
              <a:t>2.0 L</a:t>
            </a:r>
            <a:endParaRPr lang="en-US" sz="4400" dirty="0"/>
          </a:p>
        </p:txBody>
      </p:sp>
      <p:sp>
        <p:nvSpPr>
          <p:cNvPr id="6" name="Text 4"/>
          <p:cNvSpPr txBox="1"/>
          <p:nvPr/>
        </p:nvSpPr>
        <p:spPr>
          <a:xfrm>
            <a:off x="822960" y="3154680"/>
            <a:ext cx="3017520" cy="731520"/>
          </a:xfrm>
          <a:prstGeom prst="rect">
            <a:avLst/>
          </a:prstGeom>
          <a:noFill/>
          <a:ln/>
        </p:spPr>
        <p:txBody>
          <a:bodyPr wrap="square" lIns="0" tIns="0" rIns="0" bIns="0" rtlCol="0" anchor="t"/>
          <a:lstStyle/>
          <a:p>
            <a:pPr algn="l" indent="0" marL="0">
              <a:buNone/>
            </a:pPr>
            <a:r>
              <a:rPr lang="en-US" sz="2000" dirty="0">
                <a:solidFill>
                  <a:srgbClr val="52616A"/>
                </a:solidFill>
                <a:latin typeface="Arial" pitchFamily="34" charset="0"/>
                <a:ea typeface="Arial" pitchFamily="34" charset="-122"/>
                <a:cs typeface="Arial" pitchFamily="34" charset="-120"/>
              </a:rPr>
              <a:t>Lean-NOx trap</a:t>
            </a:r>
            <a:endParaRPr lang="en-US" sz="2000" dirty="0"/>
          </a:p>
        </p:txBody>
      </p:sp>
      <p:sp>
        <p:nvSpPr>
          <p:cNvPr id="7" name="Shape 5"/>
          <p:cNvSpPr/>
          <p:nvPr/>
        </p:nvSpPr>
        <p:spPr>
          <a:xfrm>
            <a:off x="4343400" y="1417320"/>
            <a:ext cx="3520440" cy="2743200"/>
          </a:xfrm>
          <a:prstGeom prst="roundRect">
            <a:avLst>
              <a:gd name="adj" fmla="val 2667"/>
            </a:avLst>
          </a:prstGeom>
          <a:solidFill>
            <a:srgbClr val="F1F4F6"/>
          </a:solidFill>
          <a:ln w="12700">
            <a:solidFill>
              <a:srgbClr val="F1F4F6"/>
            </a:solidFill>
            <a:prstDash val="solid"/>
          </a:ln>
        </p:spPr>
      </p:sp>
      <p:sp>
        <p:nvSpPr>
          <p:cNvPr id="8" name="Text 6"/>
          <p:cNvSpPr txBox="1"/>
          <p:nvPr/>
        </p:nvSpPr>
        <p:spPr>
          <a:xfrm>
            <a:off x="4617720" y="1645920"/>
            <a:ext cx="3017520" cy="411480"/>
          </a:xfrm>
          <a:prstGeom prst="rect">
            <a:avLst/>
          </a:prstGeom>
          <a:noFill/>
          <a:ln/>
        </p:spPr>
        <p:txBody>
          <a:bodyPr wrap="square" lIns="0" tIns="0" rIns="0" bIns="0" rtlCol="0" anchor="t"/>
          <a:lstStyle/>
          <a:p>
            <a:pPr algn="l" indent="0" marL="0">
              <a:buNone/>
            </a:pPr>
            <a:r>
              <a:rPr lang="en-US" sz="2000" b="1" dirty="0">
                <a:solidFill>
                  <a:srgbClr val="C35724"/>
                </a:solidFill>
                <a:latin typeface="Arial" pitchFamily="34" charset="0"/>
                <a:ea typeface="Arial" pitchFamily="34" charset="-122"/>
                <a:cs typeface="Arial" pitchFamily="34" charset="-120"/>
              </a:rPr>
              <a:t>Vehicle B</a:t>
            </a:r>
            <a:endParaRPr lang="en-US" sz="2000" dirty="0"/>
          </a:p>
        </p:txBody>
      </p:sp>
      <p:sp>
        <p:nvSpPr>
          <p:cNvPr id="9" name="Text 7"/>
          <p:cNvSpPr txBox="1"/>
          <p:nvPr/>
        </p:nvSpPr>
        <p:spPr>
          <a:xfrm>
            <a:off x="4617720" y="2148840"/>
            <a:ext cx="3017520" cy="822960"/>
          </a:xfrm>
          <a:prstGeom prst="rect">
            <a:avLst/>
          </a:prstGeom>
          <a:noFill/>
          <a:ln/>
        </p:spPr>
        <p:txBody>
          <a:bodyPr wrap="square" lIns="0" tIns="0" rIns="0" bIns="0" rtlCol="0" anchor="t"/>
          <a:lstStyle/>
          <a:p>
            <a:pPr algn="l" indent="0" marL="0">
              <a:buNone/>
            </a:pPr>
            <a:r>
              <a:rPr lang="en-US" sz="4400" b="1" dirty="0">
                <a:solidFill>
                  <a:srgbClr val="132C3B"/>
                </a:solidFill>
                <a:latin typeface="Arial" pitchFamily="34" charset="0"/>
                <a:ea typeface="Arial" pitchFamily="34" charset="-122"/>
                <a:cs typeface="Arial" pitchFamily="34" charset="-120"/>
              </a:rPr>
              <a:t>2.0 L</a:t>
            </a:r>
            <a:endParaRPr lang="en-US" sz="4400" dirty="0"/>
          </a:p>
        </p:txBody>
      </p:sp>
      <p:sp>
        <p:nvSpPr>
          <p:cNvPr id="10" name="Text 8"/>
          <p:cNvSpPr txBox="1"/>
          <p:nvPr/>
        </p:nvSpPr>
        <p:spPr>
          <a:xfrm>
            <a:off x="4617720" y="3154680"/>
            <a:ext cx="3017520" cy="731520"/>
          </a:xfrm>
          <a:prstGeom prst="rect">
            <a:avLst/>
          </a:prstGeom>
          <a:noFill/>
          <a:ln/>
        </p:spPr>
        <p:txBody>
          <a:bodyPr wrap="square" lIns="0" tIns="0" rIns="0" bIns="0" rtlCol="0" anchor="t"/>
          <a:lstStyle/>
          <a:p>
            <a:pPr algn="l" indent="0" marL="0">
              <a:buNone/>
            </a:pPr>
            <a:r>
              <a:rPr lang="en-US" sz="2000" dirty="0">
                <a:solidFill>
                  <a:srgbClr val="52616A"/>
                </a:solidFill>
                <a:latin typeface="Arial" pitchFamily="34" charset="0"/>
                <a:ea typeface="Arial" pitchFamily="34" charset="-122"/>
                <a:cs typeface="Arial" pitchFamily="34" charset="-120"/>
              </a:rPr>
              <a:t>Urea-SCR</a:t>
            </a:r>
            <a:endParaRPr lang="en-US" sz="2000" dirty="0"/>
          </a:p>
        </p:txBody>
      </p:sp>
      <p:sp>
        <p:nvSpPr>
          <p:cNvPr id="11" name="Shape 9"/>
          <p:cNvSpPr/>
          <p:nvPr/>
        </p:nvSpPr>
        <p:spPr>
          <a:xfrm>
            <a:off x="8138160" y="1417320"/>
            <a:ext cx="3520440" cy="2743200"/>
          </a:xfrm>
          <a:prstGeom prst="roundRect">
            <a:avLst>
              <a:gd name="adj" fmla="val 2667"/>
            </a:avLst>
          </a:prstGeom>
          <a:solidFill>
            <a:srgbClr val="F1F4F6"/>
          </a:solidFill>
          <a:ln w="12700">
            <a:solidFill>
              <a:srgbClr val="F1F4F6"/>
            </a:solidFill>
            <a:prstDash val="solid"/>
          </a:ln>
        </p:spPr>
      </p:sp>
      <p:sp>
        <p:nvSpPr>
          <p:cNvPr id="12" name="Text 10"/>
          <p:cNvSpPr txBox="1"/>
          <p:nvPr/>
        </p:nvSpPr>
        <p:spPr>
          <a:xfrm>
            <a:off x="8412480" y="1645920"/>
            <a:ext cx="3017520" cy="411480"/>
          </a:xfrm>
          <a:prstGeom prst="rect">
            <a:avLst/>
          </a:prstGeom>
          <a:noFill/>
          <a:ln/>
        </p:spPr>
        <p:txBody>
          <a:bodyPr wrap="square" lIns="0" tIns="0" rIns="0" bIns="0" rtlCol="0" anchor="t"/>
          <a:lstStyle/>
          <a:p>
            <a:pPr algn="l" indent="0" marL="0">
              <a:buNone/>
            </a:pPr>
            <a:r>
              <a:rPr lang="en-US" sz="2000" b="1" dirty="0">
                <a:solidFill>
                  <a:srgbClr val="008778"/>
                </a:solidFill>
                <a:latin typeface="Arial" pitchFamily="34" charset="0"/>
                <a:ea typeface="Arial" pitchFamily="34" charset="-122"/>
                <a:cs typeface="Arial" pitchFamily="34" charset="-120"/>
              </a:rPr>
              <a:t>Vehicle C</a:t>
            </a:r>
            <a:endParaRPr lang="en-US" sz="2000" dirty="0"/>
          </a:p>
        </p:txBody>
      </p:sp>
      <p:sp>
        <p:nvSpPr>
          <p:cNvPr id="13" name="Text 11"/>
          <p:cNvSpPr txBox="1"/>
          <p:nvPr/>
        </p:nvSpPr>
        <p:spPr>
          <a:xfrm>
            <a:off x="8412480" y="2148840"/>
            <a:ext cx="3017520" cy="822960"/>
          </a:xfrm>
          <a:prstGeom prst="rect">
            <a:avLst/>
          </a:prstGeom>
          <a:noFill/>
          <a:ln/>
        </p:spPr>
        <p:txBody>
          <a:bodyPr wrap="square" lIns="0" tIns="0" rIns="0" bIns="0" rtlCol="0" anchor="t"/>
          <a:lstStyle/>
          <a:p>
            <a:pPr algn="l" indent="0" marL="0">
              <a:buNone/>
            </a:pPr>
            <a:r>
              <a:rPr lang="en-US" sz="4400" b="1" dirty="0">
                <a:solidFill>
                  <a:srgbClr val="132C3B"/>
                </a:solidFill>
                <a:latin typeface="Arial" pitchFamily="34" charset="0"/>
                <a:ea typeface="Arial" pitchFamily="34" charset="-122"/>
                <a:cs typeface="Arial" pitchFamily="34" charset="-120"/>
              </a:rPr>
              <a:t>3.0 L</a:t>
            </a:r>
            <a:endParaRPr lang="en-US" sz="4400" dirty="0"/>
          </a:p>
        </p:txBody>
      </p:sp>
      <p:sp>
        <p:nvSpPr>
          <p:cNvPr id="14" name="Text 12"/>
          <p:cNvSpPr txBox="1"/>
          <p:nvPr/>
        </p:nvSpPr>
        <p:spPr>
          <a:xfrm>
            <a:off x="8412480" y="3154680"/>
            <a:ext cx="3017520" cy="731520"/>
          </a:xfrm>
          <a:prstGeom prst="rect">
            <a:avLst/>
          </a:prstGeom>
          <a:noFill/>
          <a:ln/>
        </p:spPr>
        <p:txBody>
          <a:bodyPr wrap="square" lIns="0" tIns="0" rIns="0" bIns="0" rtlCol="0" anchor="t"/>
          <a:lstStyle/>
          <a:p>
            <a:pPr algn="l" indent="0" marL="0">
              <a:buNone/>
            </a:pPr>
            <a:r>
              <a:rPr lang="en-US" sz="2000" dirty="0">
                <a:solidFill>
                  <a:srgbClr val="52616A"/>
                </a:solidFill>
                <a:latin typeface="Arial" pitchFamily="34" charset="0"/>
                <a:ea typeface="Arial" pitchFamily="34" charset="-122"/>
                <a:cs typeface="Arial" pitchFamily="34" charset="-120"/>
              </a:rPr>
              <a:t>Urea-SCR</a:t>
            </a:r>
            <a:endParaRPr lang="en-US" sz="2000" dirty="0"/>
          </a:p>
        </p:txBody>
      </p:sp>
      <p:sp>
        <p:nvSpPr>
          <p:cNvPr id="15" name="Text 13"/>
          <p:cNvSpPr txBox="1"/>
          <p:nvPr/>
        </p:nvSpPr>
        <p:spPr>
          <a:xfrm>
            <a:off x="548640" y="4526280"/>
            <a:ext cx="11064240" cy="1097280"/>
          </a:xfrm>
          <a:prstGeom prst="rect">
            <a:avLst/>
          </a:prstGeom>
          <a:noFill/>
          <a:ln/>
        </p:spPr>
        <p:txBody>
          <a:bodyPr wrap="square" lIns="0" tIns="0" rIns="0" bIns="0" rtlCol="0" anchor="t"/>
          <a:lstStyle/>
          <a:p>
            <a:pPr algn="l" indent="0" marL="0">
              <a:buNone/>
            </a:pPr>
            <a:r>
              <a:rPr lang="en-US" sz="1800" b="1" dirty="0">
                <a:solidFill>
                  <a:srgbClr val="132C3B"/>
                </a:solidFill>
                <a:latin typeface="Arial" pitchFamily="34" charset="0"/>
                <a:ea typeface="Arial" pitchFamily="34" charset="-122"/>
                <a:cs typeface="Arial" pitchFamily="34" charset="-120"/>
              </a:rPr>
              <a:t>Road tests: A, B, C     Laboratory tests: A, B</a:t>
            </a:r>
            <a:endParaRPr lang="en-US" sz="1800" dirty="0"/>
          </a:p>
          <a:p>
            <a:pPr algn="l" indent="0" marL="0">
              <a:buNone/>
            </a:pPr>
            <a:r>
              <a:rPr lang="en-US" sz="1800" b="1" dirty="0">
                <a:solidFill>
                  <a:srgbClr val="132C3B"/>
                </a:solidFill>
                <a:latin typeface="Arial" pitchFamily="34" charset="0"/>
                <a:ea typeface="Arial" pitchFamily="34" charset="-122"/>
                <a:cs typeface="Arial" pitchFamily="34" charset="-120"/>
              </a:rPr>
              <a:t>Three case studies do not estimate fleet-wide prevalence.</a:t>
            </a:r>
            <a:endParaRPr lang="en-US" sz="1800" dirty="0"/>
          </a:p>
        </p:txBody>
      </p:sp>
      <p:sp>
        <p:nvSpPr>
          <p:cNvPr id="16" name="Text 14"/>
          <p:cNvSpPr txBox="1"/>
          <p:nvPr/>
        </p:nvSpPr>
        <p:spPr>
          <a:xfrm>
            <a:off x="548640" y="6236208"/>
            <a:ext cx="10515600" cy="457200"/>
          </a:xfrm>
          <a:prstGeom prst="rect">
            <a:avLst/>
          </a:prstGeom>
          <a:noFill/>
          <a:ln/>
        </p:spPr>
        <p:txBody>
          <a:bodyPr wrap="square" lIns="0" tIns="0" rIns="0" bIns="0" rtlCol="0" anchor="t"/>
          <a:lstStyle/>
          <a:p>
            <a:pPr algn="l" indent="0" marL="0">
              <a:buNone/>
            </a:pPr>
            <a:r>
              <a:rPr lang="en-US" sz="1100" dirty="0">
                <a:solidFill>
                  <a:srgbClr val="52616A"/>
                </a:solidFill>
                <a:latin typeface="Arial" pitchFamily="34" charset="0"/>
                <a:ea typeface="Arial" pitchFamily="34" charset="-122"/>
                <a:cs typeface="Arial" pitchFamily="34" charset="-120"/>
              </a:rPr>
              <a:t>WVU/ICCT (2014), p. iv; pp. 1, 9–10; Table 3.15 p. 57. EPA NOV (2015), p. 4 (2012 Jetta, 2013 Passat).</a:t>
            </a:r>
            <a:endParaRPr lang="en-US" sz="1100" dirty="0"/>
          </a:p>
        </p:txBody>
      </p:sp>
      <p:sp>
        <p:nvSpPr>
          <p:cNvPr id="17" name="Text 15"/>
          <p:cNvSpPr txBox="1"/>
          <p:nvPr/>
        </p:nvSpPr>
        <p:spPr>
          <a:xfrm>
            <a:off x="11155680" y="6236208"/>
            <a:ext cx="502920" cy="274320"/>
          </a:xfrm>
          <a:prstGeom prst="rect">
            <a:avLst/>
          </a:prstGeom>
          <a:noFill/>
          <a:ln/>
        </p:spPr>
        <p:txBody>
          <a:bodyPr wrap="square" lIns="0" tIns="0" rIns="0" bIns="0" rtlCol="0" anchor="t"/>
          <a:lstStyle/>
          <a:p>
            <a:pPr algn="r" indent="0" marL="0">
              <a:buNone/>
            </a:pPr>
            <a:r>
              <a:rPr lang="en-US" sz="1100" dirty="0">
                <a:solidFill>
                  <a:srgbClr val="52616A"/>
                </a:solidFill>
                <a:latin typeface="Arial" pitchFamily="34" charset="0"/>
                <a:ea typeface="Arial" pitchFamily="34" charset="-122"/>
                <a:cs typeface="Arial"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t"/>
          <a:lstStyle/>
          <a:p>
            <a:pPr algn="l" indent="0" marL="0">
              <a:buNone/>
            </a:pPr>
            <a:r>
              <a:rPr lang="en-US" sz="3200" b="1" dirty="0">
                <a:solidFill>
                  <a:srgbClr val="132C3B"/>
                </a:solidFill>
                <a:latin typeface="Arial" pitchFamily="34" charset="0"/>
                <a:ea typeface="Arial" pitchFamily="34" charset="-122"/>
                <a:cs typeface="Arial" pitchFamily="34" charset="-120"/>
              </a:rPr>
              <a:t>The measured NOx results</a:t>
            </a:r>
            <a:endParaRPr lang="en-US" sz="3200" dirty="0"/>
          </a:p>
        </p:txBody>
      </p:sp>
      <p:graphicFrame>
        <p:nvGraphicFramePr>
          <p:cNvPr id="3" name="Chart 0" descr=""/>
          <p:cNvGraphicFramePr/>
          <p:nvPr/>
        </p:nvGraphicFramePr>
        <p:xfrm>
          <a:off x="411480" y="1188720"/>
          <a:ext cx="11338560" cy="43891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596128"/>
            <a:ext cx="11064240" cy="274320"/>
          </a:xfrm>
          <a:prstGeom prst="rect">
            <a:avLst/>
          </a:prstGeom>
          <a:noFill/>
          <a:ln/>
        </p:spPr>
        <p:txBody>
          <a:bodyPr wrap="square" lIns="0" tIns="0" rIns="0" bIns="0" rtlCol="0" anchor="t"/>
          <a:lstStyle/>
          <a:p>
            <a:pPr algn="l" indent="0" marL="0">
              <a:buNone/>
            </a:pPr>
            <a:r>
              <a:rPr lang="en-US" sz="1200" dirty="0">
                <a:solidFill>
                  <a:srgbClr val="52616A"/>
                </a:solidFill>
                <a:latin typeface="Arial" pitchFamily="34" charset="0"/>
                <a:ea typeface="Arial" pitchFamily="34" charset="-122"/>
                <a:cs typeface="Arial" pitchFamily="34" charset="-120"/>
              </a:rPr>
              <a:t>Bars: route or test means; thin bars: ±1 SD as published (none for single runs). No bar = no test (C lab, C R4, A R5), not zero.</a:t>
            </a:r>
            <a:endParaRPr lang="en-US" sz="1200" dirty="0"/>
          </a:p>
        </p:txBody>
      </p:sp>
      <p:sp>
        <p:nvSpPr>
          <p:cNvPr id="5" name="Text 2"/>
          <p:cNvSpPr txBox="1"/>
          <p:nvPr/>
        </p:nvSpPr>
        <p:spPr>
          <a:xfrm>
            <a:off x="548640" y="5852160"/>
            <a:ext cx="11064240" cy="274320"/>
          </a:xfrm>
          <a:prstGeom prst="rect">
            <a:avLst/>
          </a:prstGeom>
          <a:noFill/>
          <a:ln/>
        </p:spPr>
        <p:txBody>
          <a:bodyPr wrap="square" lIns="0" tIns="0" rIns="0" bIns="0" rtlCol="0" anchor="t"/>
          <a:lstStyle/>
          <a:p>
            <a:pPr algn="l" indent="0" marL="0">
              <a:buNone/>
            </a:pPr>
            <a:r>
              <a:rPr lang="en-US" sz="1200" dirty="0">
                <a:solidFill>
                  <a:srgbClr val="52616A"/>
                </a:solidFill>
                <a:latin typeface="Arial" pitchFamily="34" charset="0"/>
                <a:ea typeface="Arial" pitchFamily="34" charset="-122"/>
                <a:cs typeface="Arial" pitchFamily="34" charset="-120"/>
              </a:rPr>
              <a:t>The standard is a certification benchmark, used here as a reference; road routes are not certification tests. Three vehicles: no fleet-wide estimate.</a:t>
            </a:r>
            <a:endParaRPr lang="en-US" sz="1200" dirty="0"/>
          </a:p>
        </p:txBody>
      </p:sp>
      <p:sp>
        <p:nvSpPr>
          <p:cNvPr id="6" name="Text 3"/>
          <p:cNvSpPr txBox="1"/>
          <p:nvPr/>
        </p:nvSpPr>
        <p:spPr>
          <a:xfrm>
            <a:off x="548640" y="6236208"/>
            <a:ext cx="10515600" cy="457200"/>
          </a:xfrm>
          <a:prstGeom prst="rect">
            <a:avLst/>
          </a:prstGeom>
          <a:noFill/>
          <a:ln/>
        </p:spPr>
        <p:txBody>
          <a:bodyPr wrap="square" lIns="0" tIns="0" rIns="0" bIns="0" rtlCol="0" anchor="t"/>
          <a:lstStyle/>
          <a:p>
            <a:pPr algn="l" indent="0" marL="0">
              <a:buNone/>
            </a:pPr>
            <a:r>
              <a:rPr lang="en-US" sz="1100" dirty="0">
                <a:solidFill>
                  <a:srgbClr val="52616A"/>
                </a:solidFill>
                <a:latin typeface="Arial" pitchFamily="34" charset="0"/>
                <a:ea typeface="Arial" pitchFamily="34" charset="-122"/>
                <a:cs typeface="Arial" pitchFamily="34" charset="-120"/>
              </a:rPr>
              <a:t>WVU/ICCT (2014), Table 4.3 p. 65; p. 64; Table 4.1 p. 59.</a:t>
            </a:r>
            <a:endParaRPr lang="en-US" sz="1100" dirty="0"/>
          </a:p>
        </p:txBody>
      </p:sp>
      <p:sp>
        <p:nvSpPr>
          <p:cNvPr id="7" name="Text 4"/>
          <p:cNvSpPr txBox="1"/>
          <p:nvPr/>
        </p:nvSpPr>
        <p:spPr>
          <a:xfrm>
            <a:off x="11155680" y="6236208"/>
            <a:ext cx="502920" cy="274320"/>
          </a:xfrm>
          <a:prstGeom prst="rect">
            <a:avLst/>
          </a:prstGeom>
          <a:noFill/>
          <a:ln/>
        </p:spPr>
        <p:txBody>
          <a:bodyPr wrap="square" lIns="0" tIns="0" rIns="0" bIns="0" rtlCol="0" anchor="t"/>
          <a:lstStyle/>
          <a:p>
            <a:pPr algn="r" indent="0" marL="0">
              <a:buNone/>
            </a:pPr>
            <a:r>
              <a:rPr lang="en-US" sz="1100" dirty="0">
                <a:solidFill>
                  <a:srgbClr val="52616A"/>
                </a:solidFill>
                <a:latin typeface="Arial" pitchFamily="34" charset="0"/>
                <a:ea typeface="Arial" pitchFamily="34" charset="-122"/>
                <a:cs typeface="Arial"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t"/>
          <a:lstStyle/>
          <a:p>
            <a:pPr algn="l" indent="0" marL="0">
              <a:buNone/>
            </a:pPr>
            <a:r>
              <a:rPr lang="en-US" sz="3200" b="1" dirty="0">
                <a:solidFill>
                  <a:srgbClr val="132C3B"/>
                </a:solidFill>
                <a:latin typeface="Arial" pitchFamily="34" charset="0"/>
                <a:ea typeface="Arial" pitchFamily="34" charset="-122"/>
                <a:cs typeface="Arial" pitchFamily="34" charset="-120"/>
              </a:rPr>
              <a:t>The denominator changes the meaning</a:t>
            </a:r>
            <a:endParaRPr lang="en-US" sz="3200" dirty="0"/>
          </a:p>
        </p:txBody>
      </p:sp>
      <p:sp>
        <p:nvSpPr>
          <p:cNvPr id="3" name="Shape 1"/>
          <p:cNvSpPr/>
          <p:nvPr/>
        </p:nvSpPr>
        <p:spPr>
          <a:xfrm>
            <a:off x="548640" y="1417320"/>
            <a:ext cx="5349240" cy="3246120"/>
          </a:xfrm>
          <a:prstGeom prst="roundRect">
            <a:avLst>
              <a:gd name="adj" fmla="val 2254"/>
            </a:avLst>
          </a:prstGeom>
          <a:solidFill>
            <a:srgbClr val="F1F4F6"/>
          </a:solidFill>
          <a:ln w="12700">
            <a:solidFill>
              <a:srgbClr val="F1F4F6"/>
            </a:solidFill>
            <a:prstDash val="solid"/>
          </a:ln>
        </p:spPr>
      </p:sp>
      <p:sp>
        <p:nvSpPr>
          <p:cNvPr id="4" name="Text 2"/>
          <p:cNvSpPr txBox="1"/>
          <p:nvPr/>
        </p:nvSpPr>
        <p:spPr>
          <a:xfrm>
            <a:off x="868680" y="1600200"/>
            <a:ext cx="4754880" cy="1005840"/>
          </a:xfrm>
          <a:prstGeom prst="rect">
            <a:avLst/>
          </a:prstGeom>
          <a:noFill/>
          <a:ln/>
        </p:spPr>
        <p:txBody>
          <a:bodyPr wrap="square" lIns="0" tIns="0" rIns="0" bIns="0" rtlCol="0" anchor="t"/>
          <a:lstStyle/>
          <a:p>
            <a:pPr algn="l" indent="0" marL="0">
              <a:buNone/>
            </a:pPr>
            <a:r>
              <a:rPr lang="en-US" sz="6000" b="1" dirty="0">
                <a:solidFill>
                  <a:srgbClr val="2864B4"/>
                </a:solidFill>
                <a:latin typeface="Arial" pitchFamily="34" charset="0"/>
                <a:ea typeface="Arial" pitchFamily="34" charset="-122"/>
                <a:cs typeface="Arial" pitchFamily="34" charset="-120"/>
              </a:rPr>
              <a:t>35.0×</a:t>
            </a:r>
            <a:endParaRPr lang="en-US" sz="6000" dirty="0"/>
          </a:p>
        </p:txBody>
      </p:sp>
      <p:sp>
        <p:nvSpPr>
          <p:cNvPr id="5" name="Text 3"/>
          <p:cNvSpPr txBox="1"/>
          <p:nvPr/>
        </p:nvSpPr>
        <p:spPr>
          <a:xfrm>
            <a:off x="868680" y="2697480"/>
            <a:ext cx="4754880" cy="502920"/>
          </a:xfrm>
          <a:prstGeom prst="rect">
            <a:avLst/>
          </a:prstGeom>
          <a:noFill/>
          <a:ln/>
        </p:spPr>
        <p:txBody>
          <a:bodyPr wrap="square" lIns="0" tIns="0" rIns="0" bIns="0" rtlCol="0" anchor="t"/>
          <a:lstStyle/>
          <a:p>
            <a:pPr algn="l" indent="0" marL="0">
              <a:buNone/>
            </a:pPr>
            <a:r>
              <a:rPr lang="en-US" sz="2400" dirty="0">
                <a:solidFill>
                  <a:srgbClr val="132C3B"/>
                </a:solidFill>
                <a:latin typeface="Arial" pitchFamily="34" charset="0"/>
                <a:ea typeface="Arial" pitchFamily="34" charset="-122"/>
                <a:cs typeface="Arial" pitchFamily="34" charset="-120"/>
              </a:rPr>
              <a:t>1.505 ÷ 0.043</a:t>
            </a:r>
            <a:endParaRPr lang="en-US" sz="2400" dirty="0"/>
          </a:p>
        </p:txBody>
      </p:sp>
      <p:sp>
        <p:nvSpPr>
          <p:cNvPr id="6" name="Text 4"/>
          <p:cNvSpPr txBox="1"/>
          <p:nvPr/>
        </p:nvSpPr>
        <p:spPr>
          <a:xfrm>
            <a:off x="868680" y="3337560"/>
            <a:ext cx="4754880" cy="1097280"/>
          </a:xfrm>
          <a:prstGeom prst="rect">
            <a:avLst/>
          </a:prstGeom>
          <a:noFill/>
          <a:ln/>
        </p:spPr>
        <p:txBody>
          <a:bodyPr wrap="square" lIns="0" tIns="0" rIns="0" bIns="0" rtlCol="0" anchor="t"/>
          <a:lstStyle/>
          <a:p>
            <a:pPr algn="l" indent="0" marL="0">
              <a:buNone/>
            </a:pPr>
            <a:r>
              <a:rPr lang="en-US" sz="1700" dirty="0">
                <a:solidFill>
                  <a:srgbClr val="52616A"/>
                </a:solidFill>
                <a:latin typeface="Arial" pitchFamily="34" charset="0"/>
                <a:ea typeface="Arial" pitchFamily="34" charset="-122"/>
                <a:cs typeface="Arial" pitchFamily="34" charset="-120"/>
              </a:rPr>
              <a:t>Vehicle A, rural road mean</a:t>
            </a:r>
            <a:endParaRPr lang="en-US" sz="1700" dirty="0"/>
          </a:p>
          <a:p>
            <a:pPr algn="l" indent="0" marL="0">
              <a:buNone/>
            </a:pPr>
            <a:r>
              <a:rPr lang="en-US" sz="1700" dirty="0">
                <a:solidFill>
                  <a:srgbClr val="52616A"/>
                </a:solidFill>
                <a:latin typeface="Arial" pitchFamily="34" charset="0"/>
                <a:ea typeface="Arial" pitchFamily="34" charset="-122"/>
                <a:cs typeface="Arial" pitchFamily="34" charset="-120"/>
              </a:rPr>
              <a:t>relative to the standard</a:t>
            </a:r>
            <a:endParaRPr lang="en-US" sz="1700" dirty="0"/>
          </a:p>
        </p:txBody>
      </p:sp>
      <p:sp>
        <p:nvSpPr>
          <p:cNvPr id="7" name="Shape 5"/>
          <p:cNvSpPr/>
          <p:nvPr/>
        </p:nvSpPr>
        <p:spPr>
          <a:xfrm>
            <a:off x="6263640" y="1417320"/>
            <a:ext cx="5349240" cy="3246120"/>
          </a:xfrm>
          <a:prstGeom prst="roundRect">
            <a:avLst>
              <a:gd name="adj" fmla="val 2254"/>
            </a:avLst>
          </a:prstGeom>
          <a:solidFill>
            <a:srgbClr val="F1F4F6"/>
          </a:solidFill>
          <a:ln w="12700">
            <a:solidFill>
              <a:srgbClr val="F1F4F6"/>
            </a:solidFill>
            <a:prstDash val="solid"/>
          </a:ln>
        </p:spPr>
      </p:sp>
      <p:sp>
        <p:nvSpPr>
          <p:cNvPr id="8" name="Text 6"/>
          <p:cNvSpPr txBox="1"/>
          <p:nvPr/>
        </p:nvSpPr>
        <p:spPr>
          <a:xfrm>
            <a:off x="6583680" y="1600200"/>
            <a:ext cx="4754880" cy="1005840"/>
          </a:xfrm>
          <a:prstGeom prst="rect">
            <a:avLst/>
          </a:prstGeom>
          <a:noFill/>
          <a:ln/>
        </p:spPr>
        <p:txBody>
          <a:bodyPr wrap="square" lIns="0" tIns="0" rIns="0" bIns="0" rtlCol="0" anchor="t"/>
          <a:lstStyle/>
          <a:p>
            <a:pPr algn="l" indent="0" marL="0">
              <a:buNone/>
            </a:pPr>
            <a:r>
              <a:rPr lang="en-US" sz="6000" b="1" dirty="0">
                <a:solidFill>
                  <a:srgbClr val="C35724"/>
                </a:solidFill>
                <a:latin typeface="Arial" pitchFamily="34" charset="0"/>
                <a:ea typeface="Arial" pitchFamily="34" charset="-122"/>
                <a:cs typeface="Arial" pitchFamily="34" charset="-120"/>
              </a:rPr>
              <a:t>≈68×</a:t>
            </a:r>
            <a:endParaRPr lang="en-US" sz="6000" dirty="0"/>
          </a:p>
        </p:txBody>
      </p:sp>
      <p:sp>
        <p:nvSpPr>
          <p:cNvPr id="9" name="Text 7"/>
          <p:cNvSpPr txBox="1"/>
          <p:nvPr/>
        </p:nvSpPr>
        <p:spPr>
          <a:xfrm>
            <a:off x="6583680" y="2697480"/>
            <a:ext cx="4754880" cy="502920"/>
          </a:xfrm>
          <a:prstGeom prst="rect">
            <a:avLst/>
          </a:prstGeom>
          <a:noFill/>
          <a:ln/>
        </p:spPr>
        <p:txBody>
          <a:bodyPr wrap="square" lIns="0" tIns="0" rIns="0" bIns="0" rtlCol="0" anchor="t"/>
          <a:lstStyle/>
          <a:p>
            <a:pPr algn="l" indent="0" marL="0">
              <a:buNone/>
            </a:pPr>
            <a:r>
              <a:rPr lang="en-US" sz="2400" dirty="0">
                <a:solidFill>
                  <a:srgbClr val="132C3B"/>
                </a:solidFill>
                <a:latin typeface="Arial" pitchFamily="34" charset="0"/>
                <a:ea typeface="Arial" pitchFamily="34" charset="-122"/>
                <a:cs typeface="Arial" pitchFamily="34" charset="-120"/>
              </a:rPr>
              <a:t>1.505 ÷ 0.022</a:t>
            </a:r>
            <a:endParaRPr lang="en-US" sz="2400" dirty="0"/>
          </a:p>
        </p:txBody>
      </p:sp>
      <p:sp>
        <p:nvSpPr>
          <p:cNvPr id="10" name="Text 8"/>
          <p:cNvSpPr txBox="1"/>
          <p:nvPr/>
        </p:nvSpPr>
        <p:spPr>
          <a:xfrm>
            <a:off x="6583680" y="3337560"/>
            <a:ext cx="4754880" cy="1097280"/>
          </a:xfrm>
          <a:prstGeom prst="rect">
            <a:avLst/>
          </a:prstGeom>
          <a:noFill/>
          <a:ln/>
        </p:spPr>
        <p:txBody>
          <a:bodyPr wrap="square" lIns="0" tIns="0" rIns="0" bIns="0" rtlCol="0" anchor="t"/>
          <a:lstStyle/>
          <a:p>
            <a:pPr algn="l" indent="0" marL="0">
              <a:buNone/>
            </a:pPr>
            <a:r>
              <a:rPr lang="en-US" sz="1700" dirty="0">
                <a:solidFill>
                  <a:srgbClr val="52616A"/>
                </a:solidFill>
                <a:latin typeface="Arial" pitchFamily="34" charset="0"/>
                <a:ea typeface="Arial" pitchFamily="34" charset="-122"/>
                <a:cs typeface="Arial" pitchFamily="34" charset="-120"/>
              </a:rPr>
              <a:t>The same road mean relative to</a:t>
            </a:r>
            <a:endParaRPr lang="en-US" sz="1700" dirty="0"/>
          </a:p>
          <a:p>
            <a:pPr algn="l" indent="0" marL="0">
              <a:buNone/>
            </a:pPr>
            <a:r>
              <a:rPr lang="en-US" sz="1700" dirty="0">
                <a:solidFill>
                  <a:srgbClr val="52616A"/>
                </a:solidFill>
                <a:latin typeface="Arial" pitchFamily="34" charset="0"/>
                <a:ea typeface="Arial" pitchFamily="34" charset="-122"/>
                <a:cs typeface="Arial" pitchFamily="34" charset="-120"/>
              </a:rPr>
              <a:t>A’s lab mean (0.022 ± 0.006, two tests)</a:t>
            </a:r>
            <a:endParaRPr lang="en-US" sz="1700" dirty="0"/>
          </a:p>
        </p:txBody>
      </p:sp>
      <p:sp>
        <p:nvSpPr>
          <p:cNvPr id="11" name="Text 9"/>
          <p:cNvSpPr txBox="1"/>
          <p:nvPr/>
        </p:nvSpPr>
        <p:spPr>
          <a:xfrm>
            <a:off x="548640" y="4983480"/>
            <a:ext cx="11064240" cy="731520"/>
          </a:xfrm>
          <a:prstGeom prst="rect">
            <a:avLst/>
          </a:prstGeom>
          <a:noFill/>
          <a:ln/>
        </p:spPr>
        <p:txBody>
          <a:bodyPr wrap="square" lIns="0" tIns="0" rIns="0" bIns="0" rtlCol="0" anchor="t"/>
          <a:lstStyle/>
          <a:p>
            <a:pPr algn="l" indent="0" marL="0">
              <a:buNone/>
            </a:pPr>
            <a:r>
              <a:rPr lang="en-US" sz="1800" b="1" dirty="0">
                <a:solidFill>
                  <a:srgbClr val="132C3B"/>
                </a:solidFill>
                <a:latin typeface="Arial" pitchFamily="34" charset="0"/>
                <a:ea typeface="Arial" pitchFamily="34" charset="-122"/>
                <a:cs typeface="Arial" pitchFamily="34" charset="-120"/>
              </a:rPr>
              <a:t>Report summary: A ≈15–35×; B ≈5–20× the standard, depending on route</a:t>
            </a:r>
            <a:endParaRPr lang="en-US" sz="1800" dirty="0"/>
          </a:p>
        </p:txBody>
      </p:sp>
      <p:sp>
        <p:nvSpPr>
          <p:cNvPr id="12" name="Text 10"/>
          <p:cNvSpPr txBox="1"/>
          <p:nvPr/>
        </p:nvSpPr>
        <p:spPr>
          <a:xfrm>
            <a:off x="548640" y="6236208"/>
            <a:ext cx="10515600" cy="457200"/>
          </a:xfrm>
          <a:prstGeom prst="rect">
            <a:avLst/>
          </a:prstGeom>
          <a:noFill/>
          <a:ln/>
        </p:spPr>
        <p:txBody>
          <a:bodyPr wrap="square" lIns="0" tIns="0" rIns="0" bIns="0" rtlCol="0" anchor="t"/>
          <a:lstStyle/>
          <a:p>
            <a:pPr algn="l" indent="0" marL="0">
              <a:buNone/>
            </a:pPr>
            <a:r>
              <a:rPr lang="en-US" sz="1100" dirty="0">
                <a:solidFill>
                  <a:srgbClr val="52616A"/>
                </a:solidFill>
                <a:latin typeface="Arial" pitchFamily="34" charset="0"/>
                <a:ea typeface="Arial" pitchFamily="34" charset="-122"/>
                <a:cs typeface="Arial" pitchFamily="34" charset="-120"/>
              </a:rPr>
              <a:t>WVU/ICCT (2014), pp. ii–iii (cold start), 62–65; p. 64 (single runs). VW plea (2017), Exh. 2, ¶ 52 (Exh. 2-21). Ratios are our calculations from published means.</a:t>
            </a:r>
            <a:endParaRPr lang="en-US" sz="1100" dirty="0"/>
          </a:p>
        </p:txBody>
      </p:sp>
      <p:sp>
        <p:nvSpPr>
          <p:cNvPr id="13" name="Text 11"/>
          <p:cNvSpPr txBox="1"/>
          <p:nvPr/>
        </p:nvSpPr>
        <p:spPr>
          <a:xfrm>
            <a:off x="11155680" y="6236208"/>
            <a:ext cx="502920" cy="274320"/>
          </a:xfrm>
          <a:prstGeom prst="rect">
            <a:avLst/>
          </a:prstGeom>
          <a:noFill/>
          <a:ln/>
        </p:spPr>
        <p:txBody>
          <a:bodyPr wrap="square" lIns="0" tIns="0" rIns="0" bIns="0" rtlCol="0" anchor="t"/>
          <a:lstStyle/>
          <a:p>
            <a:pPr algn="r" indent="0" marL="0">
              <a:buNone/>
            </a:pPr>
            <a:r>
              <a:rPr lang="en-US" sz="1100" dirty="0">
                <a:solidFill>
                  <a:srgbClr val="52616A"/>
                </a:solidFill>
                <a:latin typeface="Arial" pitchFamily="34" charset="0"/>
                <a:ea typeface="Arial" pitchFamily="34" charset="-122"/>
                <a:cs typeface="Arial"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t"/>
          <a:lstStyle/>
          <a:p>
            <a:pPr algn="l" indent="0" marL="0">
              <a:buNone/>
            </a:pPr>
            <a:r>
              <a:rPr lang="en-US" sz="3200" b="1" dirty="0">
                <a:solidFill>
                  <a:srgbClr val="132C3B"/>
                </a:solidFill>
                <a:latin typeface="Arial" pitchFamily="34" charset="0"/>
                <a:ea typeface="Arial" pitchFamily="34" charset="-122"/>
                <a:cs typeface="Arial" pitchFamily="34" charset="-120"/>
              </a:rPr>
              <a:t>An anomaly still needs testing</a:t>
            </a:r>
            <a:endParaRPr lang="en-US" sz="3200" dirty="0"/>
          </a:p>
        </p:txBody>
      </p:sp>
      <p:sp>
        <p:nvSpPr>
          <p:cNvPr id="3" name="Shape 1"/>
          <p:cNvSpPr/>
          <p:nvPr/>
        </p:nvSpPr>
        <p:spPr>
          <a:xfrm>
            <a:off x="548640" y="1417320"/>
            <a:ext cx="11064240" cy="1234440"/>
          </a:xfrm>
          <a:prstGeom prst="roundRect">
            <a:avLst>
              <a:gd name="adj" fmla="val 5926"/>
            </a:avLst>
          </a:prstGeom>
          <a:solidFill>
            <a:srgbClr val="F1F4F6"/>
          </a:solidFill>
          <a:ln w="12700">
            <a:solidFill>
              <a:srgbClr val="F1F4F6"/>
            </a:solidFill>
            <a:prstDash val="solid"/>
          </a:ln>
        </p:spPr>
      </p:sp>
      <p:sp>
        <p:nvSpPr>
          <p:cNvPr id="4" name="Text 2"/>
          <p:cNvSpPr txBox="1"/>
          <p:nvPr/>
        </p:nvSpPr>
        <p:spPr>
          <a:xfrm>
            <a:off x="868680" y="1801368"/>
            <a:ext cx="3291840" cy="502920"/>
          </a:xfrm>
          <a:prstGeom prst="rect">
            <a:avLst/>
          </a:prstGeom>
          <a:noFill/>
          <a:ln/>
        </p:spPr>
        <p:txBody>
          <a:bodyPr wrap="square" lIns="0" tIns="0" rIns="0" bIns="0" rtlCol="0" anchor="t"/>
          <a:lstStyle/>
          <a:p>
            <a:pPr algn="l" indent="0" marL="0">
              <a:buNone/>
            </a:pPr>
            <a:r>
              <a:rPr lang="en-US" sz="2200" b="1" dirty="0">
                <a:solidFill>
                  <a:srgbClr val="2864B4"/>
                </a:solidFill>
                <a:latin typeface="Arial" pitchFamily="34" charset="0"/>
                <a:ea typeface="Arial" pitchFamily="34" charset="-122"/>
                <a:cs typeface="Arial" pitchFamily="34" charset="-120"/>
              </a:rPr>
              <a:t>Measurement</a:t>
            </a:r>
            <a:endParaRPr lang="en-US" sz="2200" dirty="0"/>
          </a:p>
        </p:txBody>
      </p:sp>
      <p:sp>
        <p:nvSpPr>
          <p:cNvPr id="5" name="Text 3"/>
          <p:cNvSpPr txBox="1"/>
          <p:nvPr/>
        </p:nvSpPr>
        <p:spPr>
          <a:xfrm>
            <a:off x="4297680" y="1801368"/>
            <a:ext cx="7040880" cy="502920"/>
          </a:xfrm>
          <a:prstGeom prst="rect">
            <a:avLst/>
          </a:prstGeom>
          <a:noFill/>
          <a:ln/>
        </p:spPr>
        <p:txBody>
          <a:bodyPr wrap="square" lIns="0" tIns="0" rIns="0" bIns="0" rtlCol="0" anchor="t"/>
          <a:lstStyle/>
          <a:p>
            <a:pPr algn="l" indent="0" marL="0">
              <a:buNone/>
            </a:pPr>
            <a:r>
              <a:rPr lang="en-US" sz="2200" dirty="0">
                <a:solidFill>
                  <a:srgbClr val="132C3B"/>
                </a:solidFill>
                <a:latin typeface="Arial" pitchFamily="34" charset="0"/>
                <a:ea typeface="Arial" pitchFamily="34" charset="-122"/>
                <a:cs typeface="Arial" pitchFamily="34" charset="-120"/>
              </a:rPr>
              <a:t>Check calibration and method agreement</a:t>
            </a:r>
            <a:endParaRPr lang="en-US" sz="2200" dirty="0"/>
          </a:p>
        </p:txBody>
      </p:sp>
      <p:sp>
        <p:nvSpPr>
          <p:cNvPr id="6" name="Shape 4"/>
          <p:cNvSpPr/>
          <p:nvPr/>
        </p:nvSpPr>
        <p:spPr>
          <a:xfrm>
            <a:off x="548640" y="2880360"/>
            <a:ext cx="11064240" cy="1234440"/>
          </a:xfrm>
          <a:prstGeom prst="roundRect">
            <a:avLst>
              <a:gd name="adj" fmla="val 5926"/>
            </a:avLst>
          </a:prstGeom>
          <a:solidFill>
            <a:srgbClr val="F1F4F6"/>
          </a:solidFill>
          <a:ln w="12700">
            <a:solidFill>
              <a:srgbClr val="F1F4F6"/>
            </a:solidFill>
            <a:prstDash val="solid"/>
          </a:ln>
        </p:spPr>
      </p:sp>
      <p:sp>
        <p:nvSpPr>
          <p:cNvPr id="7" name="Text 5"/>
          <p:cNvSpPr txBox="1"/>
          <p:nvPr/>
        </p:nvSpPr>
        <p:spPr>
          <a:xfrm>
            <a:off x="868680" y="3264408"/>
            <a:ext cx="3291840" cy="502920"/>
          </a:xfrm>
          <a:prstGeom prst="rect">
            <a:avLst/>
          </a:prstGeom>
          <a:noFill/>
          <a:ln/>
        </p:spPr>
        <p:txBody>
          <a:bodyPr wrap="square" lIns="0" tIns="0" rIns="0" bIns="0" rtlCol="0" anchor="t"/>
          <a:lstStyle/>
          <a:p>
            <a:pPr algn="l" indent="0" marL="0">
              <a:buNone/>
            </a:pPr>
            <a:r>
              <a:rPr lang="en-US" sz="2200" b="1" dirty="0">
                <a:solidFill>
                  <a:srgbClr val="C35724"/>
                </a:solidFill>
                <a:latin typeface="Arial" pitchFamily="34" charset="0"/>
                <a:ea typeface="Arial" pitchFamily="34" charset="-122"/>
                <a:cs typeface="Arial" pitchFamily="34" charset="-120"/>
              </a:rPr>
              <a:t>Operating conditions</a:t>
            </a:r>
            <a:endParaRPr lang="en-US" sz="2200" dirty="0"/>
          </a:p>
        </p:txBody>
      </p:sp>
      <p:sp>
        <p:nvSpPr>
          <p:cNvPr id="8" name="Text 6"/>
          <p:cNvSpPr txBox="1"/>
          <p:nvPr/>
        </p:nvSpPr>
        <p:spPr>
          <a:xfrm>
            <a:off x="4297680" y="3264408"/>
            <a:ext cx="7040880" cy="502920"/>
          </a:xfrm>
          <a:prstGeom prst="rect">
            <a:avLst/>
          </a:prstGeom>
          <a:noFill/>
          <a:ln/>
        </p:spPr>
        <p:txBody>
          <a:bodyPr wrap="square" lIns="0" tIns="0" rIns="0" bIns="0" rtlCol="0" anchor="t"/>
          <a:lstStyle/>
          <a:p>
            <a:pPr algn="l" indent="0" marL="0">
              <a:buNone/>
            </a:pPr>
            <a:r>
              <a:rPr lang="en-US" sz="2200" dirty="0">
                <a:solidFill>
                  <a:srgbClr val="132C3B"/>
                </a:solidFill>
                <a:latin typeface="Arial" pitchFamily="34" charset="0"/>
                <a:ea typeface="Arial" pitchFamily="34" charset="-122"/>
                <a:cs typeface="Arial" pitchFamily="34" charset="-120"/>
              </a:rPr>
              <a:t>Check route, temperature, load and regeneration</a:t>
            </a:r>
            <a:endParaRPr lang="en-US" sz="2200" dirty="0"/>
          </a:p>
        </p:txBody>
      </p:sp>
      <p:sp>
        <p:nvSpPr>
          <p:cNvPr id="9" name="Shape 7"/>
          <p:cNvSpPr/>
          <p:nvPr/>
        </p:nvSpPr>
        <p:spPr>
          <a:xfrm>
            <a:off x="548640" y="4343400"/>
            <a:ext cx="11064240" cy="1234440"/>
          </a:xfrm>
          <a:prstGeom prst="roundRect">
            <a:avLst>
              <a:gd name="adj" fmla="val 5926"/>
            </a:avLst>
          </a:prstGeom>
          <a:solidFill>
            <a:srgbClr val="F1F4F6"/>
          </a:solidFill>
          <a:ln w="12700">
            <a:solidFill>
              <a:srgbClr val="F1F4F6"/>
            </a:solidFill>
            <a:prstDash val="solid"/>
          </a:ln>
        </p:spPr>
      </p:sp>
      <p:sp>
        <p:nvSpPr>
          <p:cNvPr id="10" name="Text 8"/>
          <p:cNvSpPr txBox="1"/>
          <p:nvPr/>
        </p:nvSpPr>
        <p:spPr>
          <a:xfrm>
            <a:off x="868680" y="4727448"/>
            <a:ext cx="3291840" cy="502920"/>
          </a:xfrm>
          <a:prstGeom prst="rect">
            <a:avLst/>
          </a:prstGeom>
          <a:noFill/>
          <a:ln/>
        </p:spPr>
        <p:txBody>
          <a:bodyPr wrap="square" lIns="0" tIns="0" rIns="0" bIns="0" rtlCol="0" anchor="t"/>
          <a:lstStyle/>
          <a:p>
            <a:pPr algn="l" indent="0" marL="0">
              <a:buNone/>
            </a:pPr>
            <a:r>
              <a:rPr lang="en-US" sz="2200" b="1" dirty="0">
                <a:solidFill>
                  <a:srgbClr val="008778"/>
                </a:solidFill>
                <a:latin typeface="Arial" pitchFamily="34" charset="0"/>
                <a:ea typeface="Arial" pitchFamily="34" charset="-122"/>
                <a:cs typeface="Arial" pitchFamily="34" charset="-120"/>
              </a:rPr>
              <a:t>Inference</a:t>
            </a:r>
            <a:endParaRPr lang="en-US" sz="2200" dirty="0"/>
          </a:p>
        </p:txBody>
      </p:sp>
      <p:sp>
        <p:nvSpPr>
          <p:cNvPr id="11" name="Text 9"/>
          <p:cNvSpPr txBox="1"/>
          <p:nvPr/>
        </p:nvSpPr>
        <p:spPr>
          <a:xfrm>
            <a:off x="4297680" y="4727448"/>
            <a:ext cx="7040880" cy="502920"/>
          </a:xfrm>
          <a:prstGeom prst="rect">
            <a:avLst/>
          </a:prstGeom>
          <a:noFill/>
          <a:ln/>
        </p:spPr>
        <p:txBody>
          <a:bodyPr wrap="square" lIns="0" tIns="0" rIns="0" bIns="0" rtlCol="0" anchor="t"/>
          <a:lstStyle/>
          <a:p>
            <a:pPr algn="l" indent="0" marL="0">
              <a:buNone/>
            </a:pPr>
            <a:r>
              <a:rPr lang="en-US" sz="2200" dirty="0">
                <a:solidFill>
                  <a:srgbClr val="132C3B"/>
                </a:solidFill>
                <a:latin typeface="Arial" pitchFamily="34" charset="0"/>
                <a:ea typeface="Arial" pitchFamily="34" charset="-122"/>
                <a:cs typeface="Arial" pitchFamily="34" charset="-120"/>
              </a:rPr>
              <a:t>Separate a measured gap from its cause</a:t>
            </a:r>
            <a:endParaRPr lang="en-US" sz="2200" dirty="0"/>
          </a:p>
        </p:txBody>
      </p:sp>
      <p:sp>
        <p:nvSpPr>
          <p:cNvPr id="12" name="Text 10"/>
          <p:cNvSpPr txBox="1"/>
          <p:nvPr/>
        </p:nvSpPr>
        <p:spPr>
          <a:xfrm>
            <a:off x="548640" y="6236208"/>
            <a:ext cx="10515600" cy="457200"/>
          </a:xfrm>
          <a:prstGeom prst="rect">
            <a:avLst/>
          </a:prstGeom>
          <a:noFill/>
          <a:ln/>
        </p:spPr>
        <p:txBody>
          <a:bodyPr wrap="square" lIns="0" tIns="0" rIns="0" bIns="0" rtlCol="0" anchor="t"/>
          <a:lstStyle/>
          <a:p>
            <a:pPr algn="l" indent="0" marL="0">
              <a:buNone/>
            </a:pPr>
            <a:r>
              <a:rPr lang="en-US" sz="1100" dirty="0">
                <a:solidFill>
                  <a:srgbClr val="52616A"/>
                </a:solidFill>
                <a:latin typeface="Arial" pitchFamily="34" charset="0"/>
                <a:ea typeface="Arial" pitchFamily="34" charset="-122"/>
                <a:cs typeface="Arial" pitchFamily="34" charset="-120"/>
              </a:rPr>
              <a:t>WVU/ICCT (2014), §3.3.3.3 p. 50 and Table 3.13 p. 55; Table 3.15 p. 57; pp. 62–64; Table 4.3 p. 65; p. iv.</a:t>
            </a:r>
            <a:endParaRPr lang="en-US" sz="1100" dirty="0"/>
          </a:p>
        </p:txBody>
      </p:sp>
      <p:sp>
        <p:nvSpPr>
          <p:cNvPr id="13" name="Text 11"/>
          <p:cNvSpPr txBox="1"/>
          <p:nvPr/>
        </p:nvSpPr>
        <p:spPr>
          <a:xfrm>
            <a:off x="11155680" y="6236208"/>
            <a:ext cx="502920" cy="274320"/>
          </a:xfrm>
          <a:prstGeom prst="rect">
            <a:avLst/>
          </a:prstGeom>
          <a:noFill/>
          <a:ln/>
        </p:spPr>
        <p:txBody>
          <a:bodyPr wrap="square" lIns="0" tIns="0" rIns="0" bIns="0" rtlCol="0" anchor="t"/>
          <a:lstStyle/>
          <a:p>
            <a:pPr algn="r" indent="0" marL="0">
              <a:buNone/>
            </a:pPr>
            <a:r>
              <a:rPr lang="en-US" sz="1100" dirty="0">
                <a:solidFill>
                  <a:srgbClr val="52616A"/>
                </a:solidFill>
                <a:latin typeface="Arial" pitchFamily="34" charset="0"/>
                <a:ea typeface="Arial" pitchFamily="34" charset="-122"/>
                <a:cs typeface="Arial"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t"/>
          <a:lstStyle/>
          <a:p>
            <a:pPr algn="l" indent="0" marL="0">
              <a:buNone/>
            </a:pPr>
            <a:r>
              <a:rPr lang="en-US" sz="3200" b="1" dirty="0">
                <a:solidFill>
                  <a:srgbClr val="132C3B"/>
                </a:solidFill>
                <a:latin typeface="Arial" pitchFamily="34" charset="0"/>
                <a:ea typeface="Arial" pitchFamily="34" charset="-122"/>
                <a:cs typeface="Arial" pitchFamily="34" charset="-120"/>
              </a:rPr>
              <a:t>What VW did to the test</a:t>
            </a:r>
            <a:endParaRPr lang="en-US" sz="3200" dirty="0"/>
          </a:p>
        </p:txBody>
      </p:sp>
      <p:sp>
        <p:nvSpPr>
          <p:cNvPr id="3" name="Text 1"/>
          <p:cNvSpPr txBox="1"/>
          <p:nvPr/>
        </p:nvSpPr>
        <p:spPr>
          <a:xfrm>
            <a:off x="548640" y="1325880"/>
            <a:ext cx="11064240" cy="731520"/>
          </a:xfrm>
          <a:prstGeom prst="rect">
            <a:avLst/>
          </a:prstGeom>
          <a:noFill/>
          <a:ln/>
        </p:spPr>
        <p:txBody>
          <a:bodyPr wrap="square" lIns="0" tIns="0" rIns="0" bIns="0" rtlCol="0" anchor="t"/>
          <a:lstStyle/>
          <a:p>
            <a:pPr algn="l" indent="0" marL="0">
              <a:buNone/>
            </a:pPr>
            <a:r>
              <a:rPr lang="en-US" sz="2000" b="1" dirty="0">
                <a:solidFill>
                  <a:srgbClr val="132C3B"/>
                </a:solidFill>
                <a:latin typeface="Arial" pitchFamily="34" charset="0"/>
                <a:ea typeface="Arial" pitchFamily="34" charset="-122"/>
                <a:cs typeface="Arial" pitchFamily="34" charset="-120"/>
              </a:rPr>
              <a:t>The “switch” read steering position, speed, engine run time and barometric pressure</a:t>
            </a:r>
            <a:endParaRPr lang="en-US" sz="2000" dirty="0"/>
          </a:p>
        </p:txBody>
      </p:sp>
      <p:sp>
        <p:nvSpPr>
          <p:cNvPr id="4" name="Shape 2"/>
          <p:cNvSpPr/>
          <p:nvPr/>
        </p:nvSpPr>
        <p:spPr>
          <a:xfrm>
            <a:off x="548640" y="2194560"/>
            <a:ext cx="5349240" cy="2743200"/>
          </a:xfrm>
          <a:prstGeom prst="roundRect">
            <a:avLst>
              <a:gd name="adj" fmla="val 2667"/>
            </a:avLst>
          </a:prstGeom>
          <a:solidFill>
            <a:srgbClr val="F1F4F6"/>
          </a:solidFill>
          <a:ln w="12700">
            <a:solidFill>
              <a:srgbClr val="F1F4F6"/>
            </a:solidFill>
            <a:prstDash val="solid"/>
          </a:ln>
        </p:spPr>
      </p:sp>
      <p:sp>
        <p:nvSpPr>
          <p:cNvPr id="5" name="Text 3"/>
          <p:cNvSpPr txBox="1"/>
          <p:nvPr/>
        </p:nvSpPr>
        <p:spPr>
          <a:xfrm>
            <a:off x="868680" y="2423160"/>
            <a:ext cx="4754880" cy="365760"/>
          </a:xfrm>
          <a:prstGeom prst="rect">
            <a:avLst/>
          </a:prstGeom>
          <a:noFill/>
          <a:ln/>
        </p:spPr>
        <p:txBody>
          <a:bodyPr wrap="square" lIns="0" tIns="0" rIns="0" bIns="0" rtlCol="0" anchor="t"/>
          <a:lstStyle/>
          <a:p>
            <a:pPr algn="l" indent="0" marL="0">
              <a:buNone/>
            </a:pPr>
            <a:r>
              <a:rPr lang="en-US" sz="1600" b="1" dirty="0">
                <a:solidFill>
                  <a:srgbClr val="2864B4"/>
                </a:solidFill>
                <a:latin typeface="Arial" pitchFamily="34" charset="0"/>
                <a:ea typeface="Arial" pitchFamily="34" charset="-122"/>
                <a:cs typeface="Arial" pitchFamily="34" charset="-120"/>
              </a:rPr>
              <a:t>Official test recognised</a:t>
            </a:r>
            <a:endParaRPr lang="en-US" sz="1600" dirty="0"/>
          </a:p>
        </p:txBody>
      </p:sp>
      <p:sp>
        <p:nvSpPr>
          <p:cNvPr id="6" name="Text 4"/>
          <p:cNvSpPr txBox="1"/>
          <p:nvPr/>
        </p:nvSpPr>
        <p:spPr>
          <a:xfrm>
            <a:off x="868680" y="2880360"/>
            <a:ext cx="4754880" cy="640080"/>
          </a:xfrm>
          <a:prstGeom prst="rect">
            <a:avLst/>
          </a:prstGeom>
          <a:noFill/>
          <a:ln/>
        </p:spPr>
        <p:txBody>
          <a:bodyPr wrap="square" lIns="0" tIns="0" rIns="0" bIns="0" rtlCol="0" anchor="t"/>
          <a:lstStyle/>
          <a:p>
            <a:pPr algn="l" indent="0" marL="0">
              <a:buNone/>
            </a:pPr>
            <a:r>
              <a:rPr lang="en-US" sz="2800" b="1" dirty="0">
                <a:solidFill>
                  <a:srgbClr val="132C3B"/>
                </a:solidFill>
                <a:latin typeface="Arial" pitchFamily="34" charset="0"/>
                <a:ea typeface="Arial" pitchFamily="34" charset="-122"/>
                <a:cs typeface="Arial" pitchFamily="34" charset="-120"/>
              </a:rPr>
              <a:t>“Dyno calibration”</a:t>
            </a:r>
            <a:endParaRPr lang="en-US" sz="2800" dirty="0"/>
          </a:p>
        </p:txBody>
      </p:sp>
      <p:sp>
        <p:nvSpPr>
          <p:cNvPr id="7" name="Text 5"/>
          <p:cNvSpPr txBox="1"/>
          <p:nvPr/>
        </p:nvSpPr>
        <p:spPr>
          <a:xfrm>
            <a:off x="868680" y="3657600"/>
            <a:ext cx="4754880" cy="1097280"/>
          </a:xfrm>
          <a:prstGeom prst="rect">
            <a:avLst/>
          </a:prstGeom>
          <a:noFill/>
          <a:ln/>
        </p:spPr>
        <p:txBody>
          <a:bodyPr wrap="square" lIns="0" tIns="0" rIns="0" bIns="0" rtlCol="0" anchor="t"/>
          <a:lstStyle/>
          <a:p>
            <a:pPr algn="l" indent="0" marL="0">
              <a:buNone/>
            </a:pPr>
            <a:r>
              <a:rPr lang="en-US" sz="1800" dirty="0">
                <a:solidFill>
                  <a:srgbClr val="52616A"/>
                </a:solidFill>
                <a:latin typeface="Arial" pitchFamily="34" charset="0"/>
                <a:ea typeface="Arial" pitchFamily="34" charset="-122"/>
                <a:cs typeface="Arial" pitchFamily="34" charset="-120"/>
              </a:rPr>
              <a:t>Full emissions control:</a:t>
            </a:r>
            <a:endParaRPr lang="en-US" sz="1800" dirty="0"/>
          </a:p>
          <a:p>
            <a:pPr algn="l" indent="0" marL="0">
              <a:buNone/>
            </a:pPr>
            <a:r>
              <a:rPr lang="en-US" sz="1800" dirty="0">
                <a:solidFill>
                  <a:srgbClr val="52616A"/>
                </a:solidFill>
                <a:latin typeface="Arial" pitchFamily="34" charset="0"/>
                <a:ea typeface="Arial" pitchFamily="34" charset="-122"/>
                <a:cs typeface="Arial" pitchFamily="34" charset="-120"/>
              </a:rPr>
              <a:t>compliant laboratory results</a:t>
            </a:r>
            <a:endParaRPr lang="en-US" sz="1800" dirty="0"/>
          </a:p>
        </p:txBody>
      </p:sp>
      <p:sp>
        <p:nvSpPr>
          <p:cNvPr id="8" name="Shape 6"/>
          <p:cNvSpPr/>
          <p:nvPr/>
        </p:nvSpPr>
        <p:spPr>
          <a:xfrm>
            <a:off x="6263640" y="2194560"/>
            <a:ext cx="5349240" cy="2743200"/>
          </a:xfrm>
          <a:prstGeom prst="roundRect">
            <a:avLst>
              <a:gd name="adj" fmla="val 2667"/>
            </a:avLst>
          </a:prstGeom>
          <a:solidFill>
            <a:srgbClr val="F1F4F6"/>
          </a:solidFill>
          <a:ln w="12700">
            <a:solidFill>
              <a:srgbClr val="F1F4F6"/>
            </a:solidFill>
            <a:prstDash val="solid"/>
          </a:ln>
        </p:spPr>
      </p:sp>
      <p:sp>
        <p:nvSpPr>
          <p:cNvPr id="9" name="Text 7"/>
          <p:cNvSpPr txBox="1"/>
          <p:nvPr/>
        </p:nvSpPr>
        <p:spPr>
          <a:xfrm>
            <a:off x="6583680" y="2423160"/>
            <a:ext cx="4754880" cy="365760"/>
          </a:xfrm>
          <a:prstGeom prst="rect">
            <a:avLst/>
          </a:prstGeom>
          <a:noFill/>
          <a:ln/>
        </p:spPr>
        <p:txBody>
          <a:bodyPr wrap="square" lIns="0" tIns="0" rIns="0" bIns="0" rtlCol="0" anchor="t"/>
          <a:lstStyle/>
          <a:p>
            <a:pPr algn="l" indent="0" marL="0">
              <a:buNone/>
            </a:pPr>
            <a:r>
              <a:rPr lang="en-US" sz="1600" b="1" dirty="0">
                <a:solidFill>
                  <a:srgbClr val="C35724"/>
                </a:solidFill>
                <a:latin typeface="Arial" pitchFamily="34" charset="0"/>
                <a:ea typeface="Arial" pitchFamily="34" charset="-122"/>
                <a:cs typeface="Arial" pitchFamily="34" charset="-120"/>
              </a:rPr>
              <a:t>Normal driving</a:t>
            </a:r>
            <a:endParaRPr lang="en-US" sz="1600" dirty="0"/>
          </a:p>
        </p:txBody>
      </p:sp>
      <p:sp>
        <p:nvSpPr>
          <p:cNvPr id="10" name="Text 8"/>
          <p:cNvSpPr txBox="1"/>
          <p:nvPr/>
        </p:nvSpPr>
        <p:spPr>
          <a:xfrm>
            <a:off x="6583680" y="2880360"/>
            <a:ext cx="4754880" cy="640080"/>
          </a:xfrm>
          <a:prstGeom prst="rect">
            <a:avLst/>
          </a:prstGeom>
          <a:noFill/>
          <a:ln/>
        </p:spPr>
        <p:txBody>
          <a:bodyPr wrap="square" lIns="0" tIns="0" rIns="0" bIns="0" rtlCol="0" anchor="t"/>
          <a:lstStyle/>
          <a:p>
            <a:pPr algn="l" indent="0" marL="0">
              <a:buNone/>
            </a:pPr>
            <a:r>
              <a:rPr lang="en-US" sz="2800" b="1" dirty="0">
                <a:solidFill>
                  <a:srgbClr val="132C3B"/>
                </a:solidFill>
                <a:latin typeface="Arial" pitchFamily="34" charset="0"/>
                <a:ea typeface="Arial" pitchFamily="34" charset="-122"/>
                <a:cs typeface="Arial" pitchFamily="34" charset="-120"/>
              </a:rPr>
              <a:t>“Road calibration”</a:t>
            </a:r>
            <a:endParaRPr lang="en-US" sz="2800" dirty="0"/>
          </a:p>
        </p:txBody>
      </p:sp>
      <p:sp>
        <p:nvSpPr>
          <p:cNvPr id="11" name="Text 9"/>
          <p:cNvSpPr txBox="1"/>
          <p:nvPr/>
        </p:nvSpPr>
        <p:spPr>
          <a:xfrm>
            <a:off x="6583680" y="3657600"/>
            <a:ext cx="4754880" cy="1097280"/>
          </a:xfrm>
          <a:prstGeom prst="rect">
            <a:avLst/>
          </a:prstGeom>
          <a:noFill/>
          <a:ln/>
        </p:spPr>
        <p:txBody>
          <a:bodyPr wrap="square" lIns="0" tIns="0" rIns="0" bIns="0" rtlCol="0" anchor="t"/>
          <a:lstStyle/>
          <a:p>
            <a:pPr algn="l" indent="0" marL="0">
              <a:buNone/>
            </a:pPr>
            <a:r>
              <a:rPr lang="en-US" sz="1800" dirty="0">
                <a:solidFill>
                  <a:srgbClr val="52616A"/>
                </a:solidFill>
                <a:latin typeface="Arial" pitchFamily="34" charset="0"/>
                <a:ea typeface="Arial" pitchFamily="34" charset="-122"/>
                <a:cs typeface="Arial" pitchFamily="34" charset="-120"/>
              </a:rPr>
              <a:t>SCR / lean-NOx-trap control</a:t>
            </a:r>
            <a:endParaRPr lang="en-US" sz="1800" dirty="0"/>
          </a:p>
          <a:p>
            <a:pPr algn="l" indent="0" marL="0">
              <a:buNone/>
            </a:pPr>
            <a:r>
              <a:rPr lang="en-US" sz="1800" dirty="0">
                <a:solidFill>
                  <a:srgbClr val="52616A"/>
                </a:solidFill>
                <a:latin typeface="Arial" pitchFamily="34" charset="0"/>
                <a:ea typeface="Arial" pitchFamily="34" charset="-122"/>
                <a:cs typeface="Arial" pitchFamily="34" charset="-120"/>
              </a:rPr>
              <a:t>weakened on the road</a:t>
            </a:r>
            <a:endParaRPr lang="en-US" sz="1800" dirty="0"/>
          </a:p>
        </p:txBody>
      </p:sp>
      <p:sp>
        <p:nvSpPr>
          <p:cNvPr id="12" name="Text 10"/>
          <p:cNvSpPr txBox="1"/>
          <p:nvPr/>
        </p:nvSpPr>
        <p:spPr>
          <a:xfrm>
            <a:off x="548640" y="5212080"/>
            <a:ext cx="11064240" cy="457200"/>
          </a:xfrm>
          <a:prstGeom prst="rect">
            <a:avLst/>
          </a:prstGeom>
          <a:noFill/>
          <a:ln/>
        </p:spPr>
        <p:txBody>
          <a:bodyPr wrap="square" lIns="0" tIns="0" rIns="0" bIns="0" rtlCol="0" anchor="t"/>
          <a:lstStyle/>
          <a:p>
            <a:pPr algn="l" indent="0" marL="0">
              <a:buNone/>
            </a:pPr>
            <a:r>
              <a:rPr lang="en-US" sz="1300" dirty="0">
                <a:solidFill>
                  <a:srgbClr val="52616A"/>
                </a:solidFill>
                <a:latin typeface="Arial" pitchFamily="34" charset="0"/>
                <a:ea typeface="Arial" pitchFamily="34" charset="-122"/>
                <a:cs typeface="Arial" pitchFamily="34" charset="-120"/>
              </a:rPr>
              <a:t>Summary of EPA NOV pp. 3–4 and plea ¶¶ 34, 49–50; a simplification, not the source code</a:t>
            </a:r>
            <a:endParaRPr lang="en-US" sz="1300" dirty="0"/>
          </a:p>
        </p:txBody>
      </p:sp>
      <p:sp>
        <p:nvSpPr>
          <p:cNvPr id="13" name="Text 11"/>
          <p:cNvSpPr txBox="1"/>
          <p:nvPr/>
        </p:nvSpPr>
        <p:spPr>
          <a:xfrm>
            <a:off x="548640" y="6236208"/>
            <a:ext cx="10515600" cy="457200"/>
          </a:xfrm>
          <a:prstGeom prst="rect">
            <a:avLst/>
          </a:prstGeom>
          <a:noFill/>
          <a:ln/>
        </p:spPr>
        <p:txBody>
          <a:bodyPr wrap="square" lIns="0" tIns="0" rIns="0" bIns="0" rtlCol="0" anchor="t"/>
          <a:lstStyle/>
          <a:p>
            <a:pPr algn="l" indent="0" marL="0">
              <a:buNone/>
            </a:pPr>
            <a:r>
              <a:rPr lang="en-US" sz="1100" dirty="0">
                <a:solidFill>
                  <a:srgbClr val="52616A"/>
                </a:solidFill>
                <a:latin typeface="Arial" pitchFamily="34" charset="0"/>
                <a:ea typeface="Arial" pitchFamily="34" charset="-122"/>
                <a:cs typeface="Arial" pitchFamily="34" charset="-120"/>
              </a:rPr>
              <a:t>EPA NOV (2015), pp. 3–4; VW plea (2017), Exh. 2, ¶ 34 (Exh. 2 pp. 12–13), ¶¶ 49–51 (Exh. 2 pp. 19–20).</a:t>
            </a:r>
            <a:endParaRPr lang="en-US" sz="1100" dirty="0"/>
          </a:p>
        </p:txBody>
      </p:sp>
      <p:sp>
        <p:nvSpPr>
          <p:cNvPr id="14" name="Text 12"/>
          <p:cNvSpPr txBox="1"/>
          <p:nvPr/>
        </p:nvSpPr>
        <p:spPr>
          <a:xfrm>
            <a:off x="11155680" y="6236208"/>
            <a:ext cx="502920" cy="274320"/>
          </a:xfrm>
          <a:prstGeom prst="rect">
            <a:avLst/>
          </a:prstGeom>
          <a:noFill/>
          <a:ln/>
        </p:spPr>
        <p:txBody>
          <a:bodyPr wrap="square" lIns="0" tIns="0" rIns="0" bIns="0" rtlCol="0" anchor="t"/>
          <a:lstStyle/>
          <a:p>
            <a:pPr algn="r" indent="0" marL="0">
              <a:buNone/>
            </a:pPr>
            <a:r>
              <a:rPr lang="en-US" sz="1100" dirty="0">
                <a:solidFill>
                  <a:srgbClr val="52616A"/>
                </a:solidFill>
                <a:latin typeface="Arial" pitchFamily="34" charset="0"/>
                <a:ea typeface="Arial" pitchFamily="34" charset="-122"/>
                <a:cs typeface="Arial"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t"/>
          <a:lstStyle/>
          <a:p>
            <a:pPr algn="l" indent="0" marL="0">
              <a:buNone/>
            </a:pPr>
            <a:r>
              <a:rPr lang="en-US" sz="3200" b="1" dirty="0">
                <a:solidFill>
                  <a:srgbClr val="132C3B"/>
                </a:solidFill>
                <a:latin typeface="Arial" pitchFamily="34" charset="0"/>
                <a:ea typeface="Arial" pitchFamily="34" charset="-122"/>
                <a:cs typeface="Arial" pitchFamily="34" charset="-120"/>
              </a:rPr>
              <a:t>Where the line was crossed</a:t>
            </a:r>
            <a:endParaRPr lang="en-US" sz="3200" dirty="0"/>
          </a:p>
        </p:txBody>
      </p:sp>
      <p:sp>
        <p:nvSpPr>
          <p:cNvPr id="3" name="Shape 1"/>
          <p:cNvSpPr/>
          <p:nvPr/>
        </p:nvSpPr>
        <p:spPr>
          <a:xfrm>
            <a:off x="694944" y="2331720"/>
            <a:ext cx="9372600" cy="0"/>
          </a:xfrm>
          <a:prstGeom prst="line">
            <a:avLst/>
          </a:prstGeom>
          <a:noFill/>
          <a:ln w="25400">
            <a:solidFill>
              <a:srgbClr val="A2AAAD"/>
            </a:solidFill>
            <a:prstDash val="solid"/>
          </a:ln>
        </p:spPr>
      </p:sp>
      <p:sp>
        <p:nvSpPr>
          <p:cNvPr id="4" name="Text 2"/>
          <p:cNvSpPr txBox="1"/>
          <p:nvPr/>
        </p:nvSpPr>
        <p:spPr>
          <a:xfrm>
            <a:off x="548640" y="1417320"/>
            <a:ext cx="1691640" cy="274320"/>
          </a:xfrm>
          <a:prstGeom prst="rect">
            <a:avLst/>
          </a:prstGeom>
          <a:noFill/>
          <a:ln/>
        </p:spPr>
        <p:txBody>
          <a:bodyPr wrap="square" lIns="0" tIns="0" rIns="0" bIns="0" rtlCol="0" anchor="t"/>
          <a:lstStyle/>
          <a:p>
            <a:pPr algn="l" indent="0" marL="0">
              <a:buNone/>
            </a:pPr>
            <a:r>
              <a:rPr lang="en-US" sz="1200" b="1" dirty="0">
                <a:solidFill>
                  <a:srgbClr val="B6293E"/>
                </a:solidFill>
                <a:latin typeface="Arial" pitchFamily="34" charset="0"/>
                <a:ea typeface="Arial" pitchFamily="34" charset="-122"/>
                <a:cs typeface="Arial" pitchFamily="34" charset="-120"/>
              </a:rPr>
              <a:t>LINE CROSSED</a:t>
            </a:r>
            <a:endParaRPr lang="en-US" sz="1200" dirty="0"/>
          </a:p>
        </p:txBody>
      </p:sp>
      <p:sp>
        <p:nvSpPr>
          <p:cNvPr id="5" name="Shape 3"/>
          <p:cNvSpPr/>
          <p:nvPr/>
        </p:nvSpPr>
        <p:spPr>
          <a:xfrm>
            <a:off x="548640" y="2185416"/>
            <a:ext cx="292608" cy="292608"/>
          </a:xfrm>
          <a:prstGeom prst="ellipse">
            <a:avLst/>
          </a:prstGeom>
          <a:solidFill>
            <a:srgbClr val="B6293E"/>
          </a:solidFill>
          <a:ln w="19050">
            <a:solidFill>
              <a:srgbClr val="FFFFFF"/>
            </a:solidFill>
            <a:prstDash val="solid"/>
          </a:ln>
        </p:spPr>
      </p:sp>
      <p:sp>
        <p:nvSpPr>
          <p:cNvPr id="6" name="Text 4"/>
          <p:cNvSpPr txBox="1"/>
          <p:nvPr/>
        </p:nvSpPr>
        <p:spPr>
          <a:xfrm>
            <a:off x="548640" y="1737360"/>
            <a:ext cx="1691640" cy="365760"/>
          </a:xfrm>
          <a:prstGeom prst="rect">
            <a:avLst/>
          </a:prstGeom>
          <a:noFill/>
          <a:ln/>
        </p:spPr>
        <p:txBody>
          <a:bodyPr wrap="square" lIns="0" tIns="0" rIns="0" bIns="0" rtlCol="0" anchor="t"/>
          <a:lstStyle/>
          <a:p>
            <a:pPr algn="l" indent="0" marL="0">
              <a:buNone/>
            </a:pPr>
            <a:r>
              <a:rPr lang="en-US" sz="1800" b="1" dirty="0">
                <a:solidFill>
                  <a:srgbClr val="B6293E"/>
                </a:solidFill>
                <a:latin typeface="Arial" pitchFamily="34" charset="0"/>
                <a:ea typeface="Arial" pitchFamily="34" charset="-122"/>
                <a:cs typeface="Arial" pitchFamily="34" charset="-120"/>
              </a:rPr>
              <a:t>2006</a:t>
            </a:r>
            <a:endParaRPr lang="en-US" sz="1800" dirty="0"/>
          </a:p>
        </p:txBody>
      </p:sp>
      <p:sp>
        <p:nvSpPr>
          <p:cNvPr id="7" name="Text 5"/>
          <p:cNvSpPr txBox="1"/>
          <p:nvPr/>
        </p:nvSpPr>
        <p:spPr>
          <a:xfrm>
            <a:off x="548640" y="2651760"/>
            <a:ext cx="1691640" cy="365760"/>
          </a:xfrm>
          <a:prstGeom prst="rect">
            <a:avLst/>
          </a:prstGeom>
          <a:noFill/>
          <a:ln/>
        </p:spPr>
        <p:txBody>
          <a:bodyPr wrap="square" lIns="0" tIns="0" rIns="0" bIns="0" rtlCol="0" anchor="t"/>
          <a:lstStyle/>
          <a:p>
            <a:pPr algn="l" indent="0" marL="0">
              <a:buNone/>
            </a:pPr>
            <a:r>
              <a:rPr lang="en-US" sz="1500" b="1" dirty="0">
                <a:solidFill>
                  <a:srgbClr val="B6293E"/>
                </a:solidFill>
                <a:latin typeface="Arial" pitchFamily="34" charset="0"/>
                <a:ea typeface="Arial" pitchFamily="34" charset="-122"/>
                <a:cs typeface="Arial" pitchFamily="34" charset="-120"/>
              </a:rPr>
              <a:t>Design decision</a:t>
            </a:r>
            <a:endParaRPr lang="en-US" sz="1500" dirty="0"/>
          </a:p>
        </p:txBody>
      </p:sp>
      <p:sp>
        <p:nvSpPr>
          <p:cNvPr id="8" name="Text 6"/>
          <p:cNvSpPr txBox="1"/>
          <p:nvPr/>
        </p:nvSpPr>
        <p:spPr>
          <a:xfrm>
            <a:off x="548640" y="3017520"/>
            <a:ext cx="1691640" cy="1234440"/>
          </a:xfrm>
          <a:prstGeom prst="rect">
            <a:avLst/>
          </a:prstGeom>
          <a:noFill/>
          <a:ln/>
        </p:spPr>
        <p:txBody>
          <a:bodyPr wrap="square" lIns="0" tIns="0" rIns="0" bIns="0" rtlCol="0" anchor="t"/>
          <a:lstStyle/>
          <a:p>
            <a:pPr algn="l" indent="0" marL="0">
              <a:buNone/>
            </a:pPr>
            <a:r>
              <a:rPr lang="en-US" sz="1300" dirty="0">
                <a:solidFill>
                  <a:srgbClr val="132C3B"/>
                </a:solidFill>
                <a:latin typeface="Arial" pitchFamily="34" charset="0"/>
                <a:ea typeface="Arial" pitchFamily="34" charset="-122"/>
                <a:cs typeface="Arial" pitchFamily="34" charset="-120"/>
              </a:rPr>
              <a:t>Engine could not meet NOx rules and still sell; software built to detect the test</a:t>
            </a:r>
            <a:endParaRPr lang="en-US" sz="1300" dirty="0"/>
          </a:p>
        </p:txBody>
      </p:sp>
      <p:sp>
        <p:nvSpPr>
          <p:cNvPr id="9" name="Text 7"/>
          <p:cNvSpPr txBox="1"/>
          <p:nvPr/>
        </p:nvSpPr>
        <p:spPr>
          <a:xfrm>
            <a:off x="548640" y="4297680"/>
            <a:ext cx="1691640" cy="274320"/>
          </a:xfrm>
          <a:prstGeom prst="rect">
            <a:avLst/>
          </a:prstGeom>
          <a:noFill/>
          <a:ln/>
        </p:spPr>
        <p:txBody>
          <a:bodyPr wrap="square" lIns="0" tIns="0" rIns="0" bIns="0" rtlCol="0" anchor="t"/>
          <a:lstStyle/>
          <a:p>
            <a:pPr algn="l" indent="0" marL="0">
              <a:buNone/>
            </a:pPr>
            <a:r>
              <a:rPr lang="en-US" sz="1100" dirty="0">
                <a:solidFill>
                  <a:srgbClr val="52616A"/>
                </a:solidFill>
                <a:latin typeface="Arial" pitchFamily="34" charset="0"/>
                <a:ea typeface="Arial" pitchFamily="34" charset="-122"/>
                <a:cs typeface="Arial" pitchFamily="34" charset="-120"/>
              </a:rPr>
              <a:t>¶¶ 33–36</a:t>
            </a:r>
            <a:endParaRPr lang="en-US" sz="1100" dirty="0"/>
          </a:p>
        </p:txBody>
      </p:sp>
      <p:sp>
        <p:nvSpPr>
          <p:cNvPr id="10" name="Shape 8"/>
          <p:cNvSpPr/>
          <p:nvPr/>
        </p:nvSpPr>
        <p:spPr>
          <a:xfrm>
            <a:off x="2423160" y="2185416"/>
            <a:ext cx="292608" cy="292608"/>
          </a:xfrm>
          <a:prstGeom prst="ellipse">
            <a:avLst/>
          </a:prstGeom>
          <a:solidFill>
            <a:srgbClr val="132C3B"/>
          </a:solidFill>
          <a:ln w="19050">
            <a:solidFill>
              <a:srgbClr val="FFFFFF"/>
            </a:solidFill>
            <a:prstDash val="solid"/>
          </a:ln>
        </p:spPr>
      </p:sp>
      <p:sp>
        <p:nvSpPr>
          <p:cNvPr id="11" name="Text 9"/>
          <p:cNvSpPr txBox="1"/>
          <p:nvPr/>
        </p:nvSpPr>
        <p:spPr>
          <a:xfrm>
            <a:off x="2423160" y="1737360"/>
            <a:ext cx="1691640" cy="365760"/>
          </a:xfrm>
          <a:prstGeom prst="rect">
            <a:avLst/>
          </a:prstGeom>
          <a:noFill/>
          <a:ln/>
        </p:spPr>
        <p:txBody>
          <a:bodyPr wrap="square" lIns="0" tIns="0" rIns="0" bIns="0" rtlCol="0" anchor="t"/>
          <a:lstStyle/>
          <a:p>
            <a:pPr algn="l" indent="0" marL="0">
              <a:buNone/>
            </a:pPr>
            <a:r>
              <a:rPr lang="en-US" sz="1800" b="1" dirty="0">
                <a:solidFill>
                  <a:srgbClr val="132C3B"/>
                </a:solidFill>
                <a:latin typeface="Arial" pitchFamily="34" charset="0"/>
                <a:ea typeface="Arial" pitchFamily="34" charset="-122"/>
                <a:cs typeface="Arial" pitchFamily="34" charset="-120"/>
              </a:rPr>
              <a:t>2009–15</a:t>
            </a:r>
            <a:endParaRPr lang="en-US" sz="1800" dirty="0"/>
          </a:p>
        </p:txBody>
      </p:sp>
      <p:sp>
        <p:nvSpPr>
          <p:cNvPr id="12" name="Text 10"/>
          <p:cNvSpPr txBox="1"/>
          <p:nvPr/>
        </p:nvSpPr>
        <p:spPr>
          <a:xfrm>
            <a:off x="2423160" y="2651760"/>
            <a:ext cx="1691640" cy="365760"/>
          </a:xfrm>
          <a:prstGeom prst="rect">
            <a:avLst/>
          </a:prstGeom>
          <a:noFill/>
          <a:ln/>
        </p:spPr>
        <p:txBody>
          <a:bodyPr wrap="square" lIns="0" tIns="0" rIns="0" bIns="0" rtlCol="0" anchor="t"/>
          <a:lstStyle/>
          <a:p>
            <a:pPr algn="l" indent="0" marL="0">
              <a:buNone/>
            </a:pPr>
            <a:r>
              <a:rPr lang="en-US" sz="1500" b="1" dirty="0">
                <a:solidFill>
                  <a:srgbClr val="132C3B"/>
                </a:solidFill>
                <a:latin typeface="Arial" pitchFamily="34" charset="0"/>
                <a:ea typeface="Arial" pitchFamily="34" charset="-122"/>
                <a:cs typeface="Arial" pitchFamily="34" charset="-120"/>
              </a:rPr>
              <a:t>Sales</a:t>
            </a:r>
            <a:endParaRPr lang="en-US" sz="1500" dirty="0"/>
          </a:p>
        </p:txBody>
      </p:sp>
      <p:sp>
        <p:nvSpPr>
          <p:cNvPr id="13" name="Text 11"/>
          <p:cNvSpPr txBox="1"/>
          <p:nvPr/>
        </p:nvSpPr>
        <p:spPr>
          <a:xfrm>
            <a:off x="2423160" y="3017520"/>
            <a:ext cx="1691640" cy="1234440"/>
          </a:xfrm>
          <a:prstGeom prst="rect">
            <a:avLst/>
          </a:prstGeom>
          <a:noFill/>
          <a:ln/>
        </p:spPr>
        <p:txBody>
          <a:bodyPr wrap="square" lIns="0" tIns="0" rIns="0" bIns="0" rtlCol="0" anchor="t"/>
          <a:lstStyle/>
          <a:p>
            <a:pPr algn="l" indent="0" marL="0">
              <a:buNone/>
            </a:pPr>
            <a:r>
              <a:rPr lang="en-US" sz="1300" dirty="0">
                <a:solidFill>
                  <a:srgbClr val="132C3B"/>
                </a:solidFill>
                <a:latin typeface="Arial" pitchFamily="34" charset="0"/>
                <a:ea typeface="Arial" pitchFamily="34" charset="-122"/>
                <a:cs typeface="Arial" pitchFamily="34" charset="-120"/>
              </a:rPr>
              <a:t>About 585,000 U.S. vehicles sold with defeat software</a:t>
            </a:r>
            <a:endParaRPr lang="en-US" sz="1300" dirty="0"/>
          </a:p>
        </p:txBody>
      </p:sp>
      <p:sp>
        <p:nvSpPr>
          <p:cNvPr id="14" name="Text 12"/>
          <p:cNvSpPr txBox="1"/>
          <p:nvPr/>
        </p:nvSpPr>
        <p:spPr>
          <a:xfrm>
            <a:off x="2423160" y="4297680"/>
            <a:ext cx="1691640" cy="274320"/>
          </a:xfrm>
          <a:prstGeom prst="rect">
            <a:avLst/>
          </a:prstGeom>
          <a:noFill/>
          <a:ln/>
        </p:spPr>
        <p:txBody>
          <a:bodyPr wrap="square" lIns="0" tIns="0" rIns="0" bIns="0" rtlCol="0" anchor="t"/>
          <a:lstStyle/>
          <a:p>
            <a:pPr algn="l" indent="0" marL="0">
              <a:buNone/>
            </a:pPr>
            <a:r>
              <a:rPr lang="en-US" sz="1100" dirty="0">
                <a:solidFill>
                  <a:srgbClr val="52616A"/>
                </a:solidFill>
                <a:latin typeface="Arial" pitchFamily="34" charset="0"/>
                <a:ea typeface="Arial" pitchFamily="34" charset="-122"/>
                <a:cs typeface="Arial" pitchFamily="34" charset="-120"/>
              </a:rPr>
              <a:t>¶ 72</a:t>
            </a:r>
            <a:endParaRPr lang="en-US" sz="1100" dirty="0"/>
          </a:p>
        </p:txBody>
      </p:sp>
      <p:sp>
        <p:nvSpPr>
          <p:cNvPr id="15" name="Shape 13"/>
          <p:cNvSpPr/>
          <p:nvPr/>
        </p:nvSpPr>
        <p:spPr>
          <a:xfrm>
            <a:off x="4297680" y="2185416"/>
            <a:ext cx="292608" cy="292608"/>
          </a:xfrm>
          <a:prstGeom prst="ellipse">
            <a:avLst/>
          </a:prstGeom>
          <a:solidFill>
            <a:srgbClr val="132C3B"/>
          </a:solidFill>
          <a:ln w="19050">
            <a:solidFill>
              <a:srgbClr val="FFFFFF"/>
            </a:solidFill>
            <a:prstDash val="solid"/>
          </a:ln>
        </p:spPr>
      </p:sp>
      <p:sp>
        <p:nvSpPr>
          <p:cNvPr id="16" name="Text 14"/>
          <p:cNvSpPr txBox="1"/>
          <p:nvPr/>
        </p:nvSpPr>
        <p:spPr>
          <a:xfrm>
            <a:off x="4297680" y="1737360"/>
            <a:ext cx="1691640" cy="365760"/>
          </a:xfrm>
          <a:prstGeom prst="rect">
            <a:avLst/>
          </a:prstGeom>
          <a:noFill/>
          <a:ln/>
        </p:spPr>
        <p:txBody>
          <a:bodyPr wrap="square" lIns="0" tIns="0" rIns="0" bIns="0" rtlCol="0" anchor="t"/>
          <a:lstStyle/>
          <a:p>
            <a:pPr algn="l" indent="0" marL="0">
              <a:buNone/>
            </a:pPr>
            <a:r>
              <a:rPr lang="en-US" sz="1800" b="1" dirty="0">
                <a:solidFill>
                  <a:srgbClr val="132C3B"/>
                </a:solidFill>
                <a:latin typeface="Arial" pitchFamily="34" charset="0"/>
                <a:ea typeface="Arial" pitchFamily="34" charset="-122"/>
                <a:cs typeface="Arial" pitchFamily="34" charset="-120"/>
              </a:rPr>
              <a:t>2013</a:t>
            </a:r>
            <a:endParaRPr lang="en-US" sz="1800" dirty="0"/>
          </a:p>
        </p:txBody>
      </p:sp>
      <p:sp>
        <p:nvSpPr>
          <p:cNvPr id="17" name="Text 15"/>
          <p:cNvSpPr txBox="1"/>
          <p:nvPr/>
        </p:nvSpPr>
        <p:spPr>
          <a:xfrm>
            <a:off x="4297680" y="2651760"/>
            <a:ext cx="1691640" cy="365760"/>
          </a:xfrm>
          <a:prstGeom prst="rect">
            <a:avLst/>
          </a:prstGeom>
          <a:noFill/>
          <a:ln/>
        </p:spPr>
        <p:txBody>
          <a:bodyPr wrap="square" lIns="0" tIns="0" rIns="0" bIns="0" rtlCol="0" anchor="t"/>
          <a:lstStyle/>
          <a:p>
            <a:pPr algn="l" indent="0" marL="0">
              <a:buNone/>
            </a:pPr>
            <a:r>
              <a:rPr lang="en-US" sz="1500" b="1" dirty="0">
                <a:solidFill>
                  <a:srgbClr val="132C3B"/>
                </a:solidFill>
                <a:latin typeface="Arial" pitchFamily="34" charset="0"/>
                <a:ea typeface="Arial" pitchFamily="34" charset="-122"/>
                <a:cs typeface="Arial" pitchFamily="34" charset="-120"/>
              </a:rPr>
              <a:t>Refinement</a:t>
            </a:r>
            <a:endParaRPr lang="en-US" sz="1500" dirty="0"/>
          </a:p>
        </p:txBody>
      </p:sp>
      <p:sp>
        <p:nvSpPr>
          <p:cNvPr id="18" name="Text 16"/>
          <p:cNvSpPr txBox="1"/>
          <p:nvPr/>
        </p:nvSpPr>
        <p:spPr>
          <a:xfrm>
            <a:off x="4297680" y="3017520"/>
            <a:ext cx="1691640" cy="1234440"/>
          </a:xfrm>
          <a:prstGeom prst="rect">
            <a:avLst/>
          </a:prstGeom>
          <a:noFill/>
          <a:ln/>
        </p:spPr>
        <p:txBody>
          <a:bodyPr wrap="square" lIns="0" tIns="0" rIns="0" bIns="0" rtlCol="0" anchor="t"/>
          <a:lstStyle/>
          <a:p>
            <a:pPr algn="l" indent="0" marL="0">
              <a:buNone/>
            </a:pPr>
            <a:r>
              <a:rPr lang="en-US" sz="1300" dirty="0">
                <a:solidFill>
                  <a:srgbClr val="132C3B"/>
                </a:solidFill>
                <a:latin typeface="Arial" pitchFamily="34" charset="0"/>
                <a:ea typeface="Arial" pitchFamily="34" charset="-122"/>
                <a:cs typeface="Arial" pitchFamily="34" charset="-120"/>
              </a:rPr>
              <a:t>Steering-angle recognition approved to spot the test</a:t>
            </a:r>
            <a:endParaRPr lang="en-US" sz="1300" dirty="0"/>
          </a:p>
        </p:txBody>
      </p:sp>
      <p:sp>
        <p:nvSpPr>
          <p:cNvPr id="19" name="Text 17"/>
          <p:cNvSpPr txBox="1"/>
          <p:nvPr/>
        </p:nvSpPr>
        <p:spPr>
          <a:xfrm>
            <a:off x="4297680" y="4297680"/>
            <a:ext cx="1691640" cy="274320"/>
          </a:xfrm>
          <a:prstGeom prst="rect">
            <a:avLst/>
          </a:prstGeom>
          <a:noFill/>
          <a:ln/>
        </p:spPr>
        <p:txBody>
          <a:bodyPr wrap="square" lIns="0" tIns="0" rIns="0" bIns="0" rtlCol="0" anchor="t"/>
          <a:lstStyle/>
          <a:p>
            <a:pPr algn="l" indent="0" marL="0">
              <a:buNone/>
            </a:pPr>
            <a:r>
              <a:rPr lang="en-US" sz="1100" dirty="0">
                <a:solidFill>
                  <a:srgbClr val="52616A"/>
                </a:solidFill>
                <a:latin typeface="Arial" pitchFamily="34" charset="0"/>
                <a:ea typeface="Arial" pitchFamily="34" charset="-122"/>
                <a:cs typeface="Arial" pitchFamily="34" charset="-120"/>
              </a:rPr>
              <a:t>¶¶ 49–50</a:t>
            </a:r>
            <a:endParaRPr lang="en-US" sz="1100" dirty="0"/>
          </a:p>
        </p:txBody>
      </p:sp>
      <p:sp>
        <p:nvSpPr>
          <p:cNvPr id="20" name="Shape 18"/>
          <p:cNvSpPr/>
          <p:nvPr/>
        </p:nvSpPr>
        <p:spPr>
          <a:xfrm>
            <a:off x="6172200" y="2185416"/>
            <a:ext cx="292608" cy="292608"/>
          </a:xfrm>
          <a:prstGeom prst="ellipse">
            <a:avLst/>
          </a:prstGeom>
          <a:solidFill>
            <a:srgbClr val="132C3B"/>
          </a:solidFill>
          <a:ln w="19050">
            <a:solidFill>
              <a:srgbClr val="FFFFFF"/>
            </a:solidFill>
            <a:prstDash val="solid"/>
          </a:ln>
        </p:spPr>
      </p:sp>
      <p:sp>
        <p:nvSpPr>
          <p:cNvPr id="21" name="Text 19"/>
          <p:cNvSpPr txBox="1"/>
          <p:nvPr/>
        </p:nvSpPr>
        <p:spPr>
          <a:xfrm>
            <a:off x="6172200" y="1737360"/>
            <a:ext cx="1691640" cy="365760"/>
          </a:xfrm>
          <a:prstGeom prst="rect">
            <a:avLst/>
          </a:prstGeom>
          <a:noFill/>
          <a:ln/>
        </p:spPr>
        <p:txBody>
          <a:bodyPr wrap="square" lIns="0" tIns="0" rIns="0" bIns="0" rtlCol="0" anchor="t"/>
          <a:lstStyle/>
          <a:p>
            <a:pPr algn="l" indent="0" marL="0">
              <a:buNone/>
            </a:pPr>
            <a:r>
              <a:rPr lang="en-US" sz="1800" b="1" dirty="0">
                <a:solidFill>
                  <a:srgbClr val="132C3B"/>
                </a:solidFill>
                <a:latin typeface="Arial" pitchFamily="34" charset="0"/>
                <a:ea typeface="Arial" pitchFamily="34" charset="-122"/>
                <a:cs typeface="Arial" pitchFamily="34" charset="-120"/>
              </a:rPr>
              <a:t>2014</a:t>
            </a:r>
            <a:endParaRPr lang="en-US" sz="1800" dirty="0"/>
          </a:p>
        </p:txBody>
      </p:sp>
      <p:sp>
        <p:nvSpPr>
          <p:cNvPr id="22" name="Text 20"/>
          <p:cNvSpPr txBox="1"/>
          <p:nvPr/>
        </p:nvSpPr>
        <p:spPr>
          <a:xfrm>
            <a:off x="6172200" y="2651760"/>
            <a:ext cx="1691640" cy="365760"/>
          </a:xfrm>
          <a:prstGeom prst="rect">
            <a:avLst/>
          </a:prstGeom>
          <a:noFill/>
          <a:ln/>
        </p:spPr>
        <p:txBody>
          <a:bodyPr wrap="square" lIns="0" tIns="0" rIns="0" bIns="0" rtlCol="0" anchor="t"/>
          <a:lstStyle/>
          <a:p>
            <a:pPr algn="l" indent="0" marL="0">
              <a:buNone/>
            </a:pPr>
            <a:r>
              <a:rPr lang="en-US" sz="1500" b="1" dirty="0">
                <a:solidFill>
                  <a:srgbClr val="132C3B"/>
                </a:solidFill>
                <a:latin typeface="Arial" pitchFamily="34" charset="0"/>
                <a:ea typeface="Arial" pitchFamily="34" charset="-122"/>
                <a:cs typeface="Arial" pitchFamily="34" charset="-120"/>
              </a:rPr>
              <a:t>Independent data</a:t>
            </a:r>
            <a:endParaRPr lang="en-US" sz="1500" dirty="0"/>
          </a:p>
        </p:txBody>
      </p:sp>
      <p:sp>
        <p:nvSpPr>
          <p:cNvPr id="23" name="Text 21"/>
          <p:cNvSpPr txBox="1"/>
          <p:nvPr/>
        </p:nvSpPr>
        <p:spPr>
          <a:xfrm>
            <a:off x="6172200" y="3017520"/>
            <a:ext cx="1691640" cy="1234440"/>
          </a:xfrm>
          <a:prstGeom prst="rect">
            <a:avLst/>
          </a:prstGeom>
          <a:noFill/>
          <a:ln/>
        </p:spPr>
        <p:txBody>
          <a:bodyPr wrap="square" lIns="0" tIns="0" rIns="0" bIns="0" rtlCol="0" anchor="t"/>
          <a:lstStyle/>
          <a:p>
            <a:pPr algn="l" indent="0" marL="0">
              <a:buNone/>
            </a:pPr>
            <a:r>
              <a:rPr lang="en-US" sz="1300" dirty="0">
                <a:solidFill>
                  <a:srgbClr val="132C3B"/>
                </a:solidFill>
                <a:latin typeface="Arial" pitchFamily="34" charset="0"/>
                <a:ea typeface="Arial" pitchFamily="34" charset="-122"/>
                <a:cs typeface="Arial" pitchFamily="34" charset="-120"/>
              </a:rPr>
              <a:t>WVU road tests expose the gap; regulators ask why</a:t>
            </a:r>
            <a:endParaRPr lang="en-US" sz="1300" dirty="0"/>
          </a:p>
        </p:txBody>
      </p:sp>
      <p:sp>
        <p:nvSpPr>
          <p:cNvPr id="24" name="Text 22"/>
          <p:cNvSpPr txBox="1"/>
          <p:nvPr/>
        </p:nvSpPr>
        <p:spPr>
          <a:xfrm>
            <a:off x="6172200" y="4297680"/>
            <a:ext cx="1691640" cy="274320"/>
          </a:xfrm>
          <a:prstGeom prst="rect">
            <a:avLst/>
          </a:prstGeom>
          <a:noFill/>
          <a:ln/>
        </p:spPr>
        <p:txBody>
          <a:bodyPr wrap="square" lIns="0" tIns="0" rIns="0" bIns="0" rtlCol="0" anchor="t"/>
          <a:lstStyle/>
          <a:p>
            <a:pPr algn="l" indent="0" marL="0">
              <a:buNone/>
            </a:pPr>
            <a:r>
              <a:rPr lang="en-US" sz="1100" dirty="0">
                <a:solidFill>
                  <a:srgbClr val="52616A"/>
                </a:solidFill>
                <a:latin typeface="Arial" pitchFamily="34" charset="0"/>
                <a:ea typeface="Arial" pitchFamily="34" charset="-122"/>
                <a:cs typeface="Arial" pitchFamily="34" charset="-120"/>
              </a:rPr>
              <a:t>¶¶ 52–53; EPA p. 4</a:t>
            </a:r>
            <a:endParaRPr lang="en-US" sz="1100" dirty="0"/>
          </a:p>
        </p:txBody>
      </p:sp>
      <p:sp>
        <p:nvSpPr>
          <p:cNvPr id="25" name="Shape 23"/>
          <p:cNvSpPr/>
          <p:nvPr/>
        </p:nvSpPr>
        <p:spPr>
          <a:xfrm>
            <a:off x="8046720" y="2185416"/>
            <a:ext cx="292608" cy="292608"/>
          </a:xfrm>
          <a:prstGeom prst="ellipse">
            <a:avLst/>
          </a:prstGeom>
          <a:solidFill>
            <a:srgbClr val="132C3B"/>
          </a:solidFill>
          <a:ln w="19050">
            <a:solidFill>
              <a:srgbClr val="FFFFFF"/>
            </a:solidFill>
            <a:prstDash val="solid"/>
          </a:ln>
        </p:spPr>
      </p:sp>
      <p:sp>
        <p:nvSpPr>
          <p:cNvPr id="26" name="Text 24"/>
          <p:cNvSpPr txBox="1"/>
          <p:nvPr/>
        </p:nvSpPr>
        <p:spPr>
          <a:xfrm>
            <a:off x="8046720" y="1737360"/>
            <a:ext cx="1691640" cy="365760"/>
          </a:xfrm>
          <a:prstGeom prst="rect">
            <a:avLst/>
          </a:prstGeom>
          <a:noFill/>
          <a:ln/>
        </p:spPr>
        <p:txBody>
          <a:bodyPr wrap="square" lIns="0" tIns="0" rIns="0" bIns="0" rtlCol="0" anchor="t"/>
          <a:lstStyle/>
          <a:p>
            <a:pPr algn="l" indent="0" marL="0">
              <a:buNone/>
            </a:pPr>
            <a:r>
              <a:rPr lang="en-US" sz="1800" b="1" dirty="0">
                <a:solidFill>
                  <a:srgbClr val="132C3B"/>
                </a:solidFill>
                <a:latin typeface="Arial" pitchFamily="34" charset="0"/>
                <a:ea typeface="Arial" pitchFamily="34" charset="-122"/>
                <a:cs typeface="Arial" pitchFamily="34" charset="-120"/>
              </a:rPr>
              <a:t>2014–15</a:t>
            </a:r>
            <a:endParaRPr lang="en-US" sz="1800" dirty="0"/>
          </a:p>
        </p:txBody>
      </p:sp>
      <p:sp>
        <p:nvSpPr>
          <p:cNvPr id="27" name="Text 25"/>
          <p:cNvSpPr txBox="1"/>
          <p:nvPr/>
        </p:nvSpPr>
        <p:spPr>
          <a:xfrm>
            <a:off x="8046720" y="2651760"/>
            <a:ext cx="1691640" cy="365760"/>
          </a:xfrm>
          <a:prstGeom prst="rect">
            <a:avLst/>
          </a:prstGeom>
          <a:noFill/>
          <a:ln/>
        </p:spPr>
        <p:txBody>
          <a:bodyPr wrap="square" lIns="0" tIns="0" rIns="0" bIns="0" rtlCol="0" anchor="t"/>
          <a:lstStyle/>
          <a:p>
            <a:pPr algn="l" indent="0" marL="0">
              <a:buNone/>
            </a:pPr>
            <a:r>
              <a:rPr lang="en-US" sz="1500" b="1" dirty="0">
                <a:solidFill>
                  <a:srgbClr val="132C3B"/>
                </a:solidFill>
                <a:latin typeface="Arial" pitchFamily="34" charset="0"/>
                <a:ea typeface="Arial" pitchFamily="34" charset="-122"/>
                <a:cs typeface="Arial" pitchFamily="34" charset="-120"/>
              </a:rPr>
              <a:t>Concealment</a:t>
            </a:r>
            <a:endParaRPr lang="en-US" sz="1500" dirty="0"/>
          </a:p>
        </p:txBody>
      </p:sp>
      <p:sp>
        <p:nvSpPr>
          <p:cNvPr id="28" name="Text 26"/>
          <p:cNvSpPr txBox="1"/>
          <p:nvPr/>
        </p:nvSpPr>
        <p:spPr>
          <a:xfrm>
            <a:off x="8046720" y="3017520"/>
            <a:ext cx="1691640" cy="1234440"/>
          </a:xfrm>
          <a:prstGeom prst="rect">
            <a:avLst/>
          </a:prstGeom>
          <a:noFill/>
          <a:ln/>
        </p:spPr>
        <p:txBody>
          <a:bodyPr wrap="square" lIns="0" tIns="0" rIns="0" bIns="0" rtlCol="0" anchor="t"/>
          <a:lstStyle/>
          <a:p>
            <a:pPr algn="l" indent="0" marL="0">
              <a:buNone/>
            </a:pPr>
            <a:r>
              <a:rPr lang="en-US" sz="1300" dirty="0">
                <a:solidFill>
                  <a:srgbClr val="132C3B"/>
                </a:solidFill>
                <a:latin typeface="Arial" pitchFamily="34" charset="0"/>
                <a:ea typeface="Arial" pitchFamily="34" charset="-122"/>
                <a:cs typeface="Arial" pitchFamily="34" charset="-120"/>
              </a:rPr>
              <a:t>False explanations; recall with only limited benefit</a:t>
            </a:r>
            <a:endParaRPr lang="en-US" sz="1300" dirty="0"/>
          </a:p>
        </p:txBody>
      </p:sp>
      <p:sp>
        <p:nvSpPr>
          <p:cNvPr id="29" name="Text 27"/>
          <p:cNvSpPr txBox="1"/>
          <p:nvPr/>
        </p:nvSpPr>
        <p:spPr>
          <a:xfrm>
            <a:off x="8046720" y="4297680"/>
            <a:ext cx="1691640" cy="274320"/>
          </a:xfrm>
          <a:prstGeom prst="rect">
            <a:avLst/>
          </a:prstGeom>
          <a:noFill/>
          <a:ln/>
        </p:spPr>
        <p:txBody>
          <a:bodyPr wrap="square" lIns="0" tIns="0" rIns="0" bIns="0" rtlCol="0" anchor="t"/>
          <a:lstStyle/>
          <a:p>
            <a:pPr algn="l" indent="0" marL="0">
              <a:buNone/>
            </a:pPr>
            <a:r>
              <a:rPr lang="en-US" sz="1100" dirty="0">
                <a:solidFill>
                  <a:srgbClr val="52616A"/>
                </a:solidFill>
                <a:latin typeface="Arial" pitchFamily="34" charset="0"/>
                <a:ea typeface="Arial" pitchFamily="34" charset="-122"/>
                <a:cs typeface="Arial" pitchFamily="34" charset="-120"/>
              </a:rPr>
              <a:t>¶¶ 54–58; EPA p. 4</a:t>
            </a:r>
            <a:endParaRPr lang="en-US" sz="1100" dirty="0"/>
          </a:p>
        </p:txBody>
      </p:sp>
      <p:sp>
        <p:nvSpPr>
          <p:cNvPr id="30" name="Shape 28"/>
          <p:cNvSpPr/>
          <p:nvPr/>
        </p:nvSpPr>
        <p:spPr>
          <a:xfrm>
            <a:off x="9921240" y="2185416"/>
            <a:ext cx="292608" cy="292608"/>
          </a:xfrm>
          <a:prstGeom prst="ellipse">
            <a:avLst/>
          </a:prstGeom>
          <a:solidFill>
            <a:srgbClr val="132C3B"/>
          </a:solidFill>
          <a:ln w="19050">
            <a:solidFill>
              <a:srgbClr val="FFFFFF"/>
            </a:solidFill>
            <a:prstDash val="solid"/>
          </a:ln>
        </p:spPr>
      </p:sp>
      <p:sp>
        <p:nvSpPr>
          <p:cNvPr id="31" name="Text 29"/>
          <p:cNvSpPr txBox="1"/>
          <p:nvPr/>
        </p:nvSpPr>
        <p:spPr>
          <a:xfrm>
            <a:off x="9921240" y="1737360"/>
            <a:ext cx="1691640" cy="365760"/>
          </a:xfrm>
          <a:prstGeom prst="rect">
            <a:avLst/>
          </a:prstGeom>
          <a:noFill/>
          <a:ln/>
        </p:spPr>
        <p:txBody>
          <a:bodyPr wrap="square" lIns="0" tIns="0" rIns="0" bIns="0" rtlCol="0" anchor="t"/>
          <a:lstStyle/>
          <a:p>
            <a:pPr algn="l" indent="0" marL="0">
              <a:buNone/>
            </a:pPr>
            <a:r>
              <a:rPr lang="en-US" sz="1800" b="1" dirty="0">
                <a:solidFill>
                  <a:srgbClr val="132C3B"/>
                </a:solidFill>
                <a:latin typeface="Arial" pitchFamily="34" charset="0"/>
                <a:ea typeface="Arial" pitchFamily="34" charset="-122"/>
                <a:cs typeface="Arial" pitchFamily="34" charset="-120"/>
              </a:rPr>
              <a:t>Sept 2015</a:t>
            </a:r>
            <a:endParaRPr lang="en-US" sz="1800" dirty="0"/>
          </a:p>
        </p:txBody>
      </p:sp>
      <p:sp>
        <p:nvSpPr>
          <p:cNvPr id="32" name="Text 30"/>
          <p:cNvSpPr txBox="1"/>
          <p:nvPr/>
        </p:nvSpPr>
        <p:spPr>
          <a:xfrm>
            <a:off x="9921240" y="2651760"/>
            <a:ext cx="1691640" cy="365760"/>
          </a:xfrm>
          <a:prstGeom prst="rect">
            <a:avLst/>
          </a:prstGeom>
          <a:noFill/>
          <a:ln/>
        </p:spPr>
        <p:txBody>
          <a:bodyPr wrap="square" lIns="0" tIns="0" rIns="0" bIns="0" rtlCol="0" anchor="t"/>
          <a:lstStyle/>
          <a:p>
            <a:pPr algn="l" indent="0" marL="0">
              <a:buNone/>
            </a:pPr>
            <a:r>
              <a:rPr lang="en-US" sz="1500" b="1" dirty="0">
                <a:solidFill>
                  <a:srgbClr val="132C3B"/>
                </a:solidFill>
                <a:latin typeface="Arial" pitchFamily="34" charset="0"/>
                <a:ea typeface="Arial" pitchFamily="34" charset="-122"/>
                <a:cs typeface="Arial" pitchFamily="34" charset="-120"/>
              </a:rPr>
              <a:t>Admission</a:t>
            </a:r>
            <a:endParaRPr lang="en-US" sz="1500" dirty="0"/>
          </a:p>
        </p:txBody>
      </p:sp>
      <p:sp>
        <p:nvSpPr>
          <p:cNvPr id="33" name="Text 31"/>
          <p:cNvSpPr txBox="1"/>
          <p:nvPr/>
        </p:nvSpPr>
        <p:spPr>
          <a:xfrm>
            <a:off x="9921240" y="3017520"/>
            <a:ext cx="1691640" cy="1234440"/>
          </a:xfrm>
          <a:prstGeom prst="rect">
            <a:avLst/>
          </a:prstGeom>
          <a:noFill/>
          <a:ln/>
        </p:spPr>
        <p:txBody>
          <a:bodyPr wrap="square" lIns="0" tIns="0" rIns="0" bIns="0" rtlCol="0" anchor="t"/>
          <a:lstStyle/>
          <a:p>
            <a:pPr algn="l" indent="0" marL="0">
              <a:buNone/>
            </a:pPr>
            <a:r>
              <a:rPr lang="en-US" sz="1300" dirty="0">
                <a:solidFill>
                  <a:srgbClr val="132C3B"/>
                </a:solidFill>
                <a:latin typeface="Arial" pitchFamily="34" charset="0"/>
                <a:ea typeface="Arial" pitchFamily="34" charset="-122"/>
                <a:cs typeface="Arial" pitchFamily="34" charset="-120"/>
              </a:rPr>
              <a:t>Defeat device admitted on 3 Sept; EPA notice on 18 Sept</a:t>
            </a:r>
            <a:endParaRPr lang="en-US" sz="1300" dirty="0"/>
          </a:p>
        </p:txBody>
      </p:sp>
      <p:sp>
        <p:nvSpPr>
          <p:cNvPr id="34" name="Text 32"/>
          <p:cNvSpPr txBox="1"/>
          <p:nvPr/>
        </p:nvSpPr>
        <p:spPr>
          <a:xfrm>
            <a:off x="9921240" y="4297680"/>
            <a:ext cx="1691640" cy="274320"/>
          </a:xfrm>
          <a:prstGeom prst="rect">
            <a:avLst/>
          </a:prstGeom>
          <a:noFill/>
          <a:ln/>
        </p:spPr>
        <p:txBody>
          <a:bodyPr wrap="square" lIns="0" tIns="0" rIns="0" bIns="0" rtlCol="0" anchor="t"/>
          <a:lstStyle/>
          <a:p>
            <a:pPr algn="l" indent="0" marL="0">
              <a:buNone/>
            </a:pPr>
            <a:r>
              <a:rPr lang="en-US" sz="1100" dirty="0">
                <a:solidFill>
                  <a:srgbClr val="52616A"/>
                </a:solidFill>
                <a:latin typeface="Arial" pitchFamily="34" charset="0"/>
                <a:ea typeface="Arial" pitchFamily="34" charset="-122"/>
                <a:cs typeface="Arial" pitchFamily="34" charset="-120"/>
              </a:rPr>
              <a:t>¶¶ 63–64</a:t>
            </a:r>
            <a:endParaRPr lang="en-US" sz="1100" dirty="0"/>
          </a:p>
        </p:txBody>
      </p:sp>
      <p:sp>
        <p:nvSpPr>
          <p:cNvPr id="35" name="Shape 33"/>
          <p:cNvSpPr/>
          <p:nvPr/>
        </p:nvSpPr>
        <p:spPr>
          <a:xfrm>
            <a:off x="548640" y="4754880"/>
            <a:ext cx="11064240" cy="960120"/>
          </a:xfrm>
          <a:prstGeom prst="roundRect">
            <a:avLst>
              <a:gd name="adj" fmla="val 7619"/>
            </a:avLst>
          </a:prstGeom>
          <a:solidFill>
            <a:srgbClr val="F1F4F6"/>
          </a:solidFill>
          <a:ln w="12700">
            <a:solidFill>
              <a:srgbClr val="F1F4F6"/>
            </a:solidFill>
            <a:prstDash val="solid"/>
          </a:ln>
        </p:spPr>
      </p:sp>
      <p:sp>
        <p:nvSpPr>
          <p:cNvPr id="36" name="Text 34"/>
          <p:cNvSpPr txBox="1"/>
          <p:nvPr/>
        </p:nvSpPr>
        <p:spPr>
          <a:xfrm>
            <a:off x="822960" y="4910328"/>
            <a:ext cx="10515600" cy="685800"/>
          </a:xfrm>
          <a:prstGeom prst="rect">
            <a:avLst/>
          </a:prstGeom>
          <a:noFill/>
          <a:ln/>
        </p:spPr>
        <p:txBody>
          <a:bodyPr wrap="square" lIns="0" tIns="0" rIns="0" bIns="0" rtlCol="0" anchor="ctr"/>
          <a:lstStyle/>
          <a:p>
            <a:pPr algn="l" indent="0" marL="0">
              <a:buNone/>
            </a:pPr>
            <a:r>
              <a:rPr lang="en-US" sz="1900" b="1" dirty="0">
                <a:solidFill>
                  <a:srgbClr val="132C3B"/>
                </a:solidFill>
                <a:latin typeface="Arial" pitchFamily="34" charset="0"/>
                <a:ea typeface="Arial" pitchFamily="34" charset="-122"/>
                <a:cs typeface="Arial" pitchFamily="34" charset="-120"/>
              </a:rPr>
              <a:t>The line: engineering the product so the official measurement would not represent normal use, then hiding it</a:t>
            </a:r>
            <a:endParaRPr lang="en-US" sz="1900" dirty="0"/>
          </a:p>
        </p:txBody>
      </p:sp>
      <p:sp>
        <p:nvSpPr>
          <p:cNvPr id="37" name="Text 35"/>
          <p:cNvSpPr txBox="1"/>
          <p:nvPr/>
        </p:nvSpPr>
        <p:spPr>
          <a:xfrm>
            <a:off x="548640" y="6236208"/>
            <a:ext cx="10515600" cy="457200"/>
          </a:xfrm>
          <a:prstGeom prst="rect">
            <a:avLst/>
          </a:prstGeom>
          <a:noFill/>
          <a:ln/>
        </p:spPr>
        <p:txBody>
          <a:bodyPr wrap="square" lIns="0" tIns="0" rIns="0" bIns="0" rtlCol="0" anchor="t"/>
          <a:lstStyle/>
          <a:p>
            <a:pPr algn="l" indent="0" marL="0">
              <a:buNone/>
            </a:pPr>
            <a:r>
              <a:rPr lang="en-US" sz="1100" dirty="0">
                <a:solidFill>
                  <a:srgbClr val="52616A"/>
                </a:solidFill>
                <a:latin typeface="Arial" pitchFamily="34" charset="0"/>
                <a:ea typeface="Arial" pitchFamily="34" charset="-122"/>
                <a:cs typeface="Arial" pitchFamily="34" charset="-120"/>
              </a:rPr>
              <a:t>VW plea (2017), Exh. 2, ¶¶ 33–36 (Exh. 2 pp. 12–14), 49–58 (pp. 19–23), 59, 63–64 (pp. 23–25), 72 (p. 27). EPA NOV (2015), pp. 1, 4.</a:t>
            </a:r>
            <a:endParaRPr lang="en-US" sz="1100" dirty="0"/>
          </a:p>
        </p:txBody>
      </p:sp>
      <p:sp>
        <p:nvSpPr>
          <p:cNvPr id="38" name="Text 36"/>
          <p:cNvSpPr txBox="1"/>
          <p:nvPr/>
        </p:nvSpPr>
        <p:spPr>
          <a:xfrm>
            <a:off x="11155680" y="6236208"/>
            <a:ext cx="502920" cy="274320"/>
          </a:xfrm>
          <a:prstGeom prst="rect">
            <a:avLst/>
          </a:prstGeom>
          <a:noFill/>
          <a:ln/>
        </p:spPr>
        <p:txBody>
          <a:bodyPr wrap="square" lIns="0" tIns="0" rIns="0" bIns="0" rtlCol="0" anchor="t"/>
          <a:lstStyle/>
          <a:p>
            <a:pPr algn="r" indent="0" marL="0">
              <a:buNone/>
            </a:pPr>
            <a:r>
              <a:rPr lang="en-US" sz="1100" dirty="0">
                <a:solidFill>
                  <a:srgbClr val="52616A"/>
                </a:solidFill>
                <a:latin typeface="Arial" pitchFamily="34" charset="0"/>
                <a:ea typeface="Arial" pitchFamily="34" charset="-122"/>
                <a:cs typeface="Arial"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t"/>
          <a:lstStyle/>
          <a:p>
            <a:pPr algn="l" indent="0" marL="0">
              <a:buNone/>
            </a:pPr>
            <a:r>
              <a:rPr lang="en-US" sz="3200" b="1" dirty="0">
                <a:solidFill>
                  <a:srgbClr val="132C3B"/>
                </a:solidFill>
                <a:latin typeface="Arial" pitchFamily="34" charset="0"/>
                <a:ea typeface="Arial" pitchFamily="34" charset="-122"/>
                <a:cs typeface="Arial" pitchFamily="34" charset="-120"/>
              </a:rPr>
              <a:t>What VW wanted, and who paid</a:t>
            </a:r>
            <a:endParaRPr lang="en-US" sz="3200" dirty="0"/>
          </a:p>
        </p:txBody>
      </p:sp>
      <p:sp>
        <p:nvSpPr>
          <p:cNvPr id="3" name="Shape 1"/>
          <p:cNvSpPr/>
          <p:nvPr/>
        </p:nvSpPr>
        <p:spPr>
          <a:xfrm>
            <a:off x="548640" y="1371600"/>
            <a:ext cx="11064240" cy="1298448"/>
          </a:xfrm>
          <a:prstGeom prst="roundRect">
            <a:avLst>
              <a:gd name="adj" fmla="val 5634"/>
            </a:avLst>
          </a:prstGeom>
          <a:solidFill>
            <a:srgbClr val="F1F4F6"/>
          </a:solidFill>
          <a:ln w="12700">
            <a:solidFill>
              <a:srgbClr val="F1F4F6"/>
            </a:solidFill>
            <a:prstDash val="solid"/>
          </a:ln>
        </p:spPr>
      </p:sp>
      <p:sp>
        <p:nvSpPr>
          <p:cNvPr id="4" name="Text 2"/>
          <p:cNvSpPr txBox="1"/>
          <p:nvPr/>
        </p:nvSpPr>
        <p:spPr>
          <a:xfrm>
            <a:off x="868680" y="1600200"/>
            <a:ext cx="2743200" cy="868680"/>
          </a:xfrm>
          <a:prstGeom prst="rect">
            <a:avLst/>
          </a:prstGeom>
          <a:noFill/>
          <a:ln/>
        </p:spPr>
        <p:txBody>
          <a:bodyPr wrap="square" lIns="0" tIns="0" rIns="0" bIns="0" rtlCol="0" anchor="t"/>
          <a:lstStyle/>
          <a:p>
            <a:pPr algn="l" indent="0" marL="0">
              <a:buNone/>
            </a:pPr>
            <a:r>
              <a:rPr lang="en-US" sz="2100" b="1" dirty="0">
                <a:solidFill>
                  <a:srgbClr val="2864B4"/>
                </a:solidFill>
                <a:latin typeface="Arial" pitchFamily="34" charset="0"/>
                <a:ea typeface="Arial" pitchFamily="34" charset="-122"/>
                <a:cs typeface="Arial" pitchFamily="34" charset="-120"/>
              </a:rPr>
              <a:t>What VW wanted</a:t>
            </a:r>
            <a:endParaRPr lang="en-US" sz="2100" dirty="0"/>
          </a:p>
        </p:txBody>
      </p:sp>
      <p:sp>
        <p:nvSpPr>
          <p:cNvPr id="5" name="Text 3"/>
          <p:cNvSpPr txBox="1"/>
          <p:nvPr/>
        </p:nvSpPr>
        <p:spPr>
          <a:xfrm>
            <a:off x="3749040" y="1572768"/>
            <a:ext cx="7589520" cy="960120"/>
          </a:xfrm>
          <a:prstGeom prst="rect">
            <a:avLst/>
          </a:prstGeom>
          <a:noFill/>
          <a:ln/>
        </p:spPr>
        <p:txBody>
          <a:bodyPr wrap="square" lIns="0" tIns="0" rIns="0" bIns="0" rtlCol="0" anchor="t"/>
          <a:lstStyle/>
          <a:p>
            <a:pPr algn="l" indent="0" marL="0">
              <a:buNone/>
            </a:pPr>
            <a:r>
              <a:rPr lang="en-US" sz="1800" dirty="0">
                <a:solidFill>
                  <a:srgbClr val="132C3B"/>
                </a:solidFill>
                <a:latin typeface="Arial" pitchFamily="34" charset="0"/>
                <a:ea typeface="Arial" pitchFamily="34" charset="-122"/>
                <a:cs typeface="Arial" pitchFamily="34" charset="-120"/>
              </a:rPr>
              <a:t>U.S. diesel sales: pass the NOx standard on paper and still attract buyers; later, keep approval for 2016 models</a:t>
            </a:r>
            <a:endParaRPr lang="en-US" sz="1800" dirty="0"/>
          </a:p>
        </p:txBody>
      </p:sp>
      <p:sp>
        <p:nvSpPr>
          <p:cNvPr id="6" name="Shape 4"/>
          <p:cNvSpPr/>
          <p:nvPr/>
        </p:nvSpPr>
        <p:spPr>
          <a:xfrm>
            <a:off x="548640" y="2852928"/>
            <a:ext cx="11064240" cy="1298448"/>
          </a:xfrm>
          <a:prstGeom prst="roundRect">
            <a:avLst>
              <a:gd name="adj" fmla="val 5634"/>
            </a:avLst>
          </a:prstGeom>
          <a:solidFill>
            <a:srgbClr val="F1F4F6"/>
          </a:solidFill>
          <a:ln w="12700">
            <a:solidFill>
              <a:srgbClr val="F1F4F6"/>
            </a:solidFill>
            <a:prstDash val="solid"/>
          </a:ln>
        </p:spPr>
      </p:sp>
      <p:sp>
        <p:nvSpPr>
          <p:cNvPr id="7" name="Text 5"/>
          <p:cNvSpPr txBox="1"/>
          <p:nvPr/>
        </p:nvSpPr>
        <p:spPr>
          <a:xfrm>
            <a:off x="868680" y="3081528"/>
            <a:ext cx="2743200" cy="868680"/>
          </a:xfrm>
          <a:prstGeom prst="rect">
            <a:avLst/>
          </a:prstGeom>
          <a:noFill/>
          <a:ln/>
        </p:spPr>
        <p:txBody>
          <a:bodyPr wrap="square" lIns="0" tIns="0" rIns="0" bIns="0" rtlCol="0" anchor="t"/>
          <a:lstStyle/>
          <a:p>
            <a:pPr algn="l" indent="0" marL="0">
              <a:buNone/>
            </a:pPr>
            <a:r>
              <a:rPr lang="en-US" sz="2100" b="1" dirty="0">
                <a:solidFill>
                  <a:srgbClr val="C35724"/>
                </a:solidFill>
                <a:latin typeface="Arial" pitchFamily="34" charset="0"/>
                <a:ea typeface="Arial" pitchFamily="34" charset="-122"/>
                <a:cs typeface="Arial" pitchFamily="34" charset="-120"/>
              </a:rPr>
              <a:t>Volkswagen AG</a:t>
            </a:r>
            <a:endParaRPr lang="en-US" sz="2100" dirty="0"/>
          </a:p>
        </p:txBody>
      </p:sp>
      <p:sp>
        <p:nvSpPr>
          <p:cNvPr id="8" name="Text 6"/>
          <p:cNvSpPr txBox="1"/>
          <p:nvPr/>
        </p:nvSpPr>
        <p:spPr>
          <a:xfrm>
            <a:off x="3749040" y="3054096"/>
            <a:ext cx="7589520" cy="960120"/>
          </a:xfrm>
          <a:prstGeom prst="rect">
            <a:avLst/>
          </a:prstGeom>
          <a:noFill/>
          <a:ln/>
        </p:spPr>
        <p:txBody>
          <a:bodyPr wrap="square" lIns="0" tIns="0" rIns="0" bIns="0" rtlCol="0" anchor="t"/>
          <a:lstStyle/>
          <a:p>
            <a:pPr algn="l" indent="0" marL="0">
              <a:buNone/>
            </a:pPr>
            <a:r>
              <a:rPr lang="en-US" sz="1800" dirty="0">
                <a:solidFill>
                  <a:srgbClr val="132C3B"/>
                </a:solidFill>
                <a:latin typeface="Arial" pitchFamily="34" charset="0"/>
                <a:ea typeface="Arial" pitchFamily="34" charset="-122"/>
                <a:cs typeface="Arial" pitchFamily="34" charset="-120"/>
              </a:rPr>
              <a:t>Guilty plea to three felonies: $2.8 billion criminal fine + $1.5 billion civil penalties; 3 years’ probation with an independent monitor</a:t>
            </a:r>
            <a:endParaRPr lang="en-US" sz="1800" dirty="0"/>
          </a:p>
        </p:txBody>
      </p:sp>
      <p:sp>
        <p:nvSpPr>
          <p:cNvPr id="9" name="Shape 7"/>
          <p:cNvSpPr/>
          <p:nvPr/>
        </p:nvSpPr>
        <p:spPr>
          <a:xfrm>
            <a:off x="548640" y="4334256"/>
            <a:ext cx="11064240" cy="1298448"/>
          </a:xfrm>
          <a:prstGeom prst="roundRect">
            <a:avLst>
              <a:gd name="adj" fmla="val 5634"/>
            </a:avLst>
          </a:prstGeom>
          <a:solidFill>
            <a:srgbClr val="F1F4F6"/>
          </a:solidFill>
          <a:ln w="12700">
            <a:solidFill>
              <a:srgbClr val="F1F4F6"/>
            </a:solidFill>
            <a:prstDash val="solid"/>
          </a:ln>
        </p:spPr>
      </p:sp>
      <p:sp>
        <p:nvSpPr>
          <p:cNvPr id="10" name="Text 8"/>
          <p:cNvSpPr txBox="1"/>
          <p:nvPr/>
        </p:nvSpPr>
        <p:spPr>
          <a:xfrm>
            <a:off x="868680" y="4562856"/>
            <a:ext cx="2743200" cy="868680"/>
          </a:xfrm>
          <a:prstGeom prst="rect">
            <a:avLst/>
          </a:prstGeom>
          <a:noFill/>
          <a:ln/>
        </p:spPr>
        <p:txBody>
          <a:bodyPr wrap="square" lIns="0" tIns="0" rIns="0" bIns="0" rtlCol="0" anchor="t"/>
          <a:lstStyle/>
          <a:p>
            <a:pPr algn="l" indent="0" marL="0">
              <a:buNone/>
            </a:pPr>
            <a:r>
              <a:rPr lang="en-US" sz="2100" b="1" dirty="0">
                <a:solidFill>
                  <a:srgbClr val="008778"/>
                </a:solidFill>
                <a:latin typeface="Arial" pitchFamily="34" charset="0"/>
                <a:ea typeface="Arial" pitchFamily="34" charset="-122"/>
                <a:cs typeface="Arial" pitchFamily="34" charset="-120"/>
              </a:rPr>
              <a:t>Owners and the public</a:t>
            </a:r>
            <a:endParaRPr lang="en-US" sz="2100" dirty="0"/>
          </a:p>
        </p:txBody>
      </p:sp>
      <p:sp>
        <p:nvSpPr>
          <p:cNvPr id="11" name="Text 9"/>
          <p:cNvSpPr txBox="1"/>
          <p:nvPr/>
        </p:nvSpPr>
        <p:spPr>
          <a:xfrm>
            <a:off x="3749040" y="4535424"/>
            <a:ext cx="7589520" cy="960120"/>
          </a:xfrm>
          <a:prstGeom prst="rect">
            <a:avLst/>
          </a:prstGeom>
          <a:noFill/>
          <a:ln/>
        </p:spPr>
        <p:txBody>
          <a:bodyPr wrap="square" lIns="0" tIns="0" rIns="0" bIns="0" rtlCol="0" anchor="t"/>
          <a:lstStyle/>
          <a:p>
            <a:pPr algn="l" indent="0" marL="0">
              <a:buNone/>
            </a:pPr>
            <a:r>
              <a:rPr lang="en-US" sz="1800" dirty="0">
                <a:solidFill>
                  <a:srgbClr val="132C3B"/>
                </a:solidFill>
                <a:latin typeface="Arial" pitchFamily="34" charset="0"/>
                <a:ea typeface="Arial" pitchFamily="34" charset="-122"/>
                <a:cs typeface="Arial" pitchFamily="34" charset="-120"/>
              </a:rPr>
              <a:t>≈585,000 U.S. vehicles; owner settlements and a NOx remediation trust credited at $11 billion; extra NOx exposure not quantified in our sources</a:t>
            </a:r>
            <a:endParaRPr lang="en-US" sz="1800" dirty="0"/>
          </a:p>
        </p:txBody>
      </p:sp>
      <p:sp>
        <p:nvSpPr>
          <p:cNvPr id="12" name="Text 10"/>
          <p:cNvSpPr txBox="1"/>
          <p:nvPr/>
        </p:nvSpPr>
        <p:spPr>
          <a:xfrm>
            <a:off x="548640" y="6236208"/>
            <a:ext cx="10515600" cy="457200"/>
          </a:xfrm>
          <a:prstGeom prst="rect">
            <a:avLst/>
          </a:prstGeom>
          <a:noFill/>
          <a:ln/>
        </p:spPr>
        <p:txBody>
          <a:bodyPr wrap="square" lIns="0" tIns="0" rIns="0" bIns="0" rtlCol="0" anchor="t"/>
          <a:lstStyle/>
          <a:p>
            <a:pPr algn="l" indent="0" marL="0">
              <a:buNone/>
            </a:pPr>
            <a:r>
              <a:rPr lang="en-US" sz="1100" dirty="0">
                <a:solidFill>
                  <a:srgbClr val="52616A"/>
                </a:solidFill>
                <a:latin typeface="Arial" pitchFamily="34" charset="0"/>
                <a:ea typeface="Arial" pitchFamily="34" charset="-122"/>
                <a:cs typeface="Arial" pitchFamily="34" charset="-120"/>
              </a:rPr>
              <a:t>VW plea (2017): offences p. 1; monitor p. 12; civil penalties, $11B credit and $2.8B fine p. 13; probation p. 14. Exh. 2 ¶¶ 30–33 (Exh. 2 pp. 10–12), 54–55, 59, 61, 72 (p. 27).</a:t>
            </a:r>
            <a:endParaRPr lang="en-US" sz="1100" dirty="0"/>
          </a:p>
        </p:txBody>
      </p:sp>
      <p:sp>
        <p:nvSpPr>
          <p:cNvPr id="13" name="Text 11"/>
          <p:cNvSpPr txBox="1"/>
          <p:nvPr/>
        </p:nvSpPr>
        <p:spPr>
          <a:xfrm>
            <a:off x="11155680" y="6236208"/>
            <a:ext cx="502920" cy="274320"/>
          </a:xfrm>
          <a:prstGeom prst="rect">
            <a:avLst/>
          </a:prstGeom>
          <a:noFill/>
          <a:ln/>
        </p:spPr>
        <p:txBody>
          <a:bodyPr wrap="square" lIns="0" tIns="0" rIns="0" bIns="0" rtlCol="0" anchor="t"/>
          <a:lstStyle/>
          <a:p>
            <a:pPr algn="r" indent="0" marL="0">
              <a:buNone/>
            </a:pPr>
            <a:r>
              <a:rPr lang="en-US" sz="1100" dirty="0">
                <a:solidFill>
                  <a:srgbClr val="52616A"/>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t"/>
          <a:lstStyle/>
          <a:p>
            <a:pPr algn="l" indent="0" marL="0">
              <a:buNone/>
            </a:pPr>
            <a:r>
              <a:rPr lang="en-US" sz="3200" b="1" dirty="0">
                <a:solidFill>
                  <a:srgbClr val="132C3B"/>
                </a:solidFill>
                <a:latin typeface="Arial" pitchFamily="34" charset="0"/>
                <a:ea typeface="Arial" pitchFamily="34" charset="-122"/>
                <a:cs typeface="Arial" pitchFamily="34" charset="-120"/>
              </a:rPr>
              <a:t>Why this crossed into manipulation</a:t>
            </a:r>
            <a:endParaRPr lang="en-US" sz="3200" dirty="0"/>
          </a:p>
        </p:txBody>
      </p:sp>
      <p:sp>
        <p:nvSpPr>
          <p:cNvPr id="3" name="Shape 1"/>
          <p:cNvSpPr/>
          <p:nvPr/>
        </p:nvSpPr>
        <p:spPr>
          <a:xfrm>
            <a:off x="548640" y="1417320"/>
            <a:ext cx="5349240" cy="3017520"/>
          </a:xfrm>
          <a:prstGeom prst="roundRect">
            <a:avLst>
              <a:gd name="adj" fmla="val 2424"/>
            </a:avLst>
          </a:prstGeom>
          <a:solidFill>
            <a:srgbClr val="F1F4F6"/>
          </a:solidFill>
          <a:ln w="12700">
            <a:solidFill>
              <a:srgbClr val="F1F4F6"/>
            </a:solidFill>
            <a:prstDash val="solid"/>
          </a:ln>
        </p:spPr>
      </p:sp>
      <p:sp>
        <p:nvSpPr>
          <p:cNvPr id="4" name="Text 2"/>
          <p:cNvSpPr txBox="1"/>
          <p:nvPr/>
        </p:nvSpPr>
        <p:spPr>
          <a:xfrm>
            <a:off x="868680" y="1691640"/>
            <a:ext cx="4754880" cy="502920"/>
          </a:xfrm>
          <a:prstGeom prst="rect">
            <a:avLst/>
          </a:prstGeom>
          <a:noFill/>
          <a:ln/>
        </p:spPr>
        <p:txBody>
          <a:bodyPr wrap="square" lIns="0" tIns="0" rIns="0" bIns="0" rtlCol="0" anchor="t"/>
          <a:lstStyle/>
          <a:p>
            <a:pPr algn="l" indent="0" marL="0">
              <a:buNone/>
            </a:pPr>
            <a:r>
              <a:rPr lang="en-US" sz="2400" b="1" dirty="0">
                <a:solidFill>
                  <a:srgbClr val="2864B4"/>
                </a:solidFill>
                <a:latin typeface="Arial" pitchFamily="34" charset="0"/>
                <a:ea typeface="Arial" pitchFamily="34" charset="-122"/>
                <a:cs typeface="Arial" pitchFamily="34" charset="-120"/>
              </a:rPr>
              <a:t>Selective presentation</a:t>
            </a:r>
            <a:endParaRPr lang="en-US" sz="2400" dirty="0"/>
          </a:p>
        </p:txBody>
      </p:sp>
      <p:sp>
        <p:nvSpPr>
          <p:cNvPr id="5" name="Text 3"/>
          <p:cNvSpPr txBox="1"/>
          <p:nvPr/>
        </p:nvSpPr>
        <p:spPr>
          <a:xfrm>
            <a:off x="868680" y="2377440"/>
            <a:ext cx="4754880" cy="1828800"/>
          </a:xfrm>
          <a:prstGeom prst="rect">
            <a:avLst/>
          </a:prstGeom>
          <a:noFill/>
          <a:ln/>
        </p:spPr>
        <p:txBody>
          <a:bodyPr wrap="square" lIns="0" tIns="0" rIns="0" bIns="0" rtlCol="0" anchor="t"/>
          <a:lstStyle/>
          <a:p>
            <a:pPr algn="l" indent="0" marL="0">
              <a:buNone/>
            </a:pPr>
            <a:r>
              <a:rPr lang="en-US" sz="2200" dirty="0">
                <a:solidFill>
                  <a:srgbClr val="132C3B"/>
                </a:solidFill>
                <a:latin typeface="Arial" pitchFamily="34" charset="0"/>
                <a:ea typeface="Arial" pitchFamily="34" charset="-122"/>
                <a:cs typeface="Arial" pitchFamily="34" charset="-120"/>
              </a:rPr>
              <a:t>Choosing favourable observations while leaving other observations out</a:t>
            </a:r>
            <a:endParaRPr lang="en-US" sz="2200" dirty="0"/>
          </a:p>
        </p:txBody>
      </p:sp>
      <p:sp>
        <p:nvSpPr>
          <p:cNvPr id="6" name="Shape 4"/>
          <p:cNvSpPr/>
          <p:nvPr/>
        </p:nvSpPr>
        <p:spPr>
          <a:xfrm>
            <a:off x="6263640" y="1417320"/>
            <a:ext cx="5349240" cy="3017520"/>
          </a:xfrm>
          <a:prstGeom prst="roundRect">
            <a:avLst>
              <a:gd name="adj" fmla="val 2424"/>
            </a:avLst>
          </a:prstGeom>
          <a:solidFill>
            <a:srgbClr val="F1F4F6"/>
          </a:solidFill>
          <a:ln w="12700">
            <a:solidFill>
              <a:srgbClr val="F1F4F6"/>
            </a:solidFill>
            <a:prstDash val="solid"/>
          </a:ln>
        </p:spPr>
      </p:sp>
      <p:sp>
        <p:nvSpPr>
          <p:cNvPr id="7" name="Text 5"/>
          <p:cNvSpPr txBox="1"/>
          <p:nvPr/>
        </p:nvSpPr>
        <p:spPr>
          <a:xfrm>
            <a:off x="6583680" y="1691640"/>
            <a:ext cx="4754880" cy="502920"/>
          </a:xfrm>
          <a:prstGeom prst="rect">
            <a:avLst/>
          </a:prstGeom>
          <a:noFill/>
          <a:ln/>
        </p:spPr>
        <p:txBody>
          <a:bodyPr wrap="square" lIns="0" tIns="0" rIns="0" bIns="0" rtlCol="0" anchor="t"/>
          <a:lstStyle/>
          <a:p>
            <a:pPr algn="l" indent="0" marL="0">
              <a:buNone/>
            </a:pPr>
            <a:r>
              <a:rPr lang="en-US" sz="2400" b="1" dirty="0">
                <a:solidFill>
                  <a:srgbClr val="C35724"/>
                </a:solidFill>
                <a:latin typeface="Arial" pitchFamily="34" charset="0"/>
                <a:ea typeface="Arial" pitchFamily="34" charset="-122"/>
                <a:cs typeface="Arial" pitchFamily="34" charset="-120"/>
              </a:rPr>
              <a:t>Documented manipulation</a:t>
            </a:r>
            <a:endParaRPr lang="en-US" sz="2400" dirty="0"/>
          </a:p>
        </p:txBody>
      </p:sp>
      <p:sp>
        <p:nvSpPr>
          <p:cNvPr id="8" name="Text 6"/>
          <p:cNvSpPr txBox="1"/>
          <p:nvPr/>
        </p:nvSpPr>
        <p:spPr>
          <a:xfrm>
            <a:off x="6583680" y="2377440"/>
            <a:ext cx="4754880" cy="1828800"/>
          </a:xfrm>
          <a:prstGeom prst="rect">
            <a:avLst/>
          </a:prstGeom>
          <a:noFill/>
          <a:ln/>
        </p:spPr>
        <p:txBody>
          <a:bodyPr wrap="square" lIns="0" tIns="0" rIns="0" bIns="0" rtlCol="0" anchor="t"/>
          <a:lstStyle/>
          <a:p>
            <a:pPr algn="l" indent="0" marL="0">
              <a:buNone/>
            </a:pPr>
            <a:r>
              <a:rPr lang="en-US" sz="2200" dirty="0">
                <a:solidFill>
                  <a:srgbClr val="132C3B"/>
                </a:solidFill>
                <a:latin typeface="Arial" pitchFamily="34" charset="0"/>
                <a:ea typeface="Arial" pitchFamily="34" charset="-122"/>
                <a:cs typeface="Arial" pitchFamily="34" charset="-120"/>
              </a:rPr>
              <a:t>Changing behaviour when the test is recognised and concealing that change from decision-makers</a:t>
            </a:r>
            <a:endParaRPr lang="en-US" sz="2200" dirty="0"/>
          </a:p>
        </p:txBody>
      </p:sp>
      <p:sp>
        <p:nvSpPr>
          <p:cNvPr id="9" name="Text 7"/>
          <p:cNvSpPr txBox="1"/>
          <p:nvPr/>
        </p:nvSpPr>
        <p:spPr>
          <a:xfrm>
            <a:off x="548640" y="6236208"/>
            <a:ext cx="10515600" cy="457200"/>
          </a:xfrm>
          <a:prstGeom prst="rect">
            <a:avLst/>
          </a:prstGeom>
          <a:noFill/>
          <a:ln/>
        </p:spPr>
        <p:txBody>
          <a:bodyPr wrap="square" lIns="0" tIns="0" rIns="0" bIns="0" rtlCol="0" anchor="t"/>
          <a:lstStyle/>
          <a:p>
            <a:pPr algn="l" indent="0" marL="0">
              <a:buNone/>
            </a:pPr>
            <a:r>
              <a:rPr lang="en-US" sz="1100" dirty="0">
                <a:solidFill>
                  <a:srgbClr val="52616A"/>
                </a:solidFill>
                <a:latin typeface="Arial" pitchFamily="34" charset="0"/>
                <a:ea typeface="Arial" pitchFamily="34" charset="-122"/>
                <a:cs typeface="Arial" pitchFamily="34" charset="-120"/>
              </a:rPr>
              <a:t>Analytical interpretation grounded in VW plea (2017), Exh. 2 ¶¶ 33–35, 54–55, 63; EPA NOV (2015), p. 4.</a:t>
            </a:r>
            <a:endParaRPr lang="en-US" sz="1100" dirty="0"/>
          </a:p>
        </p:txBody>
      </p:sp>
      <p:sp>
        <p:nvSpPr>
          <p:cNvPr id="10" name="Text 8"/>
          <p:cNvSpPr txBox="1"/>
          <p:nvPr/>
        </p:nvSpPr>
        <p:spPr>
          <a:xfrm>
            <a:off x="11155680" y="6236208"/>
            <a:ext cx="502920" cy="274320"/>
          </a:xfrm>
          <a:prstGeom prst="rect">
            <a:avLst/>
          </a:prstGeom>
          <a:noFill/>
          <a:ln/>
        </p:spPr>
        <p:txBody>
          <a:bodyPr wrap="square" lIns="0" tIns="0" rIns="0" bIns="0" rtlCol="0" anchor="t"/>
          <a:lstStyle/>
          <a:p>
            <a:pPr algn="r" indent="0" marL="0">
              <a:buNone/>
            </a:pPr>
            <a:r>
              <a:rPr lang="en-US" sz="1100" dirty="0">
                <a:solidFill>
                  <a:srgbClr val="52616A"/>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t"/>
          <a:lstStyle/>
          <a:p>
            <a:pPr algn="l" indent="0" marL="0">
              <a:buNone/>
            </a:pPr>
            <a:r>
              <a:rPr lang="en-US" sz="3200" b="1" dirty="0">
                <a:solidFill>
                  <a:srgbClr val="132C3B"/>
                </a:solidFill>
                <a:latin typeface="Arial" pitchFamily="34" charset="0"/>
                <a:ea typeface="Arial" pitchFamily="34" charset="-122"/>
                <a:cs typeface="Arial" pitchFamily="34" charset="-120"/>
              </a:rPr>
              <a:t>What a skeptical analyst should check</a:t>
            </a:r>
            <a:endParaRPr lang="en-US" sz="3200" dirty="0"/>
          </a:p>
        </p:txBody>
      </p:sp>
      <p:sp>
        <p:nvSpPr>
          <p:cNvPr id="3" name="Shape 1"/>
          <p:cNvSpPr/>
          <p:nvPr/>
        </p:nvSpPr>
        <p:spPr>
          <a:xfrm>
            <a:off x="548640" y="1481328"/>
            <a:ext cx="658368" cy="658368"/>
          </a:xfrm>
          <a:prstGeom prst="ellipse">
            <a:avLst/>
          </a:prstGeom>
          <a:solidFill>
            <a:srgbClr val="2864B4"/>
          </a:solidFill>
          <a:ln w="12700">
            <a:solidFill>
              <a:srgbClr val="2864B4"/>
            </a:solidFill>
            <a:prstDash val="solid"/>
          </a:ln>
        </p:spPr>
      </p:sp>
      <p:sp>
        <p:nvSpPr>
          <p:cNvPr id="4" name="Text 2"/>
          <p:cNvSpPr txBox="1"/>
          <p:nvPr/>
        </p:nvSpPr>
        <p:spPr>
          <a:xfrm>
            <a:off x="548640" y="1481328"/>
            <a:ext cx="658368" cy="65836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5" name="Text 3"/>
          <p:cNvSpPr txBox="1"/>
          <p:nvPr/>
        </p:nvSpPr>
        <p:spPr>
          <a:xfrm>
            <a:off x="1508760" y="1600200"/>
            <a:ext cx="2834640" cy="457200"/>
          </a:xfrm>
          <a:prstGeom prst="rect">
            <a:avLst/>
          </a:prstGeom>
          <a:noFill/>
          <a:ln/>
        </p:spPr>
        <p:txBody>
          <a:bodyPr wrap="square" lIns="0" tIns="0" rIns="0" bIns="0" rtlCol="0" anchor="t"/>
          <a:lstStyle/>
          <a:p>
            <a:pPr algn="l" indent="0" marL="0">
              <a:buNone/>
            </a:pPr>
            <a:r>
              <a:rPr lang="en-US" sz="2200" b="1" dirty="0">
                <a:solidFill>
                  <a:srgbClr val="132C3B"/>
                </a:solidFill>
                <a:latin typeface="Arial" pitchFamily="34" charset="0"/>
                <a:ea typeface="Arial" pitchFamily="34" charset="-122"/>
                <a:cs typeface="Arial" pitchFamily="34" charset="-120"/>
              </a:rPr>
              <a:t>Meaning</a:t>
            </a:r>
            <a:endParaRPr lang="en-US" sz="2200" dirty="0"/>
          </a:p>
        </p:txBody>
      </p:sp>
      <p:sp>
        <p:nvSpPr>
          <p:cNvPr id="6" name="Text 4"/>
          <p:cNvSpPr txBox="1"/>
          <p:nvPr/>
        </p:nvSpPr>
        <p:spPr>
          <a:xfrm>
            <a:off x="4434840" y="1618488"/>
            <a:ext cx="7178040" cy="822960"/>
          </a:xfrm>
          <a:prstGeom prst="rect">
            <a:avLst/>
          </a:prstGeom>
          <a:noFill/>
          <a:ln/>
        </p:spPr>
        <p:txBody>
          <a:bodyPr wrap="square" lIns="0" tIns="0" rIns="0" bIns="0" rtlCol="0" anchor="t"/>
          <a:lstStyle/>
          <a:p>
            <a:pPr algn="l" indent="0" marL="0">
              <a:buNone/>
            </a:pPr>
            <a:r>
              <a:rPr lang="en-US" sz="2000" dirty="0">
                <a:solidFill>
                  <a:srgbClr val="52616A"/>
                </a:solidFill>
                <a:latin typeface="Arial" pitchFamily="34" charset="0"/>
                <a:ea typeface="Arial" pitchFamily="34" charset="-122"/>
                <a:cs typeface="Arial" pitchFamily="34" charset="-120"/>
              </a:rPr>
              <a:t>Unit, averaging method and denominator</a:t>
            </a:r>
            <a:endParaRPr lang="en-US" sz="2000" dirty="0"/>
          </a:p>
        </p:txBody>
      </p:sp>
      <p:sp>
        <p:nvSpPr>
          <p:cNvPr id="7" name="Shape 5"/>
          <p:cNvSpPr/>
          <p:nvPr/>
        </p:nvSpPr>
        <p:spPr>
          <a:xfrm>
            <a:off x="548640" y="2651760"/>
            <a:ext cx="658368" cy="658368"/>
          </a:xfrm>
          <a:prstGeom prst="ellipse">
            <a:avLst/>
          </a:prstGeom>
          <a:solidFill>
            <a:srgbClr val="2864B4"/>
          </a:solidFill>
          <a:ln w="12700">
            <a:solidFill>
              <a:srgbClr val="2864B4"/>
            </a:solidFill>
            <a:prstDash val="solid"/>
          </a:ln>
        </p:spPr>
      </p:sp>
      <p:sp>
        <p:nvSpPr>
          <p:cNvPr id="8" name="Text 6"/>
          <p:cNvSpPr txBox="1"/>
          <p:nvPr/>
        </p:nvSpPr>
        <p:spPr>
          <a:xfrm>
            <a:off x="548640" y="2651760"/>
            <a:ext cx="658368" cy="65836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9" name="Text 7"/>
          <p:cNvSpPr txBox="1"/>
          <p:nvPr/>
        </p:nvSpPr>
        <p:spPr>
          <a:xfrm>
            <a:off x="1508760" y="2770632"/>
            <a:ext cx="2834640" cy="457200"/>
          </a:xfrm>
          <a:prstGeom prst="rect">
            <a:avLst/>
          </a:prstGeom>
          <a:noFill/>
          <a:ln/>
        </p:spPr>
        <p:txBody>
          <a:bodyPr wrap="square" lIns="0" tIns="0" rIns="0" bIns="0" rtlCol="0" anchor="t"/>
          <a:lstStyle/>
          <a:p>
            <a:pPr algn="l" indent="0" marL="0">
              <a:buNone/>
            </a:pPr>
            <a:r>
              <a:rPr lang="en-US" sz="2200" b="1" dirty="0">
                <a:solidFill>
                  <a:srgbClr val="132C3B"/>
                </a:solidFill>
                <a:latin typeface="Arial" pitchFamily="34" charset="0"/>
                <a:ea typeface="Arial" pitchFamily="34" charset="-122"/>
                <a:cs typeface="Arial" pitchFamily="34" charset="-120"/>
              </a:rPr>
              <a:t>Coverage</a:t>
            </a:r>
            <a:endParaRPr lang="en-US" sz="2200" dirty="0"/>
          </a:p>
        </p:txBody>
      </p:sp>
      <p:sp>
        <p:nvSpPr>
          <p:cNvPr id="10" name="Text 8"/>
          <p:cNvSpPr txBox="1"/>
          <p:nvPr/>
        </p:nvSpPr>
        <p:spPr>
          <a:xfrm>
            <a:off x="4434840" y="2788920"/>
            <a:ext cx="7178040" cy="822960"/>
          </a:xfrm>
          <a:prstGeom prst="rect">
            <a:avLst/>
          </a:prstGeom>
          <a:noFill/>
          <a:ln/>
        </p:spPr>
        <p:txBody>
          <a:bodyPr wrap="square" lIns="0" tIns="0" rIns="0" bIns="0" rtlCol="0" anchor="t"/>
          <a:lstStyle/>
          <a:p>
            <a:pPr algn="l" indent="0" marL="0">
              <a:buNone/>
            </a:pPr>
            <a:r>
              <a:rPr lang="en-US" sz="2000" dirty="0">
                <a:solidFill>
                  <a:srgbClr val="52616A"/>
                </a:solidFill>
                <a:latin typeface="Arial" pitchFamily="34" charset="0"/>
                <a:ea typeface="Arial" pitchFamily="34" charset="-122"/>
                <a:cs typeface="Arial" pitchFamily="34" charset="-120"/>
              </a:rPr>
              <a:t>Routes, missing tests and repeat counts</a:t>
            </a:r>
            <a:endParaRPr lang="en-US" sz="2000" dirty="0"/>
          </a:p>
        </p:txBody>
      </p:sp>
      <p:sp>
        <p:nvSpPr>
          <p:cNvPr id="11" name="Shape 9"/>
          <p:cNvSpPr/>
          <p:nvPr/>
        </p:nvSpPr>
        <p:spPr>
          <a:xfrm>
            <a:off x="548640" y="3822192"/>
            <a:ext cx="658368" cy="658368"/>
          </a:xfrm>
          <a:prstGeom prst="ellipse">
            <a:avLst/>
          </a:prstGeom>
          <a:solidFill>
            <a:srgbClr val="2864B4"/>
          </a:solidFill>
          <a:ln w="12700">
            <a:solidFill>
              <a:srgbClr val="2864B4"/>
            </a:solidFill>
            <a:prstDash val="solid"/>
          </a:ln>
        </p:spPr>
      </p:sp>
      <p:sp>
        <p:nvSpPr>
          <p:cNvPr id="12" name="Text 10"/>
          <p:cNvSpPr txBox="1"/>
          <p:nvPr/>
        </p:nvSpPr>
        <p:spPr>
          <a:xfrm>
            <a:off x="548640" y="3822192"/>
            <a:ext cx="658368" cy="65836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13" name="Text 11"/>
          <p:cNvSpPr txBox="1"/>
          <p:nvPr/>
        </p:nvSpPr>
        <p:spPr>
          <a:xfrm>
            <a:off x="1508760" y="3941064"/>
            <a:ext cx="2834640" cy="457200"/>
          </a:xfrm>
          <a:prstGeom prst="rect">
            <a:avLst/>
          </a:prstGeom>
          <a:noFill/>
          <a:ln/>
        </p:spPr>
        <p:txBody>
          <a:bodyPr wrap="square" lIns="0" tIns="0" rIns="0" bIns="0" rtlCol="0" anchor="t"/>
          <a:lstStyle/>
          <a:p>
            <a:pPr algn="l" indent="0" marL="0">
              <a:buNone/>
            </a:pPr>
            <a:r>
              <a:rPr lang="en-US" sz="2200" b="1" dirty="0">
                <a:solidFill>
                  <a:srgbClr val="132C3B"/>
                </a:solidFill>
                <a:latin typeface="Arial" pitchFamily="34" charset="0"/>
                <a:ea typeface="Arial" pitchFamily="34" charset="-122"/>
                <a:cs typeface="Arial" pitchFamily="34" charset="-120"/>
              </a:rPr>
              <a:t>Independence</a:t>
            </a:r>
            <a:endParaRPr lang="en-US" sz="2200" dirty="0"/>
          </a:p>
        </p:txBody>
      </p:sp>
      <p:sp>
        <p:nvSpPr>
          <p:cNvPr id="14" name="Text 12"/>
          <p:cNvSpPr txBox="1"/>
          <p:nvPr/>
        </p:nvSpPr>
        <p:spPr>
          <a:xfrm>
            <a:off x="4434840" y="3959352"/>
            <a:ext cx="7178040" cy="822960"/>
          </a:xfrm>
          <a:prstGeom prst="rect">
            <a:avLst/>
          </a:prstGeom>
          <a:noFill/>
          <a:ln/>
        </p:spPr>
        <p:txBody>
          <a:bodyPr wrap="square" lIns="0" tIns="0" rIns="0" bIns="0" rtlCol="0" anchor="t"/>
          <a:lstStyle/>
          <a:p>
            <a:pPr algn="l" indent="0" marL="0">
              <a:buNone/>
            </a:pPr>
            <a:r>
              <a:rPr lang="en-US" sz="2000" dirty="0">
                <a:solidFill>
                  <a:srgbClr val="52616A"/>
                </a:solidFill>
                <a:latin typeface="Arial" pitchFamily="34" charset="0"/>
                <a:ea typeface="Arial" pitchFamily="34" charset="-122"/>
                <a:cs typeface="Arial" pitchFamily="34" charset="-120"/>
              </a:rPr>
              <a:t>Instrument checks and tests outside the standard cycle</a:t>
            </a:r>
            <a:endParaRPr lang="en-US" sz="2000" dirty="0"/>
          </a:p>
        </p:txBody>
      </p:sp>
      <p:sp>
        <p:nvSpPr>
          <p:cNvPr id="15" name="Shape 13"/>
          <p:cNvSpPr/>
          <p:nvPr/>
        </p:nvSpPr>
        <p:spPr>
          <a:xfrm>
            <a:off x="548640" y="4992624"/>
            <a:ext cx="658368" cy="658368"/>
          </a:xfrm>
          <a:prstGeom prst="ellipse">
            <a:avLst/>
          </a:prstGeom>
          <a:solidFill>
            <a:srgbClr val="2864B4"/>
          </a:solidFill>
          <a:ln w="12700">
            <a:solidFill>
              <a:srgbClr val="2864B4"/>
            </a:solidFill>
            <a:prstDash val="solid"/>
          </a:ln>
        </p:spPr>
      </p:sp>
      <p:sp>
        <p:nvSpPr>
          <p:cNvPr id="16" name="Text 14"/>
          <p:cNvSpPr txBox="1"/>
          <p:nvPr/>
        </p:nvSpPr>
        <p:spPr>
          <a:xfrm>
            <a:off x="548640" y="4992624"/>
            <a:ext cx="658368" cy="658368"/>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17" name="Text 15"/>
          <p:cNvSpPr txBox="1"/>
          <p:nvPr/>
        </p:nvSpPr>
        <p:spPr>
          <a:xfrm>
            <a:off x="1508760" y="5111496"/>
            <a:ext cx="2834640" cy="457200"/>
          </a:xfrm>
          <a:prstGeom prst="rect">
            <a:avLst/>
          </a:prstGeom>
          <a:noFill/>
          <a:ln/>
        </p:spPr>
        <p:txBody>
          <a:bodyPr wrap="square" lIns="0" tIns="0" rIns="0" bIns="0" rtlCol="0" anchor="t"/>
          <a:lstStyle/>
          <a:p>
            <a:pPr algn="l" indent="0" marL="0">
              <a:buNone/>
            </a:pPr>
            <a:r>
              <a:rPr lang="en-US" sz="2200" b="1" dirty="0">
                <a:solidFill>
                  <a:srgbClr val="132C3B"/>
                </a:solidFill>
                <a:latin typeface="Arial" pitchFamily="34" charset="0"/>
                <a:ea typeface="Arial" pitchFamily="34" charset="-122"/>
                <a:cs typeface="Arial" pitchFamily="34" charset="-120"/>
              </a:rPr>
              <a:t>Causation</a:t>
            </a:r>
            <a:endParaRPr lang="en-US" sz="2200" dirty="0"/>
          </a:p>
        </p:txBody>
      </p:sp>
      <p:sp>
        <p:nvSpPr>
          <p:cNvPr id="18" name="Text 16"/>
          <p:cNvSpPr txBox="1"/>
          <p:nvPr/>
        </p:nvSpPr>
        <p:spPr>
          <a:xfrm>
            <a:off x="4434840" y="5129784"/>
            <a:ext cx="7178040" cy="822960"/>
          </a:xfrm>
          <a:prstGeom prst="rect">
            <a:avLst/>
          </a:prstGeom>
          <a:noFill/>
          <a:ln/>
        </p:spPr>
        <p:txBody>
          <a:bodyPr wrap="square" lIns="0" tIns="0" rIns="0" bIns="0" rtlCol="0" anchor="t"/>
          <a:lstStyle/>
          <a:p>
            <a:pPr algn="l" indent="0" marL="0">
              <a:buNone/>
            </a:pPr>
            <a:r>
              <a:rPr lang="en-US" sz="2000" dirty="0">
                <a:solidFill>
                  <a:srgbClr val="52616A"/>
                </a:solidFill>
                <a:latin typeface="Arial" pitchFamily="34" charset="0"/>
                <a:ea typeface="Arial" pitchFamily="34" charset="-122"/>
                <a:cs typeface="Arial" pitchFamily="34" charset="-120"/>
              </a:rPr>
              <a:t>Alternative explanations, software evidence and admissions</a:t>
            </a:r>
            <a:endParaRPr lang="en-US" sz="2000" dirty="0"/>
          </a:p>
        </p:txBody>
      </p:sp>
      <p:sp>
        <p:nvSpPr>
          <p:cNvPr id="19" name="Text 17"/>
          <p:cNvSpPr txBox="1"/>
          <p:nvPr/>
        </p:nvSpPr>
        <p:spPr>
          <a:xfrm>
            <a:off x="548640" y="6236208"/>
            <a:ext cx="10515600" cy="457200"/>
          </a:xfrm>
          <a:prstGeom prst="rect">
            <a:avLst/>
          </a:prstGeom>
          <a:noFill/>
          <a:ln/>
        </p:spPr>
        <p:txBody>
          <a:bodyPr wrap="square" lIns="0" tIns="0" rIns="0" bIns="0" rtlCol="0" anchor="t"/>
          <a:lstStyle/>
          <a:p>
            <a:pPr algn="l" indent="0" marL="0">
              <a:buNone/>
            </a:pPr>
            <a:r>
              <a:rPr lang="en-US" sz="1100" dirty="0">
                <a:solidFill>
                  <a:srgbClr val="52616A"/>
                </a:solidFill>
                <a:latin typeface="Arial" pitchFamily="34" charset="0"/>
                <a:ea typeface="Arial" pitchFamily="34" charset="-122"/>
                <a:cs typeface="Arial" pitchFamily="34" charset="-120"/>
              </a:rPr>
              <a:t>Analytical recommendations based on WVU/ICCT (2014), pp. iv, 55, 57, 59, 64–65, and VW plea (2017), Exh. 2 ¶¶ 33–35, 54–55, 63.</a:t>
            </a:r>
            <a:endParaRPr lang="en-US" sz="1100" dirty="0"/>
          </a:p>
        </p:txBody>
      </p:sp>
      <p:sp>
        <p:nvSpPr>
          <p:cNvPr id="20" name="Text 18"/>
          <p:cNvSpPr txBox="1"/>
          <p:nvPr/>
        </p:nvSpPr>
        <p:spPr>
          <a:xfrm>
            <a:off x="11155680" y="6236208"/>
            <a:ext cx="502920" cy="274320"/>
          </a:xfrm>
          <a:prstGeom prst="rect">
            <a:avLst/>
          </a:prstGeom>
          <a:noFill/>
          <a:ln/>
        </p:spPr>
        <p:txBody>
          <a:bodyPr wrap="square" lIns="0" tIns="0" rIns="0" bIns="0" rtlCol="0" anchor="t"/>
          <a:lstStyle/>
          <a:p>
            <a:pPr algn="r" indent="0" marL="0">
              <a:buNone/>
            </a:pPr>
            <a:r>
              <a:rPr lang="en-US" sz="1100" dirty="0">
                <a:solidFill>
                  <a:srgbClr val="52616A"/>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t"/>
          <a:lstStyle/>
          <a:p>
            <a:pPr algn="l" indent="0" marL="0">
              <a:buNone/>
            </a:pPr>
            <a:r>
              <a:rPr lang="en-US" sz="3200" b="1" dirty="0">
                <a:solidFill>
                  <a:srgbClr val="132C3B"/>
                </a:solidFill>
                <a:latin typeface="Arial" pitchFamily="34" charset="0"/>
                <a:ea typeface="Arial" pitchFamily="34" charset="-122"/>
                <a:cs typeface="Arial" pitchFamily="34" charset="-120"/>
              </a:rPr>
              <a:t>Likely audience questions</a:t>
            </a:r>
            <a:endParaRPr lang="en-US" sz="3200" dirty="0"/>
          </a:p>
        </p:txBody>
      </p:sp>
      <p:sp>
        <p:nvSpPr>
          <p:cNvPr id="3" name="Shape 1"/>
          <p:cNvSpPr/>
          <p:nvPr/>
        </p:nvSpPr>
        <p:spPr>
          <a:xfrm>
            <a:off x="548640" y="1325880"/>
            <a:ext cx="11064240" cy="1051560"/>
          </a:xfrm>
          <a:prstGeom prst="roundRect">
            <a:avLst>
              <a:gd name="adj" fmla="val 6957"/>
            </a:avLst>
          </a:prstGeom>
          <a:solidFill>
            <a:srgbClr val="F1F4F6"/>
          </a:solidFill>
          <a:ln w="12700">
            <a:solidFill>
              <a:srgbClr val="F1F4F6"/>
            </a:solidFill>
            <a:prstDash val="solid"/>
          </a:ln>
        </p:spPr>
      </p:sp>
      <p:sp>
        <p:nvSpPr>
          <p:cNvPr id="4" name="Text 2"/>
          <p:cNvSpPr txBox="1"/>
          <p:nvPr/>
        </p:nvSpPr>
        <p:spPr>
          <a:xfrm>
            <a:off x="822960" y="1453896"/>
            <a:ext cx="10515600" cy="365760"/>
          </a:xfrm>
          <a:prstGeom prst="rect">
            <a:avLst/>
          </a:prstGeom>
          <a:noFill/>
          <a:ln/>
        </p:spPr>
        <p:txBody>
          <a:bodyPr wrap="square" lIns="0" tIns="0" rIns="0" bIns="0" rtlCol="0" anchor="t"/>
          <a:lstStyle/>
          <a:p>
            <a:pPr algn="l" indent="0" marL="0">
              <a:buNone/>
            </a:pPr>
            <a:r>
              <a:rPr lang="en-US" sz="1800" b="1" dirty="0">
                <a:solidFill>
                  <a:srgbClr val="132C3B"/>
                </a:solidFill>
                <a:latin typeface="Arial" pitchFamily="34" charset="0"/>
                <a:ea typeface="Arial" pitchFamily="34" charset="-122"/>
                <a:cs typeface="Arial" pitchFamily="34" charset="-120"/>
              </a:rPr>
              <a:t>Did the road tests prove cheating?</a:t>
            </a:r>
            <a:endParaRPr lang="en-US" sz="1800" dirty="0"/>
          </a:p>
        </p:txBody>
      </p:sp>
      <p:sp>
        <p:nvSpPr>
          <p:cNvPr id="5" name="Text 3"/>
          <p:cNvSpPr txBox="1"/>
          <p:nvPr/>
        </p:nvSpPr>
        <p:spPr>
          <a:xfrm>
            <a:off x="822960" y="1837944"/>
            <a:ext cx="10515600" cy="457200"/>
          </a:xfrm>
          <a:prstGeom prst="rect">
            <a:avLst/>
          </a:prstGeom>
          <a:noFill/>
          <a:ln/>
        </p:spPr>
        <p:txBody>
          <a:bodyPr wrap="square" lIns="0" tIns="0" rIns="0" bIns="0" rtlCol="0" anchor="t"/>
          <a:lstStyle/>
          <a:p>
            <a:pPr algn="l" indent="0" marL="0">
              <a:buNone/>
            </a:pPr>
            <a:r>
              <a:rPr lang="en-US" sz="1600" dirty="0">
                <a:solidFill>
                  <a:srgbClr val="52616A"/>
                </a:solidFill>
                <a:latin typeface="Arial" pitchFamily="34" charset="0"/>
                <a:ea typeface="Arial" pitchFamily="34" charset="-122"/>
                <a:cs typeface="Arial" pitchFamily="34" charset="-120"/>
              </a:rPr>
              <a:t>They established the anomaly. Later software evidence and admissions established intent.</a:t>
            </a:r>
            <a:endParaRPr lang="en-US" sz="1600" dirty="0"/>
          </a:p>
        </p:txBody>
      </p:sp>
      <p:sp>
        <p:nvSpPr>
          <p:cNvPr id="6" name="Shape 4"/>
          <p:cNvSpPr/>
          <p:nvPr/>
        </p:nvSpPr>
        <p:spPr>
          <a:xfrm>
            <a:off x="548640" y="2514600"/>
            <a:ext cx="11064240" cy="1051560"/>
          </a:xfrm>
          <a:prstGeom prst="roundRect">
            <a:avLst>
              <a:gd name="adj" fmla="val 6957"/>
            </a:avLst>
          </a:prstGeom>
          <a:solidFill>
            <a:srgbClr val="F1F4F6"/>
          </a:solidFill>
          <a:ln w="12700">
            <a:solidFill>
              <a:srgbClr val="F1F4F6"/>
            </a:solidFill>
            <a:prstDash val="solid"/>
          </a:ln>
        </p:spPr>
      </p:sp>
      <p:sp>
        <p:nvSpPr>
          <p:cNvPr id="7" name="Text 5"/>
          <p:cNvSpPr txBox="1"/>
          <p:nvPr/>
        </p:nvSpPr>
        <p:spPr>
          <a:xfrm>
            <a:off x="822960" y="2642616"/>
            <a:ext cx="10515600" cy="365760"/>
          </a:xfrm>
          <a:prstGeom prst="rect">
            <a:avLst/>
          </a:prstGeom>
          <a:noFill/>
          <a:ln/>
        </p:spPr>
        <p:txBody>
          <a:bodyPr wrap="square" lIns="0" tIns="0" rIns="0" bIns="0" rtlCol="0" anchor="t"/>
          <a:lstStyle/>
          <a:p>
            <a:pPr algn="l" indent="0" marL="0">
              <a:buNone/>
            </a:pPr>
            <a:r>
              <a:rPr lang="en-US" sz="1800" b="1" dirty="0">
                <a:solidFill>
                  <a:srgbClr val="132C3B"/>
                </a:solidFill>
                <a:latin typeface="Arial" pitchFamily="34" charset="0"/>
                <a:ea typeface="Arial" pitchFamily="34" charset="-122"/>
                <a:cs typeface="Arial" pitchFamily="34" charset="-120"/>
              </a:rPr>
              <a:t>Why three vehicles?</a:t>
            </a:r>
            <a:endParaRPr lang="en-US" sz="1800" dirty="0"/>
          </a:p>
        </p:txBody>
      </p:sp>
      <p:sp>
        <p:nvSpPr>
          <p:cNvPr id="8" name="Text 6"/>
          <p:cNvSpPr txBox="1"/>
          <p:nvPr/>
        </p:nvSpPr>
        <p:spPr>
          <a:xfrm>
            <a:off x="822960" y="3026664"/>
            <a:ext cx="10515600" cy="457200"/>
          </a:xfrm>
          <a:prstGeom prst="rect">
            <a:avLst/>
          </a:prstGeom>
          <a:noFill/>
          <a:ln/>
        </p:spPr>
        <p:txBody>
          <a:bodyPr wrap="square" lIns="0" tIns="0" rIns="0" bIns="0" rtlCol="0" anchor="t"/>
          <a:lstStyle/>
          <a:p>
            <a:pPr algn="l" indent="0" marL="0">
              <a:buNone/>
            </a:pPr>
            <a:r>
              <a:rPr lang="en-US" sz="1600" dirty="0">
                <a:solidFill>
                  <a:srgbClr val="52616A"/>
                </a:solidFill>
                <a:latin typeface="Arial" pitchFamily="34" charset="0"/>
                <a:ea typeface="Arial" pitchFamily="34" charset="-122"/>
                <a:cs typeface="Arial" pitchFamily="34" charset="-120"/>
              </a:rPr>
              <a:t>Enough to identify cases worth investigating, insufficient to estimate fleet-wide prevalence.</a:t>
            </a:r>
            <a:endParaRPr lang="en-US" sz="1600" dirty="0"/>
          </a:p>
        </p:txBody>
      </p:sp>
      <p:sp>
        <p:nvSpPr>
          <p:cNvPr id="9" name="Shape 7"/>
          <p:cNvSpPr/>
          <p:nvPr/>
        </p:nvSpPr>
        <p:spPr>
          <a:xfrm>
            <a:off x="548640" y="3703320"/>
            <a:ext cx="11064240" cy="1051560"/>
          </a:xfrm>
          <a:prstGeom prst="roundRect">
            <a:avLst>
              <a:gd name="adj" fmla="val 6957"/>
            </a:avLst>
          </a:prstGeom>
          <a:solidFill>
            <a:srgbClr val="F1F4F6"/>
          </a:solidFill>
          <a:ln w="12700">
            <a:solidFill>
              <a:srgbClr val="F1F4F6"/>
            </a:solidFill>
            <a:prstDash val="solid"/>
          </a:ln>
        </p:spPr>
      </p:sp>
      <p:sp>
        <p:nvSpPr>
          <p:cNvPr id="10" name="Text 8"/>
          <p:cNvSpPr txBox="1"/>
          <p:nvPr/>
        </p:nvSpPr>
        <p:spPr>
          <a:xfrm>
            <a:off x="822960" y="3831336"/>
            <a:ext cx="10515600" cy="365760"/>
          </a:xfrm>
          <a:prstGeom prst="rect">
            <a:avLst/>
          </a:prstGeom>
          <a:noFill/>
          <a:ln/>
        </p:spPr>
        <p:txBody>
          <a:bodyPr wrap="square" lIns="0" tIns="0" rIns="0" bIns="0" rtlCol="0" anchor="t"/>
          <a:lstStyle/>
          <a:p>
            <a:pPr algn="l" indent="0" marL="0">
              <a:buNone/>
            </a:pPr>
            <a:r>
              <a:rPr lang="en-US" sz="1800" b="1" dirty="0">
                <a:solidFill>
                  <a:srgbClr val="132C3B"/>
                </a:solidFill>
                <a:latin typeface="Arial" pitchFamily="34" charset="0"/>
                <a:ea typeface="Arial" pitchFamily="34" charset="-122"/>
                <a:cs typeface="Arial" pitchFamily="34" charset="-120"/>
              </a:rPr>
              <a:t>Why use the standard on a road chart?</a:t>
            </a:r>
            <a:endParaRPr lang="en-US" sz="1800" dirty="0"/>
          </a:p>
        </p:txBody>
      </p:sp>
      <p:sp>
        <p:nvSpPr>
          <p:cNvPr id="11" name="Text 9"/>
          <p:cNvSpPr txBox="1"/>
          <p:nvPr/>
        </p:nvSpPr>
        <p:spPr>
          <a:xfrm>
            <a:off x="822960" y="4215384"/>
            <a:ext cx="10515600" cy="457200"/>
          </a:xfrm>
          <a:prstGeom prst="rect">
            <a:avLst/>
          </a:prstGeom>
          <a:noFill/>
          <a:ln/>
        </p:spPr>
        <p:txBody>
          <a:bodyPr wrap="square" lIns="0" tIns="0" rIns="0" bIns="0" rtlCol="0" anchor="t"/>
          <a:lstStyle/>
          <a:p>
            <a:pPr algn="l" indent="0" marL="0">
              <a:buNone/>
            </a:pPr>
            <a:r>
              <a:rPr lang="en-US" sz="1600" dirty="0">
                <a:solidFill>
                  <a:srgbClr val="52616A"/>
                </a:solidFill>
                <a:latin typeface="Arial" pitchFamily="34" charset="0"/>
                <a:ea typeface="Arial" pitchFamily="34" charset="-122"/>
                <a:cs typeface="Arial" pitchFamily="34" charset="-120"/>
              </a:rPr>
              <a:t>It provides a clear reference. The routes are not certification tests, and ratios must name their denominator.</a:t>
            </a:r>
            <a:endParaRPr lang="en-US" sz="1600" dirty="0"/>
          </a:p>
        </p:txBody>
      </p:sp>
      <p:sp>
        <p:nvSpPr>
          <p:cNvPr id="12" name="Shape 10"/>
          <p:cNvSpPr/>
          <p:nvPr/>
        </p:nvSpPr>
        <p:spPr>
          <a:xfrm>
            <a:off x="548640" y="4892040"/>
            <a:ext cx="11064240" cy="1051560"/>
          </a:xfrm>
          <a:prstGeom prst="roundRect">
            <a:avLst>
              <a:gd name="adj" fmla="val 6957"/>
            </a:avLst>
          </a:prstGeom>
          <a:solidFill>
            <a:srgbClr val="F1F4F6"/>
          </a:solidFill>
          <a:ln w="12700">
            <a:solidFill>
              <a:srgbClr val="F1F4F6"/>
            </a:solidFill>
            <a:prstDash val="solid"/>
          </a:ln>
        </p:spPr>
      </p:sp>
      <p:sp>
        <p:nvSpPr>
          <p:cNvPr id="13" name="Text 11"/>
          <p:cNvSpPr txBox="1"/>
          <p:nvPr/>
        </p:nvSpPr>
        <p:spPr>
          <a:xfrm>
            <a:off x="822960" y="5020056"/>
            <a:ext cx="10515600" cy="365760"/>
          </a:xfrm>
          <a:prstGeom prst="rect">
            <a:avLst/>
          </a:prstGeom>
          <a:noFill/>
          <a:ln/>
        </p:spPr>
        <p:txBody>
          <a:bodyPr wrap="square" lIns="0" tIns="0" rIns="0" bIns="0" rtlCol="0" anchor="t"/>
          <a:lstStyle/>
          <a:p>
            <a:pPr algn="l" indent="0" marL="0">
              <a:buNone/>
            </a:pPr>
            <a:r>
              <a:rPr lang="en-US" sz="1800" b="1" dirty="0">
                <a:solidFill>
                  <a:srgbClr val="132C3B"/>
                </a:solidFill>
                <a:latin typeface="Arial" pitchFamily="34" charset="0"/>
                <a:ea typeface="Arial" pitchFamily="34" charset="-122"/>
                <a:cs typeface="Arial" pitchFamily="34" charset="-120"/>
              </a:rPr>
              <a:t>Why do sources say 35×, ~40× or 10–40×?</a:t>
            </a:r>
            <a:endParaRPr lang="en-US" sz="1800" dirty="0"/>
          </a:p>
        </p:txBody>
      </p:sp>
      <p:sp>
        <p:nvSpPr>
          <p:cNvPr id="14" name="Text 12"/>
          <p:cNvSpPr txBox="1"/>
          <p:nvPr/>
        </p:nvSpPr>
        <p:spPr>
          <a:xfrm>
            <a:off x="822960" y="5404104"/>
            <a:ext cx="10515600" cy="457200"/>
          </a:xfrm>
          <a:prstGeom prst="rect">
            <a:avLst/>
          </a:prstGeom>
          <a:noFill/>
          <a:ln/>
        </p:spPr>
        <p:txBody>
          <a:bodyPr wrap="square" lIns="0" tIns="0" rIns="0" bIns="0" rtlCol="0" anchor="t"/>
          <a:lstStyle/>
          <a:p>
            <a:pPr algn="l" indent="0" marL="0">
              <a:buNone/>
            </a:pPr>
            <a:r>
              <a:rPr lang="en-US" sz="1600" dirty="0">
                <a:solidFill>
                  <a:srgbClr val="52616A"/>
                </a:solidFill>
                <a:latin typeface="Arial" pitchFamily="34" charset="0"/>
                <a:ea typeface="Arial" pitchFamily="34" charset="-122"/>
                <a:cs typeface="Arial" pitchFamily="34" charset="-120"/>
              </a:rPr>
              <a:t>Different scopes: route means (WVU), single runs (plea ¶ 52), drive cycles across the fleet (EPA p. 4).</a:t>
            </a:r>
            <a:endParaRPr lang="en-US" sz="1600" dirty="0"/>
          </a:p>
        </p:txBody>
      </p:sp>
      <p:sp>
        <p:nvSpPr>
          <p:cNvPr id="15" name="Text 13"/>
          <p:cNvSpPr txBox="1"/>
          <p:nvPr/>
        </p:nvSpPr>
        <p:spPr>
          <a:xfrm>
            <a:off x="548640" y="6236208"/>
            <a:ext cx="10515600" cy="457200"/>
          </a:xfrm>
          <a:prstGeom prst="rect">
            <a:avLst/>
          </a:prstGeom>
          <a:noFill/>
          <a:ln/>
        </p:spPr>
        <p:txBody>
          <a:bodyPr wrap="square" lIns="0" tIns="0" rIns="0" bIns="0" rtlCol="0" anchor="t"/>
          <a:lstStyle/>
          <a:p>
            <a:pPr algn="l" indent="0" marL="0">
              <a:buNone/>
            </a:pPr>
            <a:r>
              <a:rPr lang="en-US" sz="1100" dirty="0">
                <a:solidFill>
                  <a:srgbClr val="52616A"/>
                </a:solidFill>
                <a:latin typeface="Arial" pitchFamily="34" charset="0"/>
                <a:ea typeface="Arial" pitchFamily="34" charset="-122"/>
                <a:cs typeface="Arial" pitchFamily="34" charset="-120"/>
              </a:rPr>
              <a:t>WVU/ICCT (2014), p. iv, pp. 59, 64–65; EPA NOV (2015), pp. 3–4; VW plea (2017), Exh. 2, ¶ 34 (Exh. 2 p. 13), ¶ 52 (p. 21), ¶ 63.</a:t>
            </a:r>
            <a:endParaRPr lang="en-US" sz="1100" dirty="0"/>
          </a:p>
        </p:txBody>
      </p:sp>
      <p:sp>
        <p:nvSpPr>
          <p:cNvPr id="16" name="Text 14"/>
          <p:cNvSpPr txBox="1"/>
          <p:nvPr/>
        </p:nvSpPr>
        <p:spPr>
          <a:xfrm>
            <a:off x="11155680" y="6236208"/>
            <a:ext cx="502920" cy="274320"/>
          </a:xfrm>
          <a:prstGeom prst="rect">
            <a:avLst/>
          </a:prstGeom>
          <a:noFill/>
          <a:ln/>
        </p:spPr>
        <p:txBody>
          <a:bodyPr wrap="square" lIns="0" tIns="0" rIns="0" bIns="0" rtlCol="0" anchor="t"/>
          <a:lstStyle/>
          <a:p>
            <a:pPr algn="r" indent="0" marL="0">
              <a:buNone/>
            </a:pPr>
            <a:r>
              <a:rPr lang="en-US" sz="1100" dirty="0">
                <a:solidFill>
                  <a:srgbClr val="52616A"/>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822960"/>
          </a:xfrm>
          <a:prstGeom prst="rect">
            <a:avLst/>
          </a:prstGeom>
          <a:noFill/>
          <a:ln/>
        </p:spPr>
        <p:txBody>
          <a:bodyPr wrap="square" lIns="0" tIns="0" rIns="0" bIns="0" rtlCol="0" anchor="t"/>
          <a:lstStyle/>
          <a:p>
            <a:pPr algn="l" indent="0" marL="0">
              <a:buNone/>
            </a:pPr>
            <a:r>
              <a:rPr lang="en-US" sz="3200" b="1" dirty="0">
                <a:solidFill>
                  <a:srgbClr val="132C3B"/>
                </a:solidFill>
                <a:latin typeface="Arial" pitchFamily="34" charset="0"/>
                <a:ea typeface="Arial" pitchFamily="34" charset="-122"/>
                <a:cs typeface="Arial" pitchFamily="34" charset="-120"/>
              </a:rPr>
              <a:t>Primary sources</a:t>
            </a:r>
            <a:endParaRPr lang="en-US" sz="3200" dirty="0"/>
          </a:p>
        </p:txBody>
      </p:sp>
      <p:sp>
        <p:nvSpPr>
          <p:cNvPr id="3" name="Shape 1"/>
          <p:cNvSpPr/>
          <p:nvPr/>
        </p:nvSpPr>
        <p:spPr>
          <a:xfrm>
            <a:off x="548640" y="1417320"/>
            <a:ext cx="3520440" cy="3200400"/>
          </a:xfrm>
          <a:prstGeom prst="roundRect">
            <a:avLst>
              <a:gd name="adj" fmla="val 2286"/>
            </a:avLst>
          </a:prstGeom>
          <a:solidFill>
            <a:srgbClr val="F1F4F6"/>
          </a:solidFill>
          <a:ln w="12700">
            <a:solidFill>
              <a:srgbClr val="F1F4F6"/>
            </a:solidFill>
            <a:prstDash val="solid"/>
          </a:ln>
        </p:spPr>
      </p:sp>
      <p:sp>
        <p:nvSpPr>
          <p:cNvPr id="4" name="Text 2"/>
          <p:cNvSpPr txBox="1"/>
          <p:nvPr/>
        </p:nvSpPr>
        <p:spPr>
          <a:xfrm>
            <a:off x="822960" y="1645920"/>
            <a:ext cx="3017520" cy="320040"/>
          </a:xfrm>
          <a:prstGeom prst="rect">
            <a:avLst/>
          </a:prstGeom>
          <a:noFill/>
          <a:ln/>
        </p:spPr>
        <p:txBody>
          <a:bodyPr wrap="square" lIns="0" tIns="0" rIns="0" bIns="0" rtlCol="0" anchor="t"/>
          <a:lstStyle/>
          <a:p>
            <a:pPr algn="l" indent="0" marL="0">
              <a:buNone/>
            </a:pPr>
            <a:r>
              <a:rPr lang="en-US" sz="1400" b="1" dirty="0">
                <a:solidFill>
                  <a:srgbClr val="2864B4"/>
                </a:solidFill>
                <a:latin typeface="Arial" pitchFamily="34" charset="0"/>
                <a:ea typeface="Arial" pitchFamily="34" charset="-122"/>
                <a:cs typeface="Arial" pitchFamily="34" charset="-120"/>
              </a:rPr>
              <a:t>2014 research</a:t>
            </a:r>
            <a:endParaRPr lang="en-US" sz="1400" dirty="0"/>
          </a:p>
        </p:txBody>
      </p:sp>
      <p:sp>
        <p:nvSpPr>
          <p:cNvPr id="5" name="Text 3"/>
          <p:cNvSpPr txBox="1"/>
          <p:nvPr/>
        </p:nvSpPr>
        <p:spPr>
          <a:xfrm>
            <a:off x="822960" y="2057400"/>
            <a:ext cx="3017520" cy="777240"/>
          </a:xfrm>
          <a:prstGeom prst="rect">
            <a:avLst/>
          </a:prstGeom>
          <a:noFill/>
          <a:ln/>
        </p:spPr>
        <p:txBody>
          <a:bodyPr wrap="square" lIns="0" tIns="0" rIns="0" bIns="0" rtlCol="0" anchor="t"/>
          <a:lstStyle/>
          <a:p>
            <a:pPr algn="l" indent="0" marL="0">
              <a:buNone/>
            </a:pPr>
            <a:r>
              <a:rPr lang="en-US" sz="2200" b="1" dirty="0">
                <a:solidFill>
                  <a:srgbClr val="132C3B"/>
                </a:solidFill>
                <a:latin typeface="Arial" pitchFamily="34" charset="0"/>
                <a:ea typeface="Arial" pitchFamily="34" charset="-122"/>
                <a:cs typeface="Arial" pitchFamily="34" charset="-120"/>
              </a:rPr>
              <a:t>WVU / ICCT report</a:t>
            </a:r>
            <a:endParaRPr lang="en-US" sz="2200" dirty="0"/>
          </a:p>
        </p:txBody>
      </p:sp>
      <p:sp>
        <p:nvSpPr>
          <p:cNvPr id="6" name="Text 4"/>
          <p:cNvSpPr txBox="1"/>
          <p:nvPr/>
        </p:nvSpPr>
        <p:spPr>
          <a:xfrm>
            <a:off x="822960" y="2926080"/>
            <a:ext cx="3017520" cy="2468880"/>
          </a:xfrm>
          <a:prstGeom prst="rect">
            <a:avLst/>
          </a:prstGeom>
          <a:noFill/>
          <a:ln/>
        </p:spPr>
        <p:txBody>
          <a:bodyPr wrap="square" lIns="0" tIns="0" rIns="0" bIns="0" rtlCol="0" anchor="t"/>
          <a:lstStyle/>
          <a:p>
            <a:pPr algn="l" indent="0" marL="0">
              <a:buNone/>
            </a:pPr>
            <a:r>
              <a:rPr lang="en-US" sz="1500" dirty="0">
                <a:solidFill>
                  <a:srgbClr val="52616A"/>
                </a:solidFill>
                <a:latin typeface="Arial" pitchFamily="34" charset="0"/>
                <a:ea typeface="Arial" pitchFamily="34" charset="-122"/>
                <a:cs typeface="Arial" pitchFamily="34" charset="-120"/>
              </a:rPr>
              <a:t>15 May 2014</a:t>
            </a:r>
            <a:endParaRPr lang="en-US" sz="1500" dirty="0"/>
          </a:p>
          <a:p>
            <a:pPr algn="l" indent="0" marL="0">
              <a:buNone/>
            </a:pPr>
            <a:r>
              <a:rPr lang="en-US" sz="1500" dirty="0">
                <a:solidFill>
                  <a:srgbClr val="52616A"/>
                </a:solidFill>
                <a:latin typeface="Arial" pitchFamily="34" charset="0"/>
                <a:ea typeface="Arial" pitchFamily="34" charset="-122"/>
                <a:cs typeface="Arial" pitchFamily="34" charset="-120"/>
              </a:rPr>
              <a:t>Design: pp. 1, 9–10, 50, 55, 57</a:t>
            </a:r>
            <a:endParaRPr lang="en-US" sz="1500" dirty="0"/>
          </a:p>
          <a:p>
            <a:pPr algn="l" indent="0" marL="0">
              <a:buNone/>
            </a:pPr>
            <a:r>
              <a:rPr lang="en-US" sz="1500" dirty="0">
                <a:solidFill>
                  <a:srgbClr val="52616A"/>
                </a:solidFill>
                <a:latin typeface="Arial" pitchFamily="34" charset="0"/>
                <a:ea typeface="Arial" pitchFamily="34" charset="-122"/>
                <a:cs typeface="Arial" pitchFamily="34" charset="-120"/>
              </a:rPr>
              <a:t>Standard: Table 4.1 p. 59</a:t>
            </a:r>
            <a:endParaRPr lang="en-US" sz="1500" dirty="0"/>
          </a:p>
          <a:p>
            <a:pPr algn="l" indent="0" marL="0">
              <a:buNone/>
            </a:pPr>
            <a:r>
              <a:rPr lang="en-US" sz="1500" dirty="0">
                <a:solidFill>
                  <a:srgbClr val="52616A"/>
                </a:solidFill>
                <a:latin typeface="Arial" pitchFamily="34" charset="0"/>
                <a:ea typeface="Arial" pitchFamily="34" charset="-122"/>
                <a:cs typeface="Arial" pitchFamily="34" charset="-120"/>
              </a:rPr>
              <a:t>Results: p. 64; Table 4.3 p. 65</a:t>
            </a:r>
            <a:endParaRPr lang="en-US" sz="1500" dirty="0"/>
          </a:p>
        </p:txBody>
      </p:sp>
      <p:sp>
        <p:nvSpPr>
          <p:cNvPr id="7" name="Shape 5"/>
          <p:cNvSpPr/>
          <p:nvPr/>
        </p:nvSpPr>
        <p:spPr>
          <a:xfrm>
            <a:off x="4343400" y="1417320"/>
            <a:ext cx="3520440" cy="3200400"/>
          </a:xfrm>
          <a:prstGeom prst="roundRect">
            <a:avLst>
              <a:gd name="adj" fmla="val 2286"/>
            </a:avLst>
          </a:prstGeom>
          <a:solidFill>
            <a:srgbClr val="F1F4F6"/>
          </a:solidFill>
          <a:ln w="12700">
            <a:solidFill>
              <a:srgbClr val="F1F4F6"/>
            </a:solidFill>
            <a:prstDash val="solid"/>
          </a:ln>
        </p:spPr>
      </p:sp>
      <p:sp>
        <p:nvSpPr>
          <p:cNvPr id="8" name="Text 6"/>
          <p:cNvSpPr txBox="1"/>
          <p:nvPr/>
        </p:nvSpPr>
        <p:spPr>
          <a:xfrm>
            <a:off x="4617720" y="1645920"/>
            <a:ext cx="3017520" cy="320040"/>
          </a:xfrm>
          <a:prstGeom prst="rect">
            <a:avLst/>
          </a:prstGeom>
          <a:noFill/>
          <a:ln/>
        </p:spPr>
        <p:txBody>
          <a:bodyPr wrap="square" lIns="0" tIns="0" rIns="0" bIns="0" rtlCol="0" anchor="t"/>
          <a:lstStyle/>
          <a:p>
            <a:pPr algn="l" indent="0" marL="0">
              <a:buNone/>
            </a:pPr>
            <a:r>
              <a:rPr lang="en-US" sz="1400" b="1" dirty="0">
                <a:solidFill>
                  <a:srgbClr val="C35724"/>
                </a:solidFill>
                <a:latin typeface="Arial" pitchFamily="34" charset="0"/>
                <a:ea typeface="Arial" pitchFamily="34" charset="-122"/>
                <a:cs typeface="Arial" pitchFamily="34" charset="-120"/>
              </a:rPr>
              <a:t>2015 regulator findings</a:t>
            </a:r>
            <a:endParaRPr lang="en-US" sz="1400" dirty="0"/>
          </a:p>
        </p:txBody>
      </p:sp>
      <p:sp>
        <p:nvSpPr>
          <p:cNvPr id="9" name="Text 7"/>
          <p:cNvSpPr txBox="1"/>
          <p:nvPr/>
        </p:nvSpPr>
        <p:spPr>
          <a:xfrm>
            <a:off x="4617720" y="2057400"/>
            <a:ext cx="3017520" cy="777240"/>
          </a:xfrm>
          <a:prstGeom prst="rect">
            <a:avLst/>
          </a:prstGeom>
          <a:noFill/>
          <a:ln/>
        </p:spPr>
        <p:txBody>
          <a:bodyPr wrap="square" lIns="0" tIns="0" rIns="0" bIns="0" rtlCol="0" anchor="t"/>
          <a:lstStyle/>
          <a:p>
            <a:pPr algn="l" indent="0" marL="0">
              <a:buNone/>
            </a:pPr>
            <a:r>
              <a:rPr lang="en-US" sz="2200" b="1" dirty="0">
                <a:solidFill>
                  <a:srgbClr val="132C3B"/>
                </a:solidFill>
                <a:latin typeface="Arial" pitchFamily="34" charset="0"/>
                <a:ea typeface="Arial" pitchFamily="34" charset="-122"/>
                <a:cs typeface="Arial" pitchFamily="34" charset="-120"/>
              </a:rPr>
              <a:t>EPA Notice of Violation</a:t>
            </a:r>
            <a:endParaRPr lang="en-US" sz="2200" dirty="0"/>
          </a:p>
        </p:txBody>
      </p:sp>
      <p:sp>
        <p:nvSpPr>
          <p:cNvPr id="10" name="Text 8"/>
          <p:cNvSpPr txBox="1"/>
          <p:nvPr/>
        </p:nvSpPr>
        <p:spPr>
          <a:xfrm>
            <a:off x="4617720" y="2926080"/>
            <a:ext cx="3017520" cy="2468880"/>
          </a:xfrm>
          <a:prstGeom prst="rect">
            <a:avLst/>
          </a:prstGeom>
          <a:noFill/>
          <a:ln/>
        </p:spPr>
        <p:txBody>
          <a:bodyPr wrap="square" lIns="0" tIns="0" rIns="0" bIns="0" rtlCol="0" anchor="t"/>
          <a:lstStyle/>
          <a:p>
            <a:pPr algn="l" indent="0" marL="0">
              <a:buNone/>
            </a:pPr>
            <a:r>
              <a:rPr lang="en-US" sz="1500" dirty="0">
                <a:solidFill>
                  <a:srgbClr val="52616A"/>
                </a:solidFill>
                <a:latin typeface="Arial" pitchFamily="34" charset="0"/>
                <a:ea typeface="Arial" pitchFamily="34" charset="-122"/>
                <a:cs typeface="Arial" pitchFamily="34" charset="-120"/>
              </a:rPr>
              <a:t>18 September 2015</a:t>
            </a:r>
            <a:endParaRPr lang="en-US" sz="1500" dirty="0"/>
          </a:p>
          <a:p>
            <a:pPr algn="l" indent="0" marL="0">
              <a:buNone/>
            </a:pPr>
            <a:r>
              <a:rPr lang="en-US" sz="1500" dirty="0">
                <a:solidFill>
                  <a:srgbClr val="52616A"/>
                </a:solidFill>
                <a:latin typeface="Arial" pitchFamily="34" charset="0"/>
                <a:ea typeface="Arial" pitchFamily="34" charset="-122"/>
                <a:cs typeface="Arial" pitchFamily="34" charset="-120"/>
              </a:rPr>
              <a:t>Switch and calibrations: pp. 3–4</a:t>
            </a:r>
            <a:endParaRPr lang="en-US" sz="1500" dirty="0"/>
          </a:p>
          <a:p>
            <a:pPr algn="l" indent="0" marL="0">
              <a:buNone/>
            </a:pPr>
            <a:r>
              <a:rPr lang="en-US" sz="1500" dirty="0">
                <a:solidFill>
                  <a:srgbClr val="52616A"/>
                </a:solidFill>
                <a:latin typeface="Arial" pitchFamily="34" charset="0"/>
                <a:ea typeface="Arial" pitchFamily="34" charset="-122"/>
                <a:cs typeface="Arial" pitchFamily="34" charset="-120"/>
              </a:rPr>
              <a:t>Affected models: p. 5</a:t>
            </a:r>
            <a:endParaRPr lang="en-US" sz="1500" dirty="0"/>
          </a:p>
        </p:txBody>
      </p:sp>
      <p:sp>
        <p:nvSpPr>
          <p:cNvPr id="11" name="Shape 9"/>
          <p:cNvSpPr/>
          <p:nvPr/>
        </p:nvSpPr>
        <p:spPr>
          <a:xfrm>
            <a:off x="8138160" y="1417320"/>
            <a:ext cx="3520440" cy="3200400"/>
          </a:xfrm>
          <a:prstGeom prst="roundRect">
            <a:avLst>
              <a:gd name="adj" fmla="val 2286"/>
            </a:avLst>
          </a:prstGeom>
          <a:solidFill>
            <a:srgbClr val="F1F4F6"/>
          </a:solidFill>
          <a:ln w="12700">
            <a:solidFill>
              <a:srgbClr val="F1F4F6"/>
            </a:solidFill>
            <a:prstDash val="solid"/>
          </a:ln>
        </p:spPr>
      </p:sp>
      <p:sp>
        <p:nvSpPr>
          <p:cNvPr id="12" name="Text 10"/>
          <p:cNvSpPr txBox="1"/>
          <p:nvPr/>
        </p:nvSpPr>
        <p:spPr>
          <a:xfrm>
            <a:off x="8412480" y="1645920"/>
            <a:ext cx="3017520" cy="320040"/>
          </a:xfrm>
          <a:prstGeom prst="rect">
            <a:avLst/>
          </a:prstGeom>
          <a:noFill/>
          <a:ln/>
        </p:spPr>
        <p:txBody>
          <a:bodyPr wrap="square" lIns="0" tIns="0" rIns="0" bIns="0" rtlCol="0" anchor="t"/>
          <a:lstStyle/>
          <a:p>
            <a:pPr algn="l" indent="0" marL="0">
              <a:buNone/>
            </a:pPr>
            <a:r>
              <a:rPr lang="en-US" sz="1400" b="1" dirty="0">
                <a:solidFill>
                  <a:srgbClr val="008778"/>
                </a:solidFill>
                <a:latin typeface="Arial" pitchFamily="34" charset="0"/>
                <a:ea typeface="Arial" pitchFamily="34" charset="-122"/>
                <a:cs typeface="Arial" pitchFamily="34" charset="-120"/>
              </a:rPr>
              <a:t>2017 admissions</a:t>
            </a:r>
            <a:endParaRPr lang="en-US" sz="1400" dirty="0"/>
          </a:p>
        </p:txBody>
      </p:sp>
      <p:sp>
        <p:nvSpPr>
          <p:cNvPr id="13" name="Text 11"/>
          <p:cNvSpPr txBox="1"/>
          <p:nvPr/>
        </p:nvSpPr>
        <p:spPr>
          <a:xfrm>
            <a:off x="8412480" y="2057400"/>
            <a:ext cx="3017520" cy="777240"/>
          </a:xfrm>
          <a:prstGeom prst="rect">
            <a:avLst/>
          </a:prstGeom>
          <a:noFill/>
          <a:ln/>
        </p:spPr>
        <p:txBody>
          <a:bodyPr wrap="square" lIns="0" tIns="0" rIns="0" bIns="0" rtlCol="0" anchor="t"/>
          <a:lstStyle/>
          <a:p>
            <a:pPr algn="l" indent="0" marL="0">
              <a:buNone/>
            </a:pPr>
            <a:r>
              <a:rPr lang="en-US" sz="2200" b="1" dirty="0">
                <a:solidFill>
                  <a:srgbClr val="132C3B"/>
                </a:solidFill>
                <a:latin typeface="Arial" pitchFamily="34" charset="0"/>
                <a:ea typeface="Arial" pitchFamily="34" charset="-122"/>
                <a:cs typeface="Arial" pitchFamily="34" charset="-120"/>
              </a:rPr>
              <a:t>Volkswagen plea agreement</a:t>
            </a:r>
            <a:endParaRPr lang="en-US" sz="2200" dirty="0"/>
          </a:p>
        </p:txBody>
      </p:sp>
      <p:sp>
        <p:nvSpPr>
          <p:cNvPr id="14" name="Text 12"/>
          <p:cNvSpPr txBox="1"/>
          <p:nvPr/>
        </p:nvSpPr>
        <p:spPr>
          <a:xfrm>
            <a:off x="8412480" y="2926080"/>
            <a:ext cx="3017520" cy="2468880"/>
          </a:xfrm>
          <a:prstGeom prst="rect">
            <a:avLst/>
          </a:prstGeom>
          <a:noFill/>
          <a:ln/>
        </p:spPr>
        <p:txBody>
          <a:bodyPr wrap="square" lIns="0" tIns="0" rIns="0" bIns="0" rtlCol="0" anchor="t"/>
          <a:lstStyle/>
          <a:p>
            <a:pPr algn="l" indent="0" marL="0">
              <a:buNone/>
            </a:pPr>
            <a:r>
              <a:rPr lang="en-US" sz="1500" dirty="0">
                <a:solidFill>
                  <a:srgbClr val="52616A"/>
                </a:solidFill>
                <a:latin typeface="Arial" pitchFamily="34" charset="0"/>
                <a:ea typeface="Arial" pitchFamily="34" charset="-122"/>
                <a:cs typeface="Arial" pitchFamily="34" charset="-120"/>
              </a:rPr>
              <a:t>11 January 2017, Exhibit 2</a:t>
            </a:r>
            <a:endParaRPr lang="en-US" sz="1500" dirty="0"/>
          </a:p>
          <a:p>
            <a:pPr algn="l" indent="0" marL="0">
              <a:buNone/>
            </a:pPr>
            <a:r>
              <a:rPr lang="en-US" sz="1500" dirty="0">
                <a:solidFill>
                  <a:srgbClr val="52616A"/>
                </a:solidFill>
                <a:latin typeface="Arial" pitchFamily="34" charset="0"/>
                <a:ea typeface="Arial" pitchFamily="34" charset="-122"/>
                <a:cs typeface="Arial" pitchFamily="34" charset="-120"/>
              </a:rPr>
              <a:t>¶¶ 30, 33–36, 49–64, 72</a:t>
            </a:r>
            <a:endParaRPr lang="en-US" sz="1500" dirty="0"/>
          </a:p>
          <a:p>
            <a:pPr algn="l" indent="0" marL="0">
              <a:buNone/>
            </a:pPr>
            <a:r>
              <a:rPr lang="en-US" sz="1500" dirty="0">
                <a:solidFill>
                  <a:srgbClr val="52616A"/>
                </a:solidFill>
                <a:latin typeface="Arial" pitchFamily="34" charset="0"/>
                <a:ea typeface="Arial" pitchFamily="34" charset="-122"/>
                <a:cs typeface="Arial" pitchFamily="34" charset="-120"/>
              </a:rPr>
              <a:t>Penalties: pp. 12–14</a:t>
            </a:r>
            <a:endParaRPr lang="en-US" sz="1500" dirty="0"/>
          </a:p>
        </p:txBody>
      </p:sp>
      <p:sp>
        <p:nvSpPr>
          <p:cNvPr id="15" name="Text 13"/>
          <p:cNvSpPr txBox="1"/>
          <p:nvPr/>
        </p:nvSpPr>
        <p:spPr>
          <a:xfrm>
            <a:off x="548640" y="6236208"/>
            <a:ext cx="10515600" cy="457200"/>
          </a:xfrm>
          <a:prstGeom prst="rect">
            <a:avLst/>
          </a:prstGeom>
          <a:noFill/>
          <a:ln/>
        </p:spPr>
        <p:txBody>
          <a:bodyPr wrap="square" lIns="0" tIns="0" rIns="0" bIns="0" rtlCol="0" anchor="t"/>
          <a:lstStyle/>
          <a:p>
            <a:pPr algn="l" indent="0" marL="0">
              <a:buNone/>
            </a:pPr>
            <a:r>
              <a:rPr lang="en-US" sz="1100" dirty="0">
                <a:solidFill>
                  <a:srgbClr val="52616A"/>
                </a:solidFill>
                <a:latin typeface="Arial" pitchFamily="34" charset="0"/>
                <a:ea typeface="Arial" pitchFamily="34" charset="-122"/>
                <a:cs typeface="Arial" pitchFamily="34" charset="-120"/>
              </a:rPr>
              <a:t>Complete source details and links are also in the accompanying claim register.</a:t>
            </a:r>
            <a:endParaRPr lang="en-US" sz="1100" dirty="0"/>
          </a:p>
        </p:txBody>
      </p:sp>
      <p:sp>
        <p:nvSpPr>
          <p:cNvPr id="16" name="Text 14"/>
          <p:cNvSpPr txBox="1"/>
          <p:nvPr/>
        </p:nvSpPr>
        <p:spPr>
          <a:xfrm>
            <a:off x="11155680" y="6236208"/>
            <a:ext cx="502920" cy="274320"/>
          </a:xfrm>
          <a:prstGeom prst="rect">
            <a:avLst/>
          </a:prstGeom>
          <a:noFill/>
          <a:ln/>
        </p:spPr>
        <p:txBody>
          <a:bodyPr wrap="square" lIns="0" tIns="0" rIns="0" bIns="0" rtlCol="0" anchor="t"/>
          <a:lstStyle/>
          <a:p>
            <a:pPr algn="r" indent="0" marL="0">
              <a:buNone/>
            </a:pPr>
            <a:r>
              <a:rPr lang="en-US" sz="1100" dirty="0">
                <a:solidFill>
                  <a:srgbClr val="52616A"/>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clever presentation: Volkswagen’s emissions test</dc:title>
  <dc:subject>PptxGenJS Presentation</dc:subject>
  <dc:creator>Team 5</dc:creator>
  <cp:lastModifiedBy>Team 5</cp:lastModifiedBy>
  <cp:revision>1</cp:revision>
  <dcterms:created xsi:type="dcterms:W3CDTF">2026-09-28T13:49:53Z</dcterms:created>
  <dcterms:modified xsi:type="dcterms:W3CDTF">2026-09-28T13:49:53Z</dcterms:modified>
</cp:coreProperties>
</file>