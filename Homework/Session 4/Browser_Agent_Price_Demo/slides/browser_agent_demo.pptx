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Observe: the agent gets a screenshot and the page's interactive elements. Decide: the model writes a goal and picks an action. Act: the framework executes click/type/scroll/navigate. Verify: at the next step the model judges whether the page changed as hoped. Everything on this slide comes from one real step in our run; the full log is in the HTML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Numbers are measured from the runs in the runs folder (COMPARISON.md has the per-run detail and the limits).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Conclusion: agents trade cost and speed for flexibility. Use structured data where it exists; use an agent where it does not; verify either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E8EDF2"/>
                </a:solidFill>
                <a:latin typeface="Segoe UI"/>
              </a:defRPr>
            </a:pPr>
            <a:r>
              <a:t>How the agent works: observe → decide → act →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9AA7B4"/>
                </a:solidFill>
                <a:latin typeface="Segoe UI"/>
              </a:defRPr>
            </a:pPr>
            <a:r>
              <a:t>Real step 2 from our run (openai/gpt-4.1, browser-use 0.13.11), headed Chrome, fresh profile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697480" cy="4846320"/>
          </a:xfrm>
          <a:prstGeom prst="roundRect">
            <a:avLst>
              <a:gd name="adj" fmla="val 4000"/>
            </a:avLst>
          </a:prstGeom>
          <a:solidFill>
            <a:srgbClr val="18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5AA9FF"/>
                </a:solidFill>
                <a:latin typeface="Segoe UI"/>
              </a:defRPr>
            </a:pPr>
            <a:r>
              <a:t>1  OBSERVE</a:t>
            </a:r>
          </a:p>
        </p:txBody>
      </p:sp>
      <p:pic>
        <p:nvPicPr>
          <p:cNvPr id="6" name="Picture 5" descr="step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4520"/>
            <a:ext cx="2514600" cy="12517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4572000"/>
            <a:ext cx="247802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AA7B4"/>
                </a:solidFill>
                <a:latin typeface="Segoe UI"/>
              </a:defRPr>
            </a:pPr>
            <a:r>
              <a:t>Screenshot + page elements the agent saw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36392" y="3566160"/>
            <a:ext cx="192024" cy="320040"/>
          </a:xfrm>
          <a:prstGeom prst="rightArrow">
            <a:avLst/>
          </a:prstGeom>
          <a:solidFill>
            <a:srgbClr val="5A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10128" y="1371600"/>
            <a:ext cx="2697480" cy="4846320"/>
          </a:xfrm>
          <a:prstGeom prst="roundRect">
            <a:avLst>
              <a:gd name="adj" fmla="val 4000"/>
            </a:avLst>
          </a:prstGeom>
          <a:solidFill>
            <a:srgbClr val="18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19856" y="1444752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5AA9FF"/>
                </a:solidFill>
                <a:latin typeface="Segoe UI"/>
              </a:defRPr>
            </a:pPr>
            <a:r>
              <a:t>2  DECIDE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9856" y="1874520"/>
            <a:ext cx="247802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8EDF2"/>
                </a:solidFill>
                <a:latin typeface="Segoe UI"/>
              </a:defRPr>
            </a:pPr>
            <a:r>
              <a:t>Goal:</a:t>
            </a:r>
          </a:p>
          <a:p>
            <a:pPr>
              <a:defRPr sz="1200" b="0">
                <a:solidFill>
                  <a:srgbClr val="E8EDF2"/>
                </a:solidFill>
                <a:latin typeface="Segoe UI"/>
              </a:defRPr>
            </a:pPr>
            <a:r>
              <a:t>Scroll down the page to search for shipping cost information or any note about free shipping.</a:t>
            </a:r>
          </a:p>
          <a:p>
            <a:pPr>
              <a:defRPr sz="1200" b="0">
                <a:solidFill>
                  <a:srgbClr val="E8EDF2"/>
                </a:solidFill>
                <a:latin typeface="Segoe UI"/>
              </a:defRPr>
            </a:pPr>
          </a:p>
          <a:p>
            <a:pPr>
              <a:defRPr sz="1200" b="0">
                <a:solidFill>
                  <a:srgbClr val="E8EDF2"/>
                </a:solidFill>
                <a:latin typeface="Segoe UI"/>
              </a:defRPr>
            </a:pPr>
            <a:r>
              <a:t>Reasoning:</a:t>
            </a:r>
          </a:p>
          <a:p>
            <a:pPr>
              <a:defRPr sz="1200" b="0">
                <a:solidFill>
                  <a:srgbClr val="E8EDF2"/>
                </a:solidFill>
                <a:latin typeface="Segoe UI"/>
              </a:defRPr>
            </a:pPr>
            <a:r>
              <a:t>I have navigated to the product page for the Shure SM58-LC Cardioid Dynamic Vocal Microphone on alamomusic.com. The product title and SKU match the requested model (SM58-LC, new, no cable). The price is clearly shown as $109.00. I need to check the page for shipping information—whether shipping is ...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89320" y="3566160"/>
            <a:ext cx="192024" cy="320040"/>
          </a:xfrm>
          <a:prstGeom prst="rightArrow">
            <a:avLst/>
          </a:prstGeom>
          <a:solidFill>
            <a:srgbClr val="5A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63056" y="1371600"/>
            <a:ext cx="2697480" cy="4846320"/>
          </a:xfrm>
          <a:prstGeom prst="roundRect">
            <a:avLst>
              <a:gd name="adj" fmla="val 4000"/>
            </a:avLst>
          </a:prstGeom>
          <a:solidFill>
            <a:srgbClr val="18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4" y="1444752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5AA9FF"/>
                </a:solidFill>
                <a:latin typeface="Segoe UI"/>
              </a:defRPr>
            </a:pPr>
            <a:r>
              <a:t>3  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2784" y="1874520"/>
            <a:ext cx="247802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8EDF2"/>
                </a:solidFill>
                <a:latin typeface="Segoe UI"/>
              </a:defRPr>
            </a:pPr>
            <a:r>
              <a:t>Action(s): scroll</a:t>
            </a:r>
          </a:p>
          <a:p>
            <a:pPr>
              <a:defRPr sz="1200" b="0">
                <a:solidFill>
                  <a:srgbClr val="E8EDF2"/>
                </a:solidFill>
                <a:latin typeface="Segoe UI"/>
              </a:defRPr>
            </a:pPr>
          </a:p>
          <a:p>
            <a:pPr>
              <a:defRPr sz="1200" b="0">
                <a:solidFill>
                  <a:srgbClr val="E8EDF2"/>
                </a:solidFill>
                <a:latin typeface="Segoe UI"/>
              </a:defRPr>
            </a:pPr>
            <a:r>
              <a:t>[{"scroll": {"down": true, "pages": 1.0}}]</a:t>
            </a:r>
          </a:p>
          <a:p>
            <a:pPr>
              <a:defRPr sz="1200" b="0">
                <a:solidFill>
                  <a:srgbClr val="E8EDF2"/>
                </a:solidFill>
                <a:latin typeface="Segoe UI"/>
              </a:defRPr>
            </a:pPr>
          </a:p>
          <a:p>
            <a:pPr>
              <a:defRPr sz="1200" b="0">
                <a:solidFill>
                  <a:srgbClr val="E8EDF2"/>
                </a:solidFill>
                <a:latin typeface="Segoe UI"/>
              </a:defRPr>
            </a:pPr>
            <a:r>
              <a:t>(timing for each step is in the report)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842248" y="3566160"/>
            <a:ext cx="192024" cy="320040"/>
          </a:xfrm>
          <a:prstGeom prst="rightArrow">
            <a:avLst/>
          </a:prstGeom>
          <a:solidFill>
            <a:srgbClr val="5A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015984" y="1371600"/>
            <a:ext cx="2697480" cy="4846320"/>
          </a:xfrm>
          <a:prstGeom prst="roundRect">
            <a:avLst>
              <a:gd name="adj" fmla="val 4000"/>
            </a:avLst>
          </a:prstGeom>
          <a:solidFill>
            <a:srgbClr val="18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5712" y="1444752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5AA9FF"/>
                </a:solidFill>
                <a:latin typeface="Segoe UI"/>
              </a:defRPr>
            </a:pPr>
            <a:r>
              <a:t>4  VERIFY</a:t>
            </a:r>
          </a:p>
        </p:txBody>
      </p:sp>
      <p:pic>
        <p:nvPicPr>
          <p:cNvPr id="19" name="Picture 18" descr="step_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7424" y="1874520"/>
            <a:ext cx="2514600" cy="12517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125712" y="4572000"/>
            <a:ext cx="247802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AA7B4"/>
                </a:solidFill>
                <a:latin typeface="Segoe UI"/>
              </a:defRPr>
            </a:pPr>
            <a:r>
              <a:t>Same agent, next step: did it work?</a:t>
            </a:r>
          </a:p>
          <a:p>
            <a:pPr>
              <a:defRPr sz="1200" b="0">
                <a:solidFill>
                  <a:srgbClr val="9AA7B4"/>
                </a:solidFill>
                <a:latin typeface="Segoe UI"/>
              </a:defRPr>
            </a:pPr>
            <a:r>
              <a:t>Agent says: Scroll action succeeded, but no explicit shipping cost or free shipping note is visible yet.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E8EDF2"/>
                </a:solidFill>
                <a:latin typeface="Segoe UI"/>
              </a:defRPr>
            </a:pPr>
            <a:r>
              <a:t>Same task, two approaches: measured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9AA7B4"/>
                </a:solidFill>
                <a:latin typeface="Segoe UI"/>
              </a:defRPr>
            </a:pPr>
            <a:r>
              <a:t>Mean of repeated runs; success = every item returned and its price re-verified on the page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463040"/>
          <a:ext cx="114300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9090"/>
                <a:gridCol w="1039090"/>
                <a:gridCol w="1039090"/>
                <a:gridCol w="1039090"/>
                <a:gridCol w="1039090"/>
                <a:gridCol w="1039090"/>
                <a:gridCol w="1039090"/>
                <a:gridCol w="1039090"/>
                <a:gridCol w="1039090"/>
                <a:gridCol w="1039090"/>
                <a:gridCol w="1039100"/>
              </a:tblGrid>
              <a:tr h="5791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5AA9FF"/>
                          </a:solidFill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1820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5AA9FF"/>
                          </a:solidFill>
                        </a:defRPr>
                      </a:pPr>
                      <a:r>
                        <a:t>Agent time</a:t>
                      </a:r>
                    </a:p>
                  </a:txBody>
                  <a:tcPr>
                    <a:solidFill>
                      <a:srgbClr val="1820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5AA9FF"/>
                          </a:solidFill>
                        </a:defRPr>
                      </a:pPr>
                      <a:r>
                        <a:t>Agent cost</a:t>
                      </a:r>
                    </a:p>
                  </a:txBody>
                  <a:tcPr>
                    <a:solidFill>
                      <a:srgbClr val="1820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5AA9FF"/>
                          </a:solidFill>
                        </a:defRPr>
                      </a:pPr>
                      <a:r>
                        <a:t>Agent requests</a:t>
                      </a:r>
                    </a:p>
                  </a:txBody>
                  <a:tcPr>
                    <a:solidFill>
                      <a:srgbClr val="1820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5AA9FF"/>
                          </a:solidFill>
                        </a:defRPr>
                      </a:pPr>
                      <a:r>
                        <a:t>Agent success</a:t>
                      </a:r>
                    </a:p>
                  </a:txBody>
                  <a:tcPr>
                    <a:solidFill>
                      <a:srgbClr val="1820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5AA9FF"/>
                          </a:solidFill>
                        </a:defRPr>
                      </a:pPr>
                      <a:r>
                        <a:t>Agent consistency</a:t>
                      </a:r>
                    </a:p>
                  </a:txBody>
                  <a:tcPr>
                    <a:solidFill>
                      <a:srgbClr val="1820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5AA9FF"/>
                          </a:solidFill>
                        </a:defRPr>
                      </a:pPr>
                      <a:r>
                        <a:t>Det. time</a:t>
                      </a:r>
                    </a:p>
                  </a:txBody>
                  <a:tcPr>
                    <a:solidFill>
                      <a:srgbClr val="1820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5AA9FF"/>
                          </a:solidFill>
                        </a:defRPr>
                      </a:pPr>
                      <a:r>
                        <a:t>Det. cost</a:t>
                      </a:r>
                    </a:p>
                  </a:txBody>
                  <a:tcPr>
                    <a:solidFill>
                      <a:srgbClr val="1820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5AA9FF"/>
                          </a:solidFill>
                        </a:defRPr>
                      </a:pPr>
                      <a:r>
                        <a:t>Det. requests</a:t>
                      </a:r>
                    </a:p>
                  </a:txBody>
                  <a:tcPr>
                    <a:solidFill>
                      <a:srgbClr val="1820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5AA9FF"/>
                          </a:solidFill>
                        </a:defRPr>
                      </a:pPr>
                      <a:r>
                        <a:t>Det. success</a:t>
                      </a:r>
                    </a:p>
                  </a:txBody>
                  <a:tcPr>
                    <a:solidFill>
                      <a:srgbClr val="1820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5AA9FF"/>
                          </a:solidFill>
                        </a:defRPr>
                      </a:pPr>
                      <a:r>
                        <a:t>Det. consistency</a:t>
                      </a:r>
                    </a:p>
                  </a:txBody>
                  <a:tcPr>
                    <a:solidFill>
                      <a:srgbClr val="18202A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DF2"/>
                          </a:solidFill>
                        </a:defRPr>
                      </a:pPr>
                      <a:r>
                        <a:t>Fallback: 3 books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DF2"/>
                          </a:solidFill>
                        </a:defRPr>
                      </a:pPr>
                      <a:r>
                        <a:t>73 s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DF2"/>
                          </a:solidFill>
                        </a:defRPr>
                      </a:pPr>
                      <a:r>
                        <a:t>$0.138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DF2"/>
                          </a:solidFill>
                        </a:defRPr>
                      </a:pPr>
                      <a:r>
                        <a:t>9 model calls + 9 page loads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DF2"/>
                          </a:solidFill>
                        </a:defRPr>
                      </a:pPr>
                      <a:r>
                        <a:t>0/3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DF2"/>
                          </a:solidFill>
                        </a:defRPr>
                      </a:pPr>
                      <a:r>
                        <a:t>3/3 identical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DF2"/>
                          </a:solidFill>
                        </a:defRPr>
                      </a:pPr>
                      <a:r>
                        <a:t>4.8 s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DF2"/>
                          </a:solidFill>
                        </a:defRPr>
                      </a:pPr>
                      <a:r>
                        <a:t>$0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DF2"/>
                          </a:solidFill>
                        </a:defRPr>
                      </a:pPr>
                      <a:r>
                        <a:t>6 HTTP requests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DF2"/>
                          </a:solidFill>
                        </a:defRPr>
                      </a:pPr>
                      <a:r>
                        <a:t>3/3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DF2"/>
                          </a:solidFill>
                        </a:defRPr>
                      </a:pPr>
                      <a:r>
                        <a:t>3/3 identical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DF2"/>
                          </a:solidFill>
                        </a:defRPr>
                      </a:pPr>
                      <a:r>
                        <a:t>Live: 3 shops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DF2"/>
                          </a:solidFill>
                        </a:defRPr>
                      </a:pPr>
                      <a:r>
                        <a:t>54 s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DF2"/>
                          </a:solidFill>
                        </a:defRPr>
                      </a:pPr>
                      <a:r>
                        <a:t>$0.068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DF2"/>
                          </a:solidFill>
                        </a:defRPr>
                      </a:pPr>
                      <a:r>
                        <a:t>5 model calls + 4 page loads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DF2"/>
                          </a:solidFill>
                        </a:defRPr>
                      </a:pPr>
                      <a:r>
                        <a:t>0/3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DF2"/>
                          </a:solidFill>
                        </a:defRPr>
                      </a:pPr>
                      <a:r>
                        <a:t>3/3 identical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DF2"/>
                          </a:solidFill>
                        </a:defRPr>
                      </a:pPr>
                      <a:r>
                        <a:t>1.7 s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DF2"/>
                          </a:solidFill>
                        </a:defRPr>
                      </a:pPr>
                      <a:r>
                        <a:t>$0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DF2"/>
                          </a:solidFill>
                        </a:defRPr>
                      </a:pPr>
                      <a:r>
                        <a:t>2 HTTP requests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DF2"/>
                          </a:solidFill>
                        </a:defRPr>
                      </a:pPr>
                      <a:r>
                        <a:t>0/3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DF2"/>
                          </a:solidFill>
                        </a:defRPr>
                      </a:pPr>
                      <a:r>
                        <a:t>3/3 identical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65760" y="3566160"/>
            <a:ext cx="11430000" cy="2651760"/>
          </a:xfrm>
          <a:prstGeom prst="roundRect">
            <a:avLst>
              <a:gd name="adj" fmla="val 4000"/>
            </a:avLst>
          </a:prstGeom>
          <a:solidFill>
            <a:srgbClr val="18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11064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E8EDF2"/>
                </a:solidFill>
                <a:latin typeface="Segoe UI"/>
              </a:defRPr>
            </a:pPr>
            <a:r>
              <a:t>• Agent: prices right 9/9 on the books, but it reported a product URL it never visited in 3/3 runs, so strict success is 0/3. Our independent re-fetch caught it.</a:t>
            </a:r>
          </a:p>
          <a:p>
            <a:pPr>
              <a:defRPr sz="1400" b="0">
                <a:solidFill>
                  <a:srgbClr val="E8EDF2"/>
                </a:solidFill>
                <a:latin typeface="Segoe UI"/>
              </a:defRPr>
            </a:pPr>
            <a:r>
              <a:t>• Live: both approaches lost one shop. Sweetwater showed a human-verification page: the agent was stopped without touching it, plain HTTP got 403. Two shops verified OK.</a:t>
            </a:r>
          </a:p>
          <a:p>
            <a:pPr>
              <a:defRPr sz="1400" b="0">
                <a:solidFill>
                  <a:srgbClr val="E8EDF2"/>
                </a:solidFill>
                <a:latin typeface="Segoe UI"/>
              </a:defRPr>
            </a:pPr>
            <a:r>
              <a:t>• Deterministic: fast, free, repeatable, but one extractor per site, breaks if layout changes, and cannot see shipping that is not in the static page.</a:t>
            </a:r>
          </a:p>
          <a:p>
            <a:pPr>
              <a:defRPr sz="1400" b="0">
                <a:solidFill>
                  <a:srgbClr val="E8EDF2"/>
                </a:solidFill>
                <a:latin typeface="Segoe UI"/>
              </a:defRPr>
            </a:pPr>
            <a:r>
              <a:t>• Honest limits: 3 runs, one model (gpt-4.1), one day; the check re-reads pages with a deterministic parser.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E8EDF2"/>
                </a:solidFill>
                <a:latin typeface="Segoe UI"/>
              </a:defRPr>
            </a:pPr>
            <a:r>
              <a:t>When to use a browser agent, and when to use an API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486400" cy="3931920"/>
          </a:xfrm>
          <a:prstGeom prst="roundRect">
            <a:avLst>
              <a:gd name="adj" fmla="val 4000"/>
            </a:avLst>
          </a:prstGeom>
          <a:solidFill>
            <a:srgbClr val="18202A"/>
          </a:solidFill>
          <a:ln>
            <a:solidFill>
              <a:srgbClr val="5AA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5AA9FF"/>
                </a:solidFill>
                <a:latin typeface="Segoe UI"/>
              </a:defRPr>
            </a:pPr>
            <a:r>
              <a:t>Use a browser agent when: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5120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E8EDF2"/>
                </a:solidFill>
                <a:latin typeface="Segoe UI"/>
              </a:defRPr>
            </a:pPr>
            <a:r>
              <a:t>• there is no API or data feed</a:t>
            </a:r>
          </a:p>
          <a:p>
            <a:pPr>
              <a:defRPr sz="1600" b="0">
                <a:solidFill>
                  <a:srgbClr val="E8EDF2"/>
                </a:solidFill>
                <a:latin typeface="Segoe UI"/>
              </a:defRPr>
            </a:pPr>
            <a:r>
              <a:t>• many different sites, layouts you do not control</a:t>
            </a:r>
          </a:p>
          <a:p>
            <a:pPr>
              <a:defRPr sz="1600" b="0">
                <a:solidFill>
                  <a:srgbClr val="E8EDF2"/>
                </a:solidFill>
                <a:latin typeface="Segoe UI"/>
              </a:defRPr>
            </a:pPr>
            <a:r>
              <a:t>• the answer is only visible after rendering or interaction</a:t>
            </a:r>
          </a:p>
          <a:p>
            <a:pPr>
              <a:defRPr sz="1600" b="0">
                <a:solidFill>
                  <a:srgbClr val="E8EDF2"/>
                </a:solidFill>
                <a:latin typeface="Segoe UI"/>
              </a:defRPr>
            </a:pPr>
            <a:r>
              <a:t>• one-off or low-volume research tasks</a:t>
            </a:r>
          </a:p>
          <a:p>
            <a:pPr>
              <a:defRPr sz="1600" b="0">
                <a:solidFill>
                  <a:srgbClr val="E8EDF2"/>
                </a:solidFill>
                <a:latin typeface="Segoe UI"/>
              </a:defRPr>
            </a:pPr>
            <a:r>
              <a:t>Guard it: allow-list, step and time limits, read-only, verify the output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486400" cy="3931920"/>
          </a:xfrm>
          <a:prstGeom prst="roundRect">
            <a:avLst>
              <a:gd name="adj" fmla="val 4000"/>
            </a:avLst>
          </a:prstGeom>
          <a:solidFill>
            <a:srgbClr val="18202A"/>
          </a:solidFill>
          <a:ln>
            <a:solidFill>
              <a:srgbClr val="3ECF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3258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ECF8E"/>
                </a:solidFill>
                <a:latin typeface="Segoe UI"/>
              </a:defRPr>
            </a:pPr>
            <a:r>
              <a:t>Use an API or structured data when: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5120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E8EDF2"/>
                </a:solidFill>
                <a:latin typeface="Segoe UI"/>
              </a:defRPr>
            </a:pPr>
            <a:r>
              <a:t>• a documented API or feed exists</a:t>
            </a:r>
          </a:p>
          <a:p>
            <a:pPr>
              <a:defRPr sz="1600" b="0">
                <a:solidFill>
                  <a:srgbClr val="E8EDF2"/>
                </a:solidFill>
                <a:latin typeface="Segoe UI"/>
              </a:defRPr>
            </a:pPr>
            <a:r>
              <a:t>• the same sites are read again and again</a:t>
            </a:r>
          </a:p>
          <a:p>
            <a:pPr>
              <a:defRPr sz="1600" b="0">
                <a:solidFill>
                  <a:srgbClr val="E8EDF2"/>
                </a:solidFill>
                <a:latin typeface="Segoe UI"/>
              </a:defRPr>
            </a:pPr>
            <a:r>
              <a:t>• you need speed, low cost, exact repeatability</a:t>
            </a:r>
          </a:p>
          <a:p>
            <a:pPr>
              <a:defRPr sz="1600" b="0">
                <a:solidFill>
                  <a:srgbClr val="E8EDF2"/>
                </a:solidFill>
                <a:latin typeface="Segoe UI"/>
              </a:defRPr>
            </a:pPr>
            <a:r>
              <a:t>• results feed other systems or decisions</a:t>
            </a:r>
          </a:p>
          <a:p>
            <a:pPr>
              <a:defRPr sz="1600" b="0">
                <a:solidFill>
                  <a:srgbClr val="E8EDF2"/>
                </a:solidFill>
                <a:latin typeface="Segoe UI"/>
              </a:defRPr>
            </a:pPr>
            <a:r>
              <a:t>Expect: one extractor per site, maintenance when pages change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349240"/>
            <a:ext cx="11247120" cy="1097280"/>
          </a:xfrm>
          <a:prstGeom prst="roundRect">
            <a:avLst>
              <a:gd name="adj" fmla="val 4000"/>
            </a:avLst>
          </a:prstGeom>
          <a:solidFill>
            <a:srgbClr val="18202A"/>
          </a:solidFill>
          <a:ln>
            <a:solidFill>
              <a:srgbClr val="F5A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39496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E8EDF2"/>
                </a:solidFill>
                <a:latin typeface="Segoe UI"/>
              </a:defRPr>
            </a:pPr>
            <a:r>
              <a:t>Best of both: let the agent explore and extract once, then turn what it learned into a deterministic extractor for the sites you keep using.</a:t>
            </a:r>
          </a:p>
          <a:p>
            <a:pPr>
              <a:defRPr sz="1500" b="0">
                <a:solidFill>
                  <a:srgbClr val="E8EDF2"/>
                </a:solidFill>
                <a:latin typeface="Segoe UI"/>
              </a:defRPr>
            </a:pPr>
            <a:r>
              <a:t>Never trust an agent's own 'done': check the numbers independently (our check caught a made-up product URL in every fallback run).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