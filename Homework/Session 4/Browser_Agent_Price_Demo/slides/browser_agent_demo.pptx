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Observe: the agent gets a screenshot and the page's interactive elements. Decide: the model writes a goal and picks an action. Act: the framework executes click/type/scroll/navigate. Verify: at the next step the model judges whether the page changed as hoped. Everything on this slide comes from one real step in our run; the full log is in the HTML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measured from the runs in the runs folder (COMPARISON.md has the per-run detail and the limits).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Conclusion: agents trade cost and speed for flexibility. Use structured data where it exists; use an agent where it does not; verify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2"/>
                </a:solidFill>
                <a:latin typeface="Segoe UI"/>
              </a:defRPr>
            </a:pPr>
            <a:r>
              <a:t>How the agent works: observe → decide → act →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7B4"/>
                </a:solidFill>
                <a:latin typeface="Segoe UI"/>
              </a:defRPr>
            </a:pPr>
            <a:r>
              <a:t>Real step 4 from our run (openai/gpt-4.1, browser-use 0.13.11), headed Chrome, fresh profile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97480" cy="484632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4475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AA9FF"/>
                </a:solidFill>
                <a:latin typeface="Segoe UI"/>
              </a:defRPr>
            </a:pPr>
            <a:r>
              <a:t>1  OBSERVE</a:t>
            </a:r>
          </a:p>
        </p:txBody>
      </p:sp>
      <p:pic>
        <p:nvPicPr>
          <p:cNvPr id="6" name="Picture 5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2514600" cy="1251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572000"/>
            <a:ext cx="247802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AA7B4"/>
                </a:solidFill>
                <a:latin typeface="Segoe UI"/>
              </a:defRPr>
            </a:pPr>
            <a:r>
              <a:t>Screenshot + page elements the agent saw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6392" y="3566160"/>
            <a:ext cx="192024" cy="320040"/>
          </a:xfrm>
          <a:prstGeom prst="rightArrow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10128" y="1371600"/>
            <a:ext cx="2697480" cy="484632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144475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AA9FF"/>
                </a:solidFill>
                <a:latin typeface="Segoe UI"/>
              </a:defRPr>
            </a:pPr>
            <a:r>
              <a:t>2  DECIDE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874520"/>
            <a:ext cx="247802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Goal:</a:t>
            </a: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Click the 'next' link at the bottom of the catalogue to go to page 2 and search for the remaining two books.</a:t>
            </a: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Reasoning:</a:t>
            </a: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I have already processed 'Sapiens: A Brief History of Humankind.' After scrolling, I do not see 'Sophie's World' or 'Reasons to Stay Alive' on the remainder of page 1. The next step is to go to page 2 using the 'next' link at the bottom and continue searching for the other two titles.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3566160"/>
            <a:ext cx="192024" cy="320040"/>
          </a:xfrm>
          <a:prstGeom prst="rightArrow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63056" y="1371600"/>
            <a:ext cx="2697480" cy="484632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44475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AA9FF"/>
                </a:solidFill>
                <a:latin typeface="Segoe UI"/>
              </a:defRPr>
            </a:pPr>
            <a:r>
              <a:t>3  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874520"/>
            <a:ext cx="247802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Action(s): click</a:t>
            </a: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[{"click": {"index": 3762}}]</a:t>
            </a: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</a:p>
          <a:p>
            <a:pPr>
              <a:defRPr sz="1200" b="0">
                <a:solidFill>
                  <a:srgbClr val="E8EDF2"/>
                </a:solidFill>
                <a:latin typeface="Segoe UI"/>
              </a:defRPr>
            </a:pPr>
            <a:r>
              <a:t>Step took 7.09 s, 14,380 tokens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42248" y="3566160"/>
            <a:ext cx="192024" cy="320040"/>
          </a:xfrm>
          <a:prstGeom prst="rightArrow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15984" y="1371600"/>
            <a:ext cx="2697480" cy="484632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2" y="144475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AA9FF"/>
                </a:solidFill>
                <a:latin typeface="Segoe UI"/>
              </a:defRPr>
            </a:pPr>
            <a:r>
              <a:t>4  VERIFY</a:t>
            </a:r>
          </a:p>
        </p:txBody>
      </p:sp>
      <p:pic>
        <p:nvPicPr>
          <p:cNvPr id="19" name="Picture 18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424" y="1874520"/>
            <a:ext cx="2514600" cy="12517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25712" y="4572000"/>
            <a:ext cx="247802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AA7B4"/>
                </a:solidFill>
                <a:latin typeface="Segoe UI"/>
              </a:defRPr>
            </a:pPr>
            <a:r>
              <a:t>Same agent, next step: did it work?</a:t>
            </a:r>
          </a:p>
          <a:p>
            <a:pPr>
              <a:defRPr sz="1200" b="0">
                <a:solidFill>
                  <a:srgbClr val="9AA7B4"/>
                </a:solidFill>
                <a:latin typeface="Segoe UI"/>
              </a:defRPr>
            </a:pPr>
            <a:r>
              <a:t>Agent says: Successfully navigated to page 2 of the catalogue. Ready to search for the remaining books.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2"/>
                </a:solidFill>
                <a:latin typeface="Segoe UI"/>
              </a:defRPr>
            </a:pPr>
            <a:r>
              <a:t>Same task, two approaches: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7B4"/>
                </a:solidFill>
                <a:latin typeface="Segoe UI"/>
              </a:defRPr>
            </a:pPr>
            <a:r>
              <a:t>Mean of repeated runs; success = every item returned and its price re-verified on the page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090"/>
                <a:gridCol w="1039090"/>
                <a:gridCol w="1039090"/>
                <a:gridCol w="1039090"/>
                <a:gridCol w="1039090"/>
                <a:gridCol w="1039090"/>
                <a:gridCol w="1039090"/>
                <a:gridCol w="1039090"/>
                <a:gridCol w="1039090"/>
                <a:gridCol w="1039090"/>
                <a:gridCol w="103910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Agent time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Agent cost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Agent requests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Agent success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Agent consistency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Det. time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Det. cost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Det. requests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Det. success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5AA9FF"/>
                          </a:solidFill>
                        </a:defRPr>
                      </a:pPr>
                      <a:r>
                        <a:t>Det. consistency</a:t>
                      </a:r>
                    </a:p>
                  </a:txBody>
                  <a:tcPr>
                    <a:solidFill>
                      <a:srgbClr val="18202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Fallback: 3 books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73 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$0.138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9 model calls + 9 page loads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3/3 identical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4.8 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6 HTTP requests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3/3 identical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Live: 3 shops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54 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$0.068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5 model calls + 4 page loads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3/3 identical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1.7 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2 HTTP requests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DF2"/>
                          </a:solidFill>
                        </a:defRPr>
                      </a:pPr>
                      <a:r>
                        <a:t>3/3 identical</a:t>
                      </a:r>
                    </a:p>
                  </a:txBody>
                  <a:tcPr>
                    <a:solidFill>
                      <a:srgbClr val="0F141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3566160"/>
            <a:ext cx="11430000" cy="265176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8EDF2"/>
                </a:solidFill>
                <a:latin typeface="Segoe UI"/>
              </a:defRPr>
            </a:pPr>
            <a:r>
              <a:t>• Agent: prices right 9/9 on the books, but it reported a product URL it never visited in 3/3 runs, so strict success is 0/3. Our independent re-fetch caught it.</a:t>
            </a:r>
          </a:p>
          <a:p>
            <a:pPr>
              <a:defRPr sz="1400" b="0">
                <a:solidFill>
                  <a:srgbClr val="E8EDF2"/>
                </a:solidFill>
                <a:latin typeface="Segoe UI"/>
              </a:defRPr>
            </a:pPr>
            <a:r>
              <a:t>• Live: both approaches lost one shop. Sweetwater showed a human-verification page: the agent was stopped without touching it, plain HTTP got 403. Two shops verified OK.</a:t>
            </a:r>
          </a:p>
          <a:p>
            <a:pPr>
              <a:defRPr sz="1400" b="0">
                <a:solidFill>
                  <a:srgbClr val="E8EDF2"/>
                </a:solidFill>
                <a:latin typeface="Segoe UI"/>
              </a:defRPr>
            </a:pPr>
            <a:r>
              <a:t>• Deterministic: fast, free, repeatable, but one extractor per site, breaks if layout changes, and cannot see shipping that is not in the static page.</a:t>
            </a:r>
          </a:p>
          <a:p>
            <a:pPr>
              <a:defRPr sz="1400" b="0">
                <a:solidFill>
                  <a:srgbClr val="E8EDF2"/>
                </a:solidFill>
                <a:latin typeface="Segoe UI"/>
              </a:defRPr>
            </a:pPr>
            <a:r>
              <a:t>• Honest limits: 3 runs, one model (gpt-4.1), one day; the check re-reads pages with a deterministic parser.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2"/>
                </a:solidFill>
                <a:latin typeface="Segoe UI"/>
              </a:defRPr>
            </a:pPr>
            <a:r>
              <a:t>When to use a browser agent, and when to use an API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393192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solidFill>
              <a:srgbClr val="5A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AA9FF"/>
                </a:solidFill>
                <a:latin typeface="Segoe UI"/>
              </a:defRPr>
            </a:pPr>
            <a:r>
              <a:t>Use a browser agent when: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there is no API or data feed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many different sites, layouts you do not control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the answer is only visible after rendering or interaction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one-off or low-volume research tasks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Guard it: allow-list, step and time limits, read-only, verify the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393192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solidFill>
              <a:srgbClr val="3E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ECF8E"/>
                </a:solidFill>
                <a:latin typeface="Segoe UI"/>
              </a:defRPr>
            </a:pPr>
            <a:r>
              <a:t>Use an API or structured data when: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a documented API or feed exists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the same sites are read again and again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you need speed, low cost, exact repeatability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• results feed other systems or decisions</a:t>
            </a:r>
          </a:p>
          <a:p>
            <a:pPr>
              <a:defRPr sz="1600" b="0">
                <a:solidFill>
                  <a:srgbClr val="E8EDF2"/>
                </a:solidFill>
                <a:latin typeface="Segoe UI"/>
              </a:defRPr>
            </a:pPr>
            <a:r>
              <a:t>Expect: one extractor per site, maintenance when pages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9240"/>
            <a:ext cx="11247120" cy="1097280"/>
          </a:xfrm>
          <a:prstGeom prst="roundRect">
            <a:avLst>
              <a:gd name="adj" fmla="val 4000"/>
            </a:avLst>
          </a:prstGeom>
          <a:solidFill>
            <a:srgbClr val="18202A"/>
          </a:solidFill>
          <a:ln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E8EDF2"/>
                </a:solidFill>
                <a:latin typeface="Segoe UI"/>
              </a:defRPr>
            </a:pPr>
            <a:r>
              <a:t>Best of both: let the agent explore and extract once, then turn what it learned into a deterministic extractor for the sites you keep using.</a:t>
            </a:r>
          </a:p>
          <a:p>
            <a:pPr>
              <a:defRPr sz="1500" b="0">
                <a:solidFill>
                  <a:srgbClr val="E8EDF2"/>
                </a:solidFill>
                <a:latin typeface="Segoe UI"/>
              </a:defRPr>
            </a:pPr>
            <a:r>
              <a:t>Never trust an agent's own 'done': check the numbers independently (our check caught a made-up product URL in every fallback run).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